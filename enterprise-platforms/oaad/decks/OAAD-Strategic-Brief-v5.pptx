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2" r:id="rId23"/>
    <p:sldId id="259" r:id="rId5"/>
    <p:sldId id="260" r:id="rId6"/>
    <p:sldId id="261" r:id="rId7"/>
    <p:sldId id="273" r:id="rId24"/>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6583680" y="109728"/>
            <a:ext cx="347472" cy="347472"/>
          </a:xfrm>
          <a:prstGeom prst="rect">
            <a:avLst/>
          </a:prstGeom>
          <a:solidFill>
            <a:srgbClr val="1C2433"/>
          </a:solidFill>
          <a:ln w="9525">
            <a:solidFill>
              <a:srgbClr val="00C9A7">
                <a:alpha val="40000"/>
              </a:srgbClr>
            </a:solidFill>
            <a:prstDash val="solid"/>
          </a:ln>
        </p:spPr>
      </p:sp>
      <p:sp>
        <p:nvSpPr>
          <p:cNvPr id="3" name="Shape 1"/>
          <p:cNvSpPr/>
          <p:nvPr/>
        </p:nvSpPr>
        <p:spPr>
          <a:xfrm>
            <a:off x="6583680" y="612648"/>
            <a:ext cx="347472" cy="347472"/>
          </a:xfrm>
          <a:prstGeom prst="rect">
            <a:avLst/>
          </a:prstGeom>
          <a:solidFill>
            <a:srgbClr val="1C2433"/>
          </a:solidFill>
          <a:ln w="9525">
            <a:solidFill>
              <a:srgbClr val="00C9A7">
                <a:alpha val="40000"/>
              </a:srgbClr>
            </a:solidFill>
            <a:prstDash val="solid"/>
          </a:ln>
        </p:spPr>
      </p:sp>
      <p:sp>
        <p:nvSpPr>
          <p:cNvPr id="4" name="Shape 2"/>
          <p:cNvSpPr/>
          <p:nvPr/>
        </p:nvSpPr>
        <p:spPr>
          <a:xfrm>
            <a:off x="6583680" y="1115568"/>
            <a:ext cx="347472" cy="347472"/>
          </a:xfrm>
          <a:prstGeom prst="rect">
            <a:avLst/>
          </a:prstGeom>
          <a:solidFill>
            <a:srgbClr val="1C2433"/>
          </a:solidFill>
          <a:ln w="9525">
            <a:solidFill>
              <a:srgbClr val="00C9A7">
                <a:alpha val="40000"/>
              </a:srgbClr>
            </a:solidFill>
            <a:prstDash val="solid"/>
          </a:ln>
        </p:spPr>
      </p:sp>
      <p:sp>
        <p:nvSpPr>
          <p:cNvPr id="5" name="Shape 3"/>
          <p:cNvSpPr/>
          <p:nvPr/>
        </p:nvSpPr>
        <p:spPr>
          <a:xfrm>
            <a:off x="7086600" y="109728"/>
            <a:ext cx="347472" cy="347472"/>
          </a:xfrm>
          <a:prstGeom prst="rect">
            <a:avLst/>
          </a:prstGeom>
          <a:solidFill>
            <a:srgbClr val="1C2433"/>
          </a:solidFill>
          <a:ln w="9525">
            <a:solidFill>
              <a:srgbClr val="00C9A7">
                <a:alpha val="40000"/>
              </a:srgbClr>
            </a:solidFill>
            <a:prstDash val="solid"/>
          </a:ln>
        </p:spPr>
      </p:sp>
      <p:sp>
        <p:nvSpPr>
          <p:cNvPr id="6" name="Shape 4"/>
          <p:cNvSpPr/>
          <p:nvPr/>
        </p:nvSpPr>
        <p:spPr>
          <a:xfrm>
            <a:off x="7086600" y="612648"/>
            <a:ext cx="347472" cy="347472"/>
          </a:xfrm>
          <a:prstGeom prst="rect">
            <a:avLst/>
          </a:prstGeom>
          <a:solidFill>
            <a:srgbClr val="1C2433"/>
          </a:solidFill>
          <a:ln w="9525">
            <a:solidFill>
              <a:srgbClr val="00C9A7">
                <a:alpha val="40000"/>
              </a:srgbClr>
            </a:solidFill>
            <a:prstDash val="solid"/>
          </a:ln>
        </p:spPr>
      </p:sp>
      <p:sp>
        <p:nvSpPr>
          <p:cNvPr id="7" name="Shape 5"/>
          <p:cNvSpPr/>
          <p:nvPr/>
        </p:nvSpPr>
        <p:spPr>
          <a:xfrm>
            <a:off x="7086600" y="1115568"/>
            <a:ext cx="347472" cy="347472"/>
          </a:xfrm>
          <a:prstGeom prst="rect">
            <a:avLst/>
          </a:prstGeom>
          <a:solidFill>
            <a:srgbClr val="1C2433"/>
          </a:solidFill>
          <a:ln w="9525">
            <a:solidFill>
              <a:srgbClr val="00C9A7">
                <a:alpha val="40000"/>
              </a:srgbClr>
            </a:solidFill>
            <a:prstDash val="solid"/>
          </a:ln>
        </p:spPr>
      </p:sp>
      <p:sp>
        <p:nvSpPr>
          <p:cNvPr id="8" name="Shape 6"/>
          <p:cNvSpPr/>
          <p:nvPr/>
        </p:nvSpPr>
        <p:spPr>
          <a:xfrm>
            <a:off x="7589520" y="109728"/>
            <a:ext cx="347472" cy="347472"/>
          </a:xfrm>
          <a:prstGeom prst="rect">
            <a:avLst/>
          </a:prstGeom>
          <a:solidFill>
            <a:srgbClr val="1C2433"/>
          </a:solidFill>
          <a:ln w="9525">
            <a:solidFill>
              <a:srgbClr val="00C9A7">
                <a:alpha val="40000"/>
              </a:srgbClr>
            </a:solidFill>
            <a:prstDash val="solid"/>
          </a:ln>
        </p:spPr>
      </p:sp>
      <p:sp>
        <p:nvSpPr>
          <p:cNvPr id="9" name="Shape 7"/>
          <p:cNvSpPr/>
          <p:nvPr/>
        </p:nvSpPr>
        <p:spPr>
          <a:xfrm>
            <a:off x="7589520" y="612648"/>
            <a:ext cx="347472" cy="347472"/>
          </a:xfrm>
          <a:prstGeom prst="rect">
            <a:avLst/>
          </a:prstGeom>
          <a:solidFill>
            <a:srgbClr val="1C2433"/>
          </a:solidFill>
          <a:ln w="9525">
            <a:solidFill>
              <a:srgbClr val="00C9A7">
                <a:alpha val="40000"/>
              </a:srgbClr>
            </a:solidFill>
            <a:prstDash val="solid"/>
          </a:ln>
        </p:spPr>
      </p:sp>
      <p:sp>
        <p:nvSpPr>
          <p:cNvPr id="10" name="Shape 8"/>
          <p:cNvSpPr/>
          <p:nvPr/>
        </p:nvSpPr>
        <p:spPr>
          <a:xfrm>
            <a:off x="7589520" y="1115568"/>
            <a:ext cx="347472" cy="347472"/>
          </a:xfrm>
          <a:prstGeom prst="rect">
            <a:avLst/>
          </a:prstGeom>
          <a:solidFill>
            <a:srgbClr val="1C2433"/>
          </a:solidFill>
          <a:ln w="9525">
            <a:solidFill>
              <a:srgbClr val="00C9A7">
                <a:alpha val="40000"/>
              </a:srgbClr>
            </a:solidFill>
            <a:prstDash val="solid"/>
          </a:ln>
        </p:spPr>
      </p:sp>
      <p:sp>
        <p:nvSpPr>
          <p:cNvPr id="11" name="Shape 9"/>
          <p:cNvSpPr/>
          <p:nvPr/>
        </p:nvSpPr>
        <p:spPr>
          <a:xfrm>
            <a:off x="8092440" y="109728"/>
            <a:ext cx="347472" cy="347472"/>
          </a:xfrm>
          <a:prstGeom prst="rect">
            <a:avLst/>
          </a:prstGeom>
          <a:solidFill>
            <a:srgbClr val="1C2433"/>
          </a:solidFill>
          <a:ln w="9525">
            <a:solidFill>
              <a:srgbClr val="00C9A7">
                <a:alpha val="40000"/>
              </a:srgbClr>
            </a:solidFill>
            <a:prstDash val="solid"/>
          </a:ln>
        </p:spPr>
      </p:sp>
      <p:sp>
        <p:nvSpPr>
          <p:cNvPr id="12" name="Shape 10"/>
          <p:cNvSpPr/>
          <p:nvPr/>
        </p:nvSpPr>
        <p:spPr>
          <a:xfrm>
            <a:off x="8092440" y="612648"/>
            <a:ext cx="347472" cy="347472"/>
          </a:xfrm>
          <a:prstGeom prst="rect">
            <a:avLst/>
          </a:prstGeom>
          <a:solidFill>
            <a:srgbClr val="1C2433"/>
          </a:solidFill>
          <a:ln w="9525">
            <a:solidFill>
              <a:srgbClr val="00C9A7">
                <a:alpha val="40000"/>
              </a:srgbClr>
            </a:solidFill>
            <a:prstDash val="solid"/>
          </a:ln>
        </p:spPr>
      </p:sp>
      <p:sp>
        <p:nvSpPr>
          <p:cNvPr id="13" name="Shape 11"/>
          <p:cNvSpPr/>
          <p:nvPr/>
        </p:nvSpPr>
        <p:spPr>
          <a:xfrm>
            <a:off x="8092440" y="1115568"/>
            <a:ext cx="347472" cy="347472"/>
          </a:xfrm>
          <a:prstGeom prst="rect">
            <a:avLst/>
          </a:prstGeom>
          <a:solidFill>
            <a:srgbClr val="1C2433"/>
          </a:solidFill>
          <a:ln w="9525">
            <a:solidFill>
              <a:srgbClr val="00C9A7">
                <a:alpha val="40000"/>
              </a:srgbClr>
            </a:solidFill>
            <a:prstDash val="solid"/>
          </a:ln>
        </p:spPr>
      </p:sp>
      <p:sp>
        <p:nvSpPr>
          <p:cNvPr id="14" name="Shape 12"/>
          <p:cNvSpPr/>
          <p:nvPr/>
        </p:nvSpPr>
        <p:spPr>
          <a:xfrm>
            <a:off x="8595360" y="109728"/>
            <a:ext cx="347472" cy="347472"/>
          </a:xfrm>
          <a:prstGeom prst="rect">
            <a:avLst/>
          </a:prstGeom>
          <a:solidFill>
            <a:srgbClr val="1C2433"/>
          </a:solidFill>
          <a:ln w="9525">
            <a:solidFill>
              <a:srgbClr val="00C9A7">
                <a:alpha val="40000"/>
              </a:srgbClr>
            </a:solidFill>
            <a:prstDash val="solid"/>
          </a:ln>
        </p:spPr>
      </p:sp>
      <p:sp>
        <p:nvSpPr>
          <p:cNvPr id="15" name="Shape 13"/>
          <p:cNvSpPr/>
          <p:nvPr/>
        </p:nvSpPr>
        <p:spPr>
          <a:xfrm>
            <a:off x="8595360" y="612648"/>
            <a:ext cx="347472" cy="347472"/>
          </a:xfrm>
          <a:prstGeom prst="rect">
            <a:avLst/>
          </a:prstGeom>
          <a:solidFill>
            <a:srgbClr val="1C2433"/>
          </a:solidFill>
          <a:ln w="9525">
            <a:solidFill>
              <a:srgbClr val="00C9A7">
                <a:alpha val="40000"/>
              </a:srgbClr>
            </a:solidFill>
            <a:prstDash val="solid"/>
          </a:ln>
        </p:spPr>
      </p:sp>
      <p:sp>
        <p:nvSpPr>
          <p:cNvPr id="16" name="Shape 14"/>
          <p:cNvSpPr/>
          <p:nvPr/>
        </p:nvSpPr>
        <p:spPr>
          <a:xfrm>
            <a:off x="8595360" y="1115568"/>
            <a:ext cx="347472" cy="347472"/>
          </a:xfrm>
          <a:prstGeom prst="rect">
            <a:avLst/>
          </a:prstGeom>
          <a:solidFill>
            <a:srgbClr val="1C2433"/>
          </a:solidFill>
          <a:ln w="9525">
            <a:solidFill>
              <a:srgbClr val="00C9A7">
                <a:alpha val="40000"/>
              </a:srgbClr>
            </a:solidFill>
            <a:prstDash val="solid"/>
          </a:ln>
        </p:spPr>
      </p:sp>
      <p:sp>
        <p:nvSpPr>
          <p:cNvPr id="17" name="Shape 15"/>
          <p:cNvSpPr/>
          <p:nvPr/>
        </p:nvSpPr>
        <p:spPr>
          <a:xfrm>
            <a:off x="8092440" y="612648"/>
            <a:ext cx="347472" cy="347472"/>
          </a:xfrm>
          <a:prstGeom prst="rect">
            <a:avLst/>
          </a:prstGeom>
          <a:solidFill>
            <a:srgbClr val="00C9A7">
              <a:alpha val="70000"/>
            </a:srgbClr>
          </a:solidFill>
          <a:ln w="12700">
            <a:solidFill>
              <a:srgbClr val="00C9A7"/>
            </a:solidFill>
            <a:prstDash val="solid"/>
          </a:ln>
        </p:spPr>
      </p:sp>
      <p:sp>
        <p:nvSpPr>
          <p:cNvPr id="18" name="Shape 16"/>
          <p:cNvSpPr/>
          <p:nvPr/>
        </p:nvSpPr>
        <p:spPr>
          <a:xfrm>
            <a:off x="0" y="0"/>
            <a:ext cx="45720" cy="5143500"/>
          </a:xfrm>
          <a:prstGeom prst="rect">
            <a:avLst/>
          </a:prstGeom>
          <a:solidFill>
            <a:srgbClr val="00C9A7"/>
          </a:solidFill>
          <a:ln w="12700">
            <a:solidFill>
              <a:srgbClr val="00C9A7"/>
            </a:solidFill>
            <a:prstDash val="solid"/>
          </a:ln>
        </p:spPr>
      </p:sp>
      <p:sp>
        <p:nvSpPr>
          <p:cNvPr id="19" name="Text 17"/>
          <p:cNvSpPr/>
          <p:nvPr/>
        </p:nvSpPr>
        <p:spPr>
          <a:xfrm>
            <a:off x="365760" y="256032"/>
            <a:ext cx="5943600" cy="1234440"/>
          </a:xfrm>
          <a:prstGeom prst="rect">
            <a:avLst/>
          </a:prstGeom>
          <a:noFill/>
          <a:ln/>
        </p:spPr>
        <p:txBody>
          <a:bodyPr wrap="square" lIns="0" tIns="0" rIns="0" bIns="0" rtlCol="0" anchor="ctr"/>
          <a:lstStyle/>
          <a:p>
            <a:pPr indent="0" marL="0">
              <a:buNone/>
            </a:pPr>
            <a:r>
              <a:rPr lang="en-US" sz="8000" b="1" spc="800" kern="0" dirty="0">
                <a:solidFill>
                  <a:srgbClr val="00C9A7"/>
                </a:solidFill>
                <a:latin typeface="Trebuchet MS" pitchFamily="34" charset="0"/>
                <a:ea typeface="Trebuchet MS" pitchFamily="34" charset="-122"/>
                <a:cs typeface="Trebuchet MS" pitchFamily="34" charset="-120"/>
              </a:rPr>
              <a:t>OAAD</a:t>
            </a:r>
            <a:endParaRPr lang="en-US" sz="8000" dirty="0"/>
          </a:p>
        </p:txBody>
      </p:sp>
      <p:sp>
        <p:nvSpPr>
          <p:cNvPr id="20" name="Text 18"/>
          <p:cNvSpPr/>
          <p:nvPr/>
        </p:nvSpPr>
        <p:spPr>
          <a:xfrm>
            <a:off x="365760" y="1554480"/>
            <a:ext cx="7772400" cy="384048"/>
          </a:xfrm>
          <a:prstGeom prst="rect">
            <a:avLst/>
          </a:prstGeom>
          <a:noFill/>
          <a:ln/>
        </p:spPr>
        <p:txBody>
          <a:bodyPr wrap="square" lIns="0" tIns="0" rIns="0" bIns="0" rtlCol="0" anchor="ctr"/>
          <a:lstStyle/>
          <a:p>
            <a:pPr indent="0" marL="0">
              <a:buNone/>
            </a:pPr>
            <a:r>
              <a:rPr lang="en-US" sz="1500" dirty="0">
                <a:solidFill>
                  <a:srgbClr val="EFF3FA"/>
                </a:solidFill>
                <a:latin typeface="Calibri" pitchFamily="34" charset="0"/>
                <a:ea typeface="Calibri" pitchFamily="34" charset="-122"/>
                <a:cs typeface="Calibri" pitchFamily="34" charset="-120"/>
              </a:rPr>
              <a:t>Open Source Software</a:t>
            </a:r>
            <a:pPr indent="0" marL="0">
              <a:buNone/>
            </a:pPr>
            <a:r>
              <a:rPr lang="en-US" sz="1500" b="1" dirty="0">
                <a:solidFill>
                  <a:srgbClr val="00C9A7"/>
                </a:solidFill>
                <a:latin typeface="Calibri" pitchFamily="34" charset="0"/>
                <a:ea typeface="Calibri" pitchFamily="34" charset="-122"/>
                <a:cs typeface="Calibri" pitchFamily="34" charset="-120"/>
              </a:rPr>
              <a:t>   Agentic AI</a:t>
            </a:r>
            <a:pPr indent="0" marL="0">
              <a:buNone/>
            </a:pPr>
            <a:r>
              <a:rPr lang="en-US" sz="1500" b="1" dirty="0">
                <a:solidFill>
                  <a:srgbClr val="E3B341"/>
                </a:solidFill>
                <a:latin typeface="Calibri" pitchFamily="34" charset="0"/>
                <a:ea typeface="Calibri" pitchFamily="34" charset="-122"/>
                <a:cs typeface="Calibri" pitchFamily="34" charset="-120"/>
              </a:rPr>
              <a:t>   DevSecOps</a:t>
            </a:r>
            <a:endParaRPr lang="en-US" sz="1500" dirty="0"/>
          </a:p>
        </p:txBody>
      </p:sp>
      <p:sp>
        <p:nvSpPr>
          <p:cNvPr id="22" name="Text 20"/>
          <p:cNvSpPr/>
          <p:nvPr/>
        </p:nvSpPr>
        <p:spPr>
          <a:xfrm>
            <a:off x="365760" y="2212848"/>
            <a:ext cx="7772400" cy="804672"/>
          </a:xfrm>
          <a:prstGeom prst="rect">
            <a:avLst/>
          </a:prstGeom>
          <a:noFill/>
          <a:ln/>
        </p:spPr>
        <p:txBody>
          <a:bodyPr wrap="square" lIns="0" tIns="0" rIns="0" bIns="0" rtlCol="0" anchor="ctr"/>
          <a:lstStyle/>
          <a:p>
            <a:pPr indent="0" marL="0">
              <a:buNone/>
            </a:pPr>
            <a:r>
              <a:rPr lang="en-US" sz="1450" dirty="0">
                <a:solidFill>
                  <a:srgbClr val="7D8FA9"/>
                </a:solidFill>
                <a:latin typeface="Calibri" pitchFamily="34" charset="0"/>
                <a:ea typeface="Calibri" pitchFamily="34" charset="-122"/>
                <a:cs typeface="Calibri" pitchFamily="34" charset="-120"/>
              </a:rPr>
              <a:t>The enterprise platform that replaces the COTS business capability stack</a:t>
            </a:r>
            <a:endParaRPr lang="en-US" sz="1450" dirty="0"/>
          </a:p>
          <a:p>
            <a:pPr indent="0" marL="0">
              <a:buNone/>
            </a:pPr>
            <a:r>
              <a:rPr lang="en-US" sz="1450" dirty="0">
                <a:solidFill>
                  <a:srgbClr val="7D8FA9"/>
                </a:solidFill>
                <a:latin typeface="Calibri" pitchFamily="34" charset="0"/>
                <a:ea typeface="Calibri" pitchFamily="34" charset="-122"/>
                <a:cs typeface="Calibri" pitchFamily="34" charset="-120"/>
              </a:rPr>
              <a:t>with OSS systems made enterprise-viable through agentic AI and DevSecOps governance.</a:t>
            </a:r>
            <a:endParaRPr lang="en-US" sz="1450" dirty="0"/>
          </a:p>
        </p:txBody>
      </p:sp>
      <p:sp>
        <p:nvSpPr>
          <p:cNvPr id="23" name="Text 21"/>
          <p:cNvSpPr/>
          <p:nvPr/>
        </p:nvSpPr>
        <p:spPr>
          <a:xfrm>
            <a:off x="365760" y="3163824"/>
            <a:ext cx="6858000" cy="365760"/>
          </a:xfrm>
          <a:prstGeom prst="rect">
            <a:avLst/>
          </a:prstGeom>
          <a:noFill/>
          <a:ln/>
        </p:spPr>
        <p:txBody>
          <a:bodyPr wrap="square" lIns="0" tIns="0" rIns="0" bIns="0" rtlCol="0" anchor="ctr"/>
          <a:lstStyle/>
          <a:p>
            <a:pPr indent="0" marL="0">
              <a:buNone/>
            </a:pPr>
            <a:r>
              <a:rPr lang="en-US" sz="1350" i="1" dirty="0">
                <a:solidFill>
                  <a:srgbClr val="EFF3FA"/>
                </a:solidFill>
                <a:latin typeface="Calibri" pitchFamily="34" charset="0"/>
                <a:ea typeface="Calibri" pitchFamily="34" charset="-122"/>
                <a:cs typeface="Calibri" pitchFamily="34" charset="-120"/>
              </a:rPr>
              <a:t>OSS already existed. Agentic AI made it enterprise-ready.</a:t>
            </a:r>
            <a:endParaRPr lang="en-US" sz="1350" dirty="0"/>
          </a:p>
        </p:txBody>
      </p:sp>
      <p:sp>
        <p:nvSpPr>
          <p:cNvPr id="24" name="Text 22"/>
          <p:cNvSpPr/>
          <p:nvPr/>
        </p:nvSpPr>
        <p:spPr>
          <a:xfrm>
            <a:off x="365760" y="4809744"/>
            <a:ext cx="8229600" cy="237744"/>
          </a:xfrm>
          <a:prstGeom prst="rect">
            <a:avLst/>
          </a:prstGeom>
          <a:noFill/>
          <a:ln/>
        </p:spPr>
        <p:txBody>
          <a:bodyPr wrap="square" lIns="0" tIns="0" rIns="0" bIns="0" rtlCol="0" anchor="ctr"/>
          <a:lstStyle/>
          <a:p>
            <a:pPr indent="0" marL="0">
              <a:buNone/>
            </a:pPr>
            <a:r>
              <a:rPr lang="en-US" sz="800" spc="300" kern="0" dirty="0">
                <a:solidFill>
                  <a:srgbClr val="3D4F63"/>
                </a:solidFill>
                <a:latin typeface="Calibri" pitchFamily="34" charset="0"/>
                <a:ea typeface="Calibri" pitchFamily="34" charset="-122"/>
                <a:cs typeface="Calibri" pitchFamily="34" charset="-120"/>
              </a:rPr>
              <a:t>ENTERPRISE ARCHITECTURE  ·  STRATEGIC BRIEF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00C9A7"/>
          </a:solidFill>
          <a:ln w="12700">
            <a:solidFill>
              <a:srgbClr val="00C9A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00C9A7"/>
                </a:solidFill>
                <a:latin typeface="Calibri" pitchFamily="34" charset="0"/>
                <a:ea typeface="Calibri" pitchFamily="34" charset="-122"/>
                <a:cs typeface="Calibri" pitchFamily="34" charset="-120"/>
              </a:rPr>
              <a:t>WHAT IS OAAD</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A Platform. Not a Product.</a:t>
            </a:r>
            <a:endParaRPr lang="en-US" sz="3000" dirty="0"/>
          </a:p>
        </p:txBody>
      </p:sp>
      <p:sp>
        <p:nvSpPr>
          <p:cNvPr id="6" name="Shape 4"/>
          <p:cNvSpPr/>
          <p:nvPr/>
        </p:nvSpPr>
        <p:spPr>
          <a:xfrm>
            <a:off x="256032" y="1325880"/>
            <a:ext cx="4206240" cy="1417320"/>
          </a:xfrm>
          <a:prstGeom prst="rect">
            <a:avLst/>
          </a:prstGeom>
          <a:solidFill>
            <a:srgbClr val="161D28"/>
          </a:solidFill>
          <a:ln w="12700">
            <a:solidFill>
              <a:srgbClr val="EFF3FA"/>
            </a:solidFill>
            <a:prstDash val="solid"/>
          </a:ln>
          <a:effectLst>
            <a:outerShdw sx="100000" sy="100000" kx="0" ky="0" algn="bl" rotWithShape="0" blurRad="101600" dist="38100" dir="8100000">
              <a:srgbClr val="000000">
                <a:alpha val="22000"/>
              </a:srgbClr>
            </a:outerShdw>
          </a:effectLst>
        </p:spPr>
      </p:sp>
      <p:sp>
        <p:nvSpPr>
          <p:cNvPr id="7" name="Shape 5"/>
          <p:cNvSpPr/>
          <p:nvPr/>
        </p:nvSpPr>
        <p:spPr>
          <a:xfrm>
            <a:off x="256032" y="1325880"/>
            <a:ext cx="4206240" cy="45720"/>
          </a:xfrm>
          <a:prstGeom prst="rect">
            <a:avLst/>
          </a:prstGeom>
          <a:solidFill>
            <a:srgbClr val="EFF3FA"/>
          </a:solidFill>
          <a:ln w="12700">
            <a:solidFill>
              <a:srgbClr val="EFF3FA"/>
            </a:solidFill>
            <a:prstDash val="solid"/>
          </a:ln>
        </p:spPr>
      </p:sp>
      <p:sp>
        <p:nvSpPr>
          <p:cNvPr id="8" name="Shape 6"/>
          <p:cNvSpPr/>
          <p:nvPr/>
        </p:nvSpPr>
        <p:spPr>
          <a:xfrm>
            <a:off x="420624" y="1463040"/>
            <a:ext cx="438912" cy="438912"/>
          </a:xfrm>
          <a:prstGeom prst="ellipse">
            <a:avLst/>
          </a:prstGeom>
          <a:solidFill>
            <a:srgbClr val="EFF3FA"/>
          </a:solidFill>
          <a:ln w="12700">
            <a:solidFill>
              <a:srgbClr val="EFF3FA"/>
            </a:solidFill>
            <a:prstDash val="solid"/>
          </a:ln>
        </p:spPr>
      </p:sp>
      <p:sp>
        <p:nvSpPr>
          <p:cNvPr id="9" name="Text 7"/>
          <p:cNvSpPr/>
          <p:nvPr/>
        </p:nvSpPr>
        <p:spPr>
          <a:xfrm>
            <a:off x="420624" y="1463040"/>
            <a:ext cx="438912" cy="438912"/>
          </a:xfrm>
          <a:prstGeom prst="rect">
            <a:avLst/>
          </a:prstGeom>
          <a:noFill/>
          <a:ln/>
        </p:spPr>
        <p:txBody>
          <a:bodyPr wrap="square" lIns="0" tIns="0" rIns="0" bIns="0" rtlCol="0" anchor="ctr"/>
          <a:lstStyle/>
          <a:p>
            <a:pPr algn="ctr" indent="0" marL="0">
              <a:buNone/>
            </a:pPr>
            <a:r>
              <a:rPr lang="en-US" sz="1800" b="1" dirty="0">
                <a:solidFill>
                  <a:srgbClr val="0A0E14"/>
                </a:solidFill>
                <a:latin typeface="Trebuchet MS" pitchFamily="34" charset="0"/>
                <a:ea typeface="Trebuchet MS" pitchFamily="34" charset="-122"/>
                <a:cs typeface="Trebuchet MS" pitchFamily="34" charset="-120"/>
              </a:rPr>
              <a:t>O</a:t>
            </a:r>
            <a:endParaRPr lang="en-US" sz="1800" dirty="0"/>
          </a:p>
        </p:txBody>
      </p:sp>
      <p:sp>
        <p:nvSpPr>
          <p:cNvPr id="10" name="Text 8"/>
          <p:cNvSpPr/>
          <p:nvPr/>
        </p:nvSpPr>
        <p:spPr>
          <a:xfrm>
            <a:off x="969264" y="1508760"/>
            <a:ext cx="3337560" cy="274320"/>
          </a:xfrm>
          <a:prstGeom prst="rect">
            <a:avLst/>
          </a:prstGeom>
          <a:noFill/>
          <a:ln/>
        </p:spPr>
        <p:txBody>
          <a:bodyPr wrap="square" lIns="0" tIns="0" rIns="0" bIns="0" rtlCol="0" anchor="ctr"/>
          <a:lstStyle/>
          <a:p>
            <a:pPr indent="0" marL="0">
              <a:buNone/>
            </a:pPr>
            <a:r>
              <a:rPr lang="en-US" sz="1200" b="1" dirty="0">
                <a:solidFill>
                  <a:srgbClr val="EFF3FA"/>
                </a:solidFill>
                <a:latin typeface="Calibri" pitchFamily="34" charset="0"/>
                <a:ea typeface="Calibri" pitchFamily="34" charset="-122"/>
                <a:cs typeface="Calibri" pitchFamily="34" charset="-120"/>
              </a:rPr>
              <a:t>Open Source Software</a:t>
            </a:r>
            <a:endParaRPr lang="en-US" sz="1200" dirty="0"/>
          </a:p>
        </p:txBody>
      </p:sp>
      <p:sp>
        <p:nvSpPr>
          <p:cNvPr id="11" name="Text 9"/>
          <p:cNvSpPr/>
          <p:nvPr/>
        </p:nvSpPr>
        <p:spPr>
          <a:xfrm>
            <a:off x="420624" y="1984248"/>
            <a:ext cx="3877056" cy="694944"/>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Every business capability domain has a mature OSS alternative today: iTop, SuiteCRM, Odoo, ERPNext, GitLab, Mattermost, Metabase, Wazuh. OAAD curates and operates them. The software is not built. It is selected, deployed, and owned.</a:t>
            </a:r>
            <a:endParaRPr lang="en-US" sz="1000" dirty="0"/>
          </a:p>
        </p:txBody>
      </p:sp>
      <p:sp>
        <p:nvSpPr>
          <p:cNvPr id="12" name="Shape 10"/>
          <p:cNvSpPr/>
          <p:nvPr/>
        </p:nvSpPr>
        <p:spPr>
          <a:xfrm>
            <a:off x="4645152" y="1325880"/>
            <a:ext cx="4206240" cy="1417320"/>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13" name="Shape 11"/>
          <p:cNvSpPr/>
          <p:nvPr/>
        </p:nvSpPr>
        <p:spPr>
          <a:xfrm>
            <a:off x="4645152" y="1325880"/>
            <a:ext cx="4206240" cy="45720"/>
          </a:xfrm>
          <a:prstGeom prst="rect">
            <a:avLst/>
          </a:prstGeom>
          <a:solidFill>
            <a:srgbClr val="00C9A7"/>
          </a:solidFill>
          <a:ln w="12700">
            <a:solidFill>
              <a:srgbClr val="00C9A7"/>
            </a:solidFill>
            <a:prstDash val="solid"/>
          </a:ln>
        </p:spPr>
      </p:sp>
      <p:sp>
        <p:nvSpPr>
          <p:cNvPr id="14" name="Shape 12"/>
          <p:cNvSpPr/>
          <p:nvPr/>
        </p:nvSpPr>
        <p:spPr>
          <a:xfrm>
            <a:off x="4809744" y="1463040"/>
            <a:ext cx="438912" cy="438912"/>
          </a:xfrm>
          <a:prstGeom prst="ellipse">
            <a:avLst/>
          </a:prstGeom>
          <a:solidFill>
            <a:srgbClr val="00C9A7"/>
          </a:solidFill>
          <a:ln w="12700">
            <a:solidFill>
              <a:srgbClr val="00C9A7"/>
            </a:solidFill>
            <a:prstDash val="solid"/>
          </a:ln>
        </p:spPr>
      </p:sp>
      <p:sp>
        <p:nvSpPr>
          <p:cNvPr id="15" name="Text 13"/>
          <p:cNvSpPr/>
          <p:nvPr/>
        </p:nvSpPr>
        <p:spPr>
          <a:xfrm>
            <a:off x="4809744" y="1463040"/>
            <a:ext cx="438912" cy="438912"/>
          </a:xfrm>
          <a:prstGeom prst="rect">
            <a:avLst/>
          </a:prstGeom>
          <a:noFill/>
          <a:ln/>
        </p:spPr>
        <p:txBody>
          <a:bodyPr wrap="square" lIns="0" tIns="0" rIns="0" bIns="0" rtlCol="0" anchor="ctr"/>
          <a:lstStyle/>
          <a:p>
            <a:pPr algn="ctr" indent="0" marL="0">
              <a:buNone/>
            </a:pPr>
            <a:r>
              <a:rPr lang="en-US" sz="1800" b="1" dirty="0">
                <a:solidFill>
                  <a:srgbClr val="0A0E14"/>
                </a:solidFill>
                <a:latin typeface="Trebuchet MS" pitchFamily="34" charset="0"/>
                <a:ea typeface="Trebuchet MS" pitchFamily="34" charset="-122"/>
                <a:cs typeface="Trebuchet MS" pitchFamily="34" charset="-120"/>
              </a:rPr>
              <a:t>A</a:t>
            </a:r>
            <a:endParaRPr lang="en-US" sz="1800" dirty="0"/>
          </a:p>
        </p:txBody>
      </p:sp>
      <p:sp>
        <p:nvSpPr>
          <p:cNvPr id="16" name="Text 14"/>
          <p:cNvSpPr/>
          <p:nvPr/>
        </p:nvSpPr>
        <p:spPr>
          <a:xfrm>
            <a:off x="5358384" y="1508760"/>
            <a:ext cx="3337560" cy="27432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Agentic AI: Orchestration Fabric</a:t>
            </a:r>
            <a:endParaRPr lang="en-US" sz="1200" dirty="0"/>
          </a:p>
        </p:txBody>
      </p:sp>
      <p:sp>
        <p:nvSpPr>
          <p:cNvPr id="17" name="Text 15"/>
          <p:cNvSpPr/>
          <p:nvPr/>
        </p:nvSpPr>
        <p:spPr>
          <a:xfrm>
            <a:off x="4809744" y="1984248"/>
            <a:ext cx="3877056" cy="694944"/>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Agents are the adaptive orchestration and knowledge layer above deterministic integration primitives. They route, interpret, coordinate, monitor, and encode. They do not replace the integration engineering beneath them.</a:t>
            </a:r>
            <a:endParaRPr lang="en-US" sz="1000" dirty="0"/>
          </a:p>
        </p:txBody>
      </p:sp>
      <p:sp>
        <p:nvSpPr>
          <p:cNvPr id="18" name="Shape 16"/>
          <p:cNvSpPr/>
          <p:nvPr/>
        </p:nvSpPr>
        <p:spPr>
          <a:xfrm>
            <a:off x="256032" y="2907792"/>
            <a:ext cx="4206240" cy="1417320"/>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19" name="Shape 17"/>
          <p:cNvSpPr/>
          <p:nvPr/>
        </p:nvSpPr>
        <p:spPr>
          <a:xfrm>
            <a:off x="256032" y="2907792"/>
            <a:ext cx="4206240" cy="45720"/>
          </a:xfrm>
          <a:prstGeom prst="rect">
            <a:avLst/>
          </a:prstGeom>
          <a:solidFill>
            <a:srgbClr val="00C9A7"/>
          </a:solidFill>
          <a:ln w="12700">
            <a:solidFill>
              <a:srgbClr val="00C9A7"/>
            </a:solidFill>
            <a:prstDash val="solid"/>
          </a:ln>
        </p:spPr>
      </p:sp>
      <p:sp>
        <p:nvSpPr>
          <p:cNvPr id="20" name="Shape 18"/>
          <p:cNvSpPr/>
          <p:nvPr/>
        </p:nvSpPr>
        <p:spPr>
          <a:xfrm>
            <a:off x="420624" y="3044952"/>
            <a:ext cx="438912" cy="438912"/>
          </a:xfrm>
          <a:prstGeom prst="ellipse">
            <a:avLst/>
          </a:prstGeom>
          <a:solidFill>
            <a:srgbClr val="00C9A7"/>
          </a:solidFill>
          <a:ln w="12700">
            <a:solidFill>
              <a:srgbClr val="00C9A7"/>
            </a:solidFill>
            <a:prstDash val="solid"/>
          </a:ln>
        </p:spPr>
      </p:sp>
      <p:sp>
        <p:nvSpPr>
          <p:cNvPr id="21" name="Text 19"/>
          <p:cNvSpPr/>
          <p:nvPr/>
        </p:nvSpPr>
        <p:spPr>
          <a:xfrm>
            <a:off x="420624" y="3044952"/>
            <a:ext cx="438912" cy="438912"/>
          </a:xfrm>
          <a:prstGeom prst="rect">
            <a:avLst/>
          </a:prstGeom>
          <a:noFill/>
          <a:ln/>
        </p:spPr>
        <p:txBody>
          <a:bodyPr wrap="square" lIns="0" tIns="0" rIns="0" bIns="0" rtlCol="0" anchor="ctr"/>
          <a:lstStyle/>
          <a:p>
            <a:pPr algn="ctr" indent="0" marL="0">
              <a:buNone/>
            </a:pPr>
            <a:r>
              <a:rPr lang="en-US" sz="1800" b="1" dirty="0">
                <a:solidFill>
                  <a:srgbClr val="0A0E14"/>
                </a:solidFill>
                <a:latin typeface="Trebuchet MS" pitchFamily="34" charset="0"/>
                <a:ea typeface="Trebuchet MS" pitchFamily="34" charset="-122"/>
                <a:cs typeface="Trebuchet MS" pitchFamily="34" charset="-120"/>
              </a:rPr>
              <a:t>A</a:t>
            </a:r>
            <a:endParaRPr lang="en-US" sz="1800" dirty="0"/>
          </a:p>
        </p:txBody>
      </p:sp>
      <p:sp>
        <p:nvSpPr>
          <p:cNvPr id="22" name="Text 20"/>
          <p:cNvSpPr/>
          <p:nvPr/>
        </p:nvSpPr>
        <p:spPr>
          <a:xfrm>
            <a:off x="969264" y="3090672"/>
            <a:ext cx="3337560" cy="27432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Agentic AI: Lifecycle Governance</a:t>
            </a:r>
            <a:endParaRPr lang="en-US" sz="1200" dirty="0"/>
          </a:p>
        </p:txBody>
      </p:sp>
      <p:sp>
        <p:nvSpPr>
          <p:cNvPr id="23" name="Text 21"/>
          <p:cNvSpPr/>
          <p:nvPr/>
        </p:nvSpPr>
        <p:spPr>
          <a:xfrm>
            <a:off x="420624" y="3566160"/>
            <a:ext cx="3877056" cy="694944"/>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Every OAAD agent carries full lifecycle governance: prompt versioning, CI/CD promotion gates, evaluation frameworks, HITL checkpoints, identity, delegated authority, and LLM-native observability.</a:t>
            </a:r>
            <a:endParaRPr lang="en-US" sz="1000" dirty="0"/>
          </a:p>
        </p:txBody>
      </p:sp>
      <p:sp>
        <p:nvSpPr>
          <p:cNvPr id="24" name="Shape 22"/>
          <p:cNvSpPr/>
          <p:nvPr/>
        </p:nvSpPr>
        <p:spPr>
          <a:xfrm>
            <a:off x="4645152" y="2907792"/>
            <a:ext cx="4206240" cy="1417320"/>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25" name="Shape 23"/>
          <p:cNvSpPr/>
          <p:nvPr/>
        </p:nvSpPr>
        <p:spPr>
          <a:xfrm>
            <a:off x="4645152" y="2907792"/>
            <a:ext cx="4206240" cy="45720"/>
          </a:xfrm>
          <a:prstGeom prst="rect">
            <a:avLst/>
          </a:prstGeom>
          <a:solidFill>
            <a:srgbClr val="E3B341"/>
          </a:solidFill>
          <a:ln w="12700">
            <a:solidFill>
              <a:srgbClr val="E3B341"/>
            </a:solidFill>
            <a:prstDash val="solid"/>
          </a:ln>
        </p:spPr>
      </p:sp>
      <p:sp>
        <p:nvSpPr>
          <p:cNvPr id="26" name="Shape 24"/>
          <p:cNvSpPr/>
          <p:nvPr/>
        </p:nvSpPr>
        <p:spPr>
          <a:xfrm>
            <a:off x="4809744" y="3044952"/>
            <a:ext cx="438912" cy="438912"/>
          </a:xfrm>
          <a:prstGeom prst="ellipse">
            <a:avLst/>
          </a:prstGeom>
          <a:solidFill>
            <a:srgbClr val="E3B341"/>
          </a:solidFill>
          <a:ln w="12700">
            <a:solidFill>
              <a:srgbClr val="E3B341"/>
            </a:solidFill>
            <a:prstDash val="solid"/>
          </a:ln>
        </p:spPr>
      </p:sp>
      <p:sp>
        <p:nvSpPr>
          <p:cNvPr id="27" name="Text 25"/>
          <p:cNvSpPr/>
          <p:nvPr/>
        </p:nvSpPr>
        <p:spPr>
          <a:xfrm>
            <a:off x="4809744" y="3044952"/>
            <a:ext cx="438912" cy="438912"/>
          </a:xfrm>
          <a:prstGeom prst="rect">
            <a:avLst/>
          </a:prstGeom>
          <a:noFill/>
          <a:ln/>
        </p:spPr>
        <p:txBody>
          <a:bodyPr wrap="square" lIns="0" tIns="0" rIns="0" bIns="0" rtlCol="0" anchor="ctr"/>
          <a:lstStyle/>
          <a:p>
            <a:pPr algn="ctr" indent="0" marL="0">
              <a:buNone/>
            </a:pPr>
            <a:r>
              <a:rPr lang="en-US" sz="1800" b="1" dirty="0">
                <a:solidFill>
                  <a:srgbClr val="0A0E14"/>
                </a:solidFill>
                <a:latin typeface="Trebuchet MS" pitchFamily="34" charset="0"/>
                <a:ea typeface="Trebuchet MS" pitchFamily="34" charset="-122"/>
                <a:cs typeface="Trebuchet MS" pitchFamily="34" charset="-120"/>
              </a:rPr>
              <a:t>D</a:t>
            </a:r>
            <a:endParaRPr lang="en-US" sz="1800" dirty="0"/>
          </a:p>
        </p:txBody>
      </p:sp>
      <p:sp>
        <p:nvSpPr>
          <p:cNvPr id="28" name="Text 26"/>
          <p:cNvSpPr/>
          <p:nvPr/>
        </p:nvSpPr>
        <p:spPr>
          <a:xfrm>
            <a:off x="5358384" y="3090672"/>
            <a:ext cx="3337560" cy="274320"/>
          </a:xfrm>
          <a:prstGeom prst="rect">
            <a:avLst/>
          </a:prstGeom>
          <a:noFill/>
          <a:ln/>
        </p:spPr>
        <p:txBody>
          <a:bodyPr wrap="square" lIns="0" tIns="0" rIns="0" bIns="0" rtlCol="0" anchor="ctr"/>
          <a:lstStyle/>
          <a:p>
            <a:pPr indent="0" marL="0">
              <a:buNone/>
            </a:pPr>
            <a:r>
              <a:rPr lang="en-US" sz="1200" b="1" dirty="0">
                <a:solidFill>
                  <a:srgbClr val="E3B341"/>
                </a:solidFill>
                <a:latin typeface="Calibri" pitchFamily="34" charset="0"/>
                <a:ea typeface="Calibri" pitchFamily="34" charset="-122"/>
                <a:cs typeface="Calibri" pitchFamily="34" charset="-120"/>
              </a:rPr>
              <a:t>DevSecOps</a:t>
            </a:r>
            <a:endParaRPr lang="en-US" sz="1200" dirty="0"/>
          </a:p>
        </p:txBody>
      </p:sp>
      <p:sp>
        <p:nvSpPr>
          <p:cNvPr id="29" name="Text 27"/>
          <p:cNvSpPr/>
          <p:nvPr/>
        </p:nvSpPr>
        <p:spPr>
          <a:xfrm>
            <a:off x="4809744" y="3566160"/>
            <a:ext cx="3877056" cy="694944"/>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DevSecOps is not a process bolted on top. It is the operational spine of OAAD. Agent identity, delegated authority, audit attribution, and risk-calibrated controls are architecture, not policy.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4D9EFF"/>
          </a:solidFill>
          <a:ln w="12700">
            <a:solidFill>
              <a:srgbClr val="4D9EFF"/>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4D9EFF"/>
                </a:solidFill>
                <a:latin typeface="Calibri" pitchFamily="34" charset="0"/>
                <a:ea typeface="Calibri" pitchFamily="34" charset="-122"/>
                <a:cs typeface="Calibri" pitchFamily="34" charset="-120"/>
              </a:rPr>
              <a:t>THE MARKET SHIFT</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Agentic Platforms Are the New Enterprise Control Plane</a:t>
            </a:r>
            <a:endParaRPr lang="en-US" sz="3000" dirty="0"/>
          </a:p>
        </p:txBody>
      </p:sp>
      <p:sp>
        <p:nvSpPr>
          <p:cNvPr id="6" name="Text 4"/>
          <p:cNvSpPr/>
          <p:nvPr/>
        </p:nvSpPr>
        <p:spPr>
          <a:xfrm>
            <a:off x="365760" y="1261872"/>
            <a:ext cx="8412480" cy="475488"/>
          </a:xfrm>
          <a:prstGeom prst="rect">
            <a:avLst/>
          </a:prstGeom>
          <a:noFill/>
          <a:ln/>
        </p:spPr>
        <p:txBody>
          <a:bodyPr wrap="square" lIns="0" tIns="0" rIns="0" bIns="0" rtlCol="0" anchor="ctr"/>
          <a:lstStyle/>
          <a:p>
            <a:pPr indent="0" marL="0">
              <a:buNone/>
            </a:pPr>
            <a:r>
              <a:rPr lang="en-US" sz="1200" i="1" dirty="0">
                <a:solidFill>
                  <a:srgbClr val="7D8FA9"/>
                </a:solidFill>
                <a:latin typeface="Calibri" pitchFamily="34" charset="0"/>
                <a:ea typeface="Calibri" pitchFamily="34" charset="-122"/>
                <a:cs typeface="Calibri" pitchFamily="34" charset="-120"/>
              </a:rPr>
              <a:t>The enterprise software market is undergoing a structural transition. The agentic layer is coming. The question is who will own it, and who will benefit from the intelligence it accumulates.</a:t>
            </a:r>
            <a:endParaRPr lang="en-US" sz="1200" dirty="0"/>
          </a:p>
        </p:txBody>
      </p:sp>
      <p:sp>
        <p:nvSpPr>
          <p:cNvPr id="7" name="Text 5"/>
          <p:cNvSpPr/>
          <p:nvPr/>
        </p:nvSpPr>
        <p:spPr>
          <a:xfrm>
            <a:off x="1005840" y="1847088"/>
            <a:ext cx="3291840" cy="237744"/>
          </a:xfrm>
          <a:prstGeom prst="rect">
            <a:avLst/>
          </a:prstGeom>
          <a:noFill/>
          <a:ln/>
        </p:spPr>
        <p:txBody>
          <a:bodyPr wrap="square" lIns="0" tIns="0" rIns="0" bIns="0" rtlCol="0" anchor="ctr"/>
          <a:lstStyle/>
          <a:p>
            <a:pPr indent="0" marL="0">
              <a:buNone/>
            </a:pPr>
            <a:r>
              <a:rPr lang="en-US" sz="900" b="1" spc="200" kern="0" dirty="0">
                <a:solidFill>
                  <a:srgbClr val="3D4F63"/>
                </a:solidFill>
                <a:latin typeface="Calibri" pitchFamily="34" charset="0"/>
                <a:ea typeface="Calibri" pitchFamily="34" charset="-122"/>
                <a:cs typeface="Calibri" pitchFamily="34" charset="-120"/>
              </a:rPr>
              <a:t>FROM</a:t>
            </a:r>
            <a:endParaRPr lang="en-US" sz="900" dirty="0"/>
          </a:p>
        </p:txBody>
      </p:sp>
      <p:sp>
        <p:nvSpPr>
          <p:cNvPr id="8" name="Text 6"/>
          <p:cNvSpPr/>
          <p:nvPr/>
        </p:nvSpPr>
        <p:spPr>
          <a:xfrm>
            <a:off x="5029200" y="1847088"/>
            <a:ext cx="3657600" cy="237744"/>
          </a:xfrm>
          <a:prstGeom prst="rect">
            <a:avLst/>
          </a:prstGeom>
          <a:noFill/>
          <a:ln/>
        </p:spPr>
        <p:txBody>
          <a:bodyPr wrap="square" lIns="0" tIns="0" rIns="0" bIns="0" rtlCol="0" anchor="ctr"/>
          <a:lstStyle/>
          <a:p>
            <a:pPr indent="0" marL="0">
              <a:buNone/>
            </a:pPr>
            <a:r>
              <a:rPr lang="en-US" sz="900" b="1" spc="200" kern="0" dirty="0">
                <a:solidFill>
                  <a:srgbClr val="3D4F63"/>
                </a:solidFill>
                <a:latin typeface="Calibri" pitchFamily="34" charset="0"/>
                <a:ea typeface="Calibri" pitchFamily="34" charset="-122"/>
                <a:cs typeface="Calibri" pitchFamily="34" charset="-120"/>
              </a:rPr>
              <a:t>TO</a:t>
            </a:r>
            <a:endParaRPr lang="en-US" sz="900" dirty="0"/>
          </a:p>
        </p:txBody>
      </p:sp>
      <p:sp>
        <p:nvSpPr>
          <p:cNvPr id="9" name="Shape 7"/>
          <p:cNvSpPr/>
          <p:nvPr/>
        </p:nvSpPr>
        <p:spPr>
          <a:xfrm>
            <a:off x="256032" y="2148840"/>
            <a:ext cx="4114800" cy="438912"/>
          </a:xfrm>
          <a:prstGeom prst="rect">
            <a:avLst/>
          </a:prstGeom>
          <a:solidFill>
            <a:srgbClr val="161D28"/>
          </a:solidFill>
          <a:ln w="12700">
            <a:solidFill>
              <a:srgbClr val="243044"/>
            </a:solidFill>
            <a:prstDash val="solid"/>
          </a:ln>
        </p:spPr>
      </p:sp>
      <p:sp>
        <p:nvSpPr>
          <p:cNvPr id="10" name="Shape 8"/>
          <p:cNvSpPr/>
          <p:nvPr/>
        </p:nvSpPr>
        <p:spPr>
          <a:xfrm>
            <a:off x="4617720" y="2148840"/>
            <a:ext cx="4270248" cy="438912"/>
          </a:xfrm>
          <a:prstGeom prst="rect">
            <a:avLst/>
          </a:prstGeom>
          <a:solidFill>
            <a:srgbClr val="1C2433"/>
          </a:solidFill>
          <a:ln w="12700">
            <a:solidFill>
              <a:srgbClr val="4D9EFF"/>
            </a:solidFill>
            <a:prstDash val="solid"/>
          </a:ln>
        </p:spPr>
      </p:sp>
      <p:sp>
        <p:nvSpPr>
          <p:cNvPr id="11" name="Text 9"/>
          <p:cNvSpPr/>
          <p:nvPr/>
        </p:nvSpPr>
        <p:spPr>
          <a:xfrm>
            <a:off x="384048" y="2240280"/>
            <a:ext cx="3840480" cy="25603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Application platforms</a:t>
            </a:r>
            <a:endParaRPr lang="en-US" sz="1100" dirty="0"/>
          </a:p>
        </p:txBody>
      </p:sp>
      <p:sp>
        <p:nvSpPr>
          <p:cNvPr id="12" name="Text 10"/>
          <p:cNvSpPr/>
          <p:nvPr/>
        </p:nvSpPr>
        <p:spPr>
          <a:xfrm>
            <a:off x="4407408" y="2221992"/>
            <a:ext cx="256032" cy="292608"/>
          </a:xfrm>
          <a:prstGeom prst="rect">
            <a:avLst/>
          </a:prstGeom>
          <a:noFill/>
          <a:ln/>
        </p:spPr>
        <p:txBody>
          <a:bodyPr wrap="square" lIns="0" tIns="0" rIns="0" bIns="0" rtlCol="0" anchor="ctr"/>
          <a:lstStyle/>
          <a:p>
            <a:pPr algn="ctr" indent="0" marL="0">
              <a:buNone/>
            </a:pPr>
            <a:r>
              <a:rPr lang="en-US" sz="1300" dirty="0">
                <a:solidFill>
                  <a:srgbClr val="00C9A7"/>
                </a:solidFill>
              </a:rPr>
              <a:t>▶</a:t>
            </a:r>
            <a:endParaRPr lang="en-US" sz="1300" dirty="0"/>
          </a:p>
        </p:txBody>
      </p:sp>
      <p:sp>
        <p:nvSpPr>
          <p:cNvPr id="13" name="Text 11"/>
          <p:cNvSpPr/>
          <p:nvPr/>
        </p:nvSpPr>
        <p:spPr>
          <a:xfrm>
            <a:off x="4736592" y="2240280"/>
            <a:ext cx="4023360" cy="256032"/>
          </a:xfrm>
          <a:prstGeom prst="rect">
            <a:avLst/>
          </a:prstGeom>
          <a:noFill/>
          <a:ln/>
        </p:spPr>
        <p:txBody>
          <a:bodyPr wrap="square" lIns="0" tIns="0" rIns="0" bIns="0" rtlCol="0" anchor="ctr"/>
          <a:lstStyle/>
          <a:p>
            <a:pPr indent="0" marL="0">
              <a:buNone/>
            </a:pPr>
            <a:r>
              <a:rPr lang="en-US" sz="1100" b="1" dirty="0">
                <a:solidFill>
                  <a:srgbClr val="4D9EFF"/>
                </a:solidFill>
                <a:latin typeface="Calibri" pitchFamily="34" charset="0"/>
                <a:ea typeface="Calibri" pitchFamily="34" charset="-122"/>
                <a:cs typeface="Calibri" pitchFamily="34" charset="-120"/>
              </a:rPr>
              <a:t>Agentic operating fabrics</a:t>
            </a:r>
            <a:endParaRPr lang="en-US" sz="1100" dirty="0"/>
          </a:p>
        </p:txBody>
      </p:sp>
      <p:sp>
        <p:nvSpPr>
          <p:cNvPr id="14" name="Shape 12"/>
          <p:cNvSpPr/>
          <p:nvPr/>
        </p:nvSpPr>
        <p:spPr>
          <a:xfrm>
            <a:off x="256032" y="2642616"/>
            <a:ext cx="4114800" cy="438912"/>
          </a:xfrm>
          <a:prstGeom prst="rect">
            <a:avLst/>
          </a:prstGeom>
          <a:solidFill>
            <a:srgbClr val="131920"/>
          </a:solidFill>
          <a:ln w="12700">
            <a:solidFill>
              <a:srgbClr val="243044"/>
            </a:solidFill>
            <a:prstDash val="solid"/>
          </a:ln>
        </p:spPr>
      </p:sp>
      <p:sp>
        <p:nvSpPr>
          <p:cNvPr id="15" name="Shape 13"/>
          <p:cNvSpPr/>
          <p:nvPr/>
        </p:nvSpPr>
        <p:spPr>
          <a:xfrm>
            <a:off x="4617720" y="2642616"/>
            <a:ext cx="4270248" cy="438912"/>
          </a:xfrm>
          <a:prstGeom prst="rect">
            <a:avLst/>
          </a:prstGeom>
          <a:solidFill>
            <a:srgbClr val="1C2433"/>
          </a:solidFill>
          <a:ln w="12700">
            <a:solidFill>
              <a:srgbClr val="00C9A7"/>
            </a:solidFill>
            <a:prstDash val="solid"/>
          </a:ln>
        </p:spPr>
      </p:sp>
      <p:sp>
        <p:nvSpPr>
          <p:cNvPr id="16" name="Text 14"/>
          <p:cNvSpPr/>
          <p:nvPr/>
        </p:nvSpPr>
        <p:spPr>
          <a:xfrm>
            <a:off x="384048" y="2734056"/>
            <a:ext cx="3840480" cy="25603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Workflow configuration</a:t>
            </a:r>
            <a:endParaRPr lang="en-US" sz="1100" dirty="0"/>
          </a:p>
        </p:txBody>
      </p:sp>
      <p:sp>
        <p:nvSpPr>
          <p:cNvPr id="17" name="Text 15"/>
          <p:cNvSpPr/>
          <p:nvPr/>
        </p:nvSpPr>
        <p:spPr>
          <a:xfrm>
            <a:off x="4407408" y="2715768"/>
            <a:ext cx="256032" cy="292608"/>
          </a:xfrm>
          <a:prstGeom prst="rect">
            <a:avLst/>
          </a:prstGeom>
          <a:noFill/>
          <a:ln/>
        </p:spPr>
        <p:txBody>
          <a:bodyPr wrap="square" lIns="0" tIns="0" rIns="0" bIns="0" rtlCol="0" anchor="ctr"/>
          <a:lstStyle/>
          <a:p>
            <a:pPr algn="ctr" indent="0" marL="0">
              <a:buNone/>
            </a:pPr>
            <a:r>
              <a:rPr lang="en-US" sz="1300" dirty="0">
                <a:solidFill>
                  <a:srgbClr val="00C9A7"/>
                </a:solidFill>
              </a:rPr>
              <a:t>▶</a:t>
            </a:r>
            <a:endParaRPr lang="en-US" sz="1300" dirty="0"/>
          </a:p>
        </p:txBody>
      </p:sp>
      <p:sp>
        <p:nvSpPr>
          <p:cNvPr id="18" name="Text 16"/>
          <p:cNvSpPr/>
          <p:nvPr/>
        </p:nvSpPr>
        <p:spPr>
          <a:xfrm>
            <a:off x="4736592" y="2734056"/>
            <a:ext cx="4023360" cy="256032"/>
          </a:xfrm>
          <a:prstGeom prst="rect">
            <a:avLst/>
          </a:prstGeom>
          <a:noFill/>
          <a:ln/>
        </p:spPr>
        <p:txBody>
          <a:bodyPr wrap="square" lIns="0" tIns="0" rIns="0" bIns="0" rtlCol="0" anchor="ctr"/>
          <a:lstStyle/>
          <a:p>
            <a:pPr indent="0" marL="0">
              <a:buNone/>
            </a:pPr>
            <a:r>
              <a:rPr lang="en-US" sz="1100" b="1" dirty="0">
                <a:solidFill>
                  <a:srgbClr val="00C9A7"/>
                </a:solidFill>
                <a:latin typeface="Calibri" pitchFamily="34" charset="0"/>
                <a:ea typeface="Calibri" pitchFamily="34" charset="-122"/>
                <a:cs typeface="Calibri" pitchFamily="34" charset="-120"/>
              </a:rPr>
              <a:t>Agent-mediated workflow execution</a:t>
            </a:r>
            <a:endParaRPr lang="en-US" sz="1100" dirty="0"/>
          </a:p>
        </p:txBody>
      </p:sp>
      <p:sp>
        <p:nvSpPr>
          <p:cNvPr id="19" name="Shape 17"/>
          <p:cNvSpPr/>
          <p:nvPr/>
        </p:nvSpPr>
        <p:spPr>
          <a:xfrm>
            <a:off x="256032" y="3136392"/>
            <a:ext cx="4114800" cy="438912"/>
          </a:xfrm>
          <a:prstGeom prst="rect">
            <a:avLst/>
          </a:prstGeom>
          <a:solidFill>
            <a:srgbClr val="161D28"/>
          </a:solidFill>
          <a:ln w="12700">
            <a:solidFill>
              <a:srgbClr val="243044"/>
            </a:solidFill>
            <a:prstDash val="solid"/>
          </a:ln>
        </p:spPr>
      </p:sp>
      <p:sp>
        <p:nvSpPr>
          <p:cNvPr id="20" name="Shape 18"/>
          <p:cNvSpPr/>
          <p:nvPr/>
        </p:nvSpPr>
        <p:spPr>
          <a:xfrm>
            <a:off x="4617720" y="3136392"/>
            <a:ext cx="4270248" cy="438912"/>
          </a:xfrm>
          <a:prstGeom prst="rect">
            <a:avLst/>
          </a:prstGeom>
          <a:solidFill>
            <a:srgbClr val="1C2433"/>
          </a:solidFill>
          <a:ln w="12700">
            <a:solidFill>
              <a:srgbClr val="E3B341"/>
            </a:solidFill>
            <a:prstDash val="solid"/>
          </a:ln>
        </p:spPr>
      </p:sp>
      <p:sp>
        <p:nvSpPr>
          <p:cNvPr id="21" name="Text 19"/>
          <p:cNvSpPr/>
          <p:nvPr/>
        </p:nvSpPr>
        <p:spPr>
          <a:xfrm>
            <a:off x="384048" y="3227832"/>
            <a:ext cx="3840480" cy="25603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Data warehouses</a:t>
            </a:r>
            <a:endParaRPr lang="en-US" sz="1100" dirty="0"/>
          </a:p>
        </p:txBody>
      </p:sp>
      <p:sp>
        <p:nvSpPr>
          <p:cNvPr id="22" name="Text 20"/>
          <p:cNvSpPr/>
          <p:nvPr/>
        </p:nvSpPr>
        <p:spPr>
          <a:xfrm>
            <a:off x="4407408" y="3209544"/>
            <a:ext cx="256032" cy="292608"/>
          </a:xfrm>
          <a:prstGeom prst="rect">
            <a:avLst/>
          </a:prstGeom>
          <a:noFill/>
          <a:ln/>
        </p:spPr>
        <p:txBody>
          <a:bodyPr wrap="square" lIns="0" tIns="0" rIns="0" bIns="0" rtlCol="0" anchor="ctr"/>
          <a:lstStyle/>
          <a:p>
            <a:pPr algn="ctr" indent="0" marL="0">
              <a:buNone/>
            </a:pPr>
            <a:r>
              <a:rPr lang="en-US" sz="1300" dirty="0">
                <a:solidFill>
                  <a:srgbClr val="00C9A7"/>
                </a:solidFill>
              </a:rPr>
              <a:t>▶</a:t>
            </a:r>
            <a:endParaRPr lang="en-US" sz="1300" dirty="0"/>
          </a:p>
        </p:txBody>
      </p:sp>
      <p:sp>
        <p:nvSpPr>
          <p:cNvPr id="23" name="Text 21"/>
          <p:cNvSpPr/>
          <p:nvPr/>
        </p:nvSpPr>
        <p:spPr>
          <a:xfrm>
            <a:off x="4736592" y="3227832"/>
            <a:ext cx="4023360" cy="256032"/>
          </a:xfrm>
          <a:prstGeom prst="rect">
            <a:avLst/>
          </a:prstGeom>
          <a:noFill/>
          <a:ln/>
        </p:spPr>
        <p:txBody>
          <a:bodyPr wrap="square" lIns="0" tIns="0" rIns="0" bIns="0" rtlCol="0" anchor="ctr"/>
          <a:lstStyle/>
          <a:p>
            <a:pPr indent="0" marL="0">
              <a:buNone/>
            </a:pPr>
            <a:r>
              <a:rPr lang="en-US" sz="1100" b="1" dirty="0">
                <a:solidFill>
                  <a:srgbClr val="E3B341"/>
                </a:solidFill>
                <a:latin typeface="Calibri" pitchFamily="34" charset="0"/>
                <a:ea typeface="Calibri" pitchFamily="34" charset="-122"/>
                <a:cs typeface="Calibri" pitchFamily="34" charset="-120"/>
              </a:rPr>
              <a:t>Governed context layers for agents</a:t>
            </a:r>
            <a:endParaRPr lang="en-US" sz="1100" dirty="0"/>
          </a:p>
        </p:txBody>
      </p:sp>
      <p:sp>
        <p:nvSpPr>
          <p:cNvPr id="24" name="Shape 22"/>
          <p:cNvSpPr/>
          <p:nvPr/>
        </p:nvSpPr>
        <p:spPr>
          <a:xfrm>
            <a:off x="256032" y="3630168"/>
            <a:ext cx="4114800" cy="438912"/>
          </a:xfrm>
          <a:prstGeom prst="rect">
            <a:avLst/>
          </a:prstGeom>
          <a:solidFill>
            <a:srgbClr val="131920"/>
          </a:solidFill>
          <a:ln w="12700">
            <a:solidFill>
              <a:srgbClr val="243044"/>
            </a:solidFill>
            <a:prstDash val="solid"/>
          </a:ln>
        </p:spPr>
      </p:sp>
      <p:sp>
        <p:nvSpPr>
          <p:cNvPr id="25" name="Shape 23"/>
          <p:cNvSpPr/>
          <p:nvPr/>
        </p:nvSpPr>
        <p:spPr>
          <a:xfrm>
            <a:off x="4617720" y="3630168"/>
            <a:ext cx="4270248" cy="438912"/>
          </a:xfrm>
          <a:prstGeom prst="rect">
            <a:avLst/>
          </a:prstGeom>
          <a:solidFill>
            <a:srgbClr val="1C2433"/>
          </a:solidFill>
          <a:ln w="12700">
            <a:solidFill>
              <a:srgbClr val="A371F7"/>
            </a:solidFill>
            <a:prstDash val="solid"/>
          </a:ln>
        </p:spPr>
      </p:sp>
      <p:sp>
        <p:nvSpPr>
          <p:cNvPr id="26" name="Text 24"/>
          <p:cNvSpPr/>
          <p:nvPr/>
        </p:nvSpPr>
        <p:spPr>
          <a:xfrm>
            <a:off x="384048" y="3721608"/>
            <a:ext cx="3840480" cy="25603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PS army integrations</a:t>
            </a:r>
            <a:endParaRPr lang="en-US" sz="1100" dirty="0"/>
          </a:p>
        </p:txBody>
      </p:sp>
      <p:sp>
        <p:nvSpPr>
          <p:cNvPr id="27" name="Text 25"/>
          <p:cNvSpPr/>
          <p:nvPr/>
        </p:nvSpPr>
        <p:spPr>
          <a:xfrm>
            <a:off x="4407408" y="3703320"/>
            <a:ext cx="256032" cy="292608"/>
          </a:xfrm>
          <a:prstGeom prst="rect">
            <a:avLst/>
          </a:prstGeom>
          <a:noFill/>
          <a:ln/>
        </p:spPr>
        <p:txBody>
          <a:bodyPr wrap="square" lIns="0" tIns="0" rIns="0" bIns="0" rtlCol="0" anchor="ctr"/>
          <a:lstStyle/>
          <a:p>
            <a:pPr algn="ctr" indent="0" marL="0">
              <a:buNone/>
            </a:pPr>
            <a:r>
              <a:rPr lang="en-US" sz="1300" dirty="0">
                <a:solidFill>
                  <a:srgbClr val="00C9A7"/>
                </a:solidFill>
              </a:rPr>
              <a:t>▶</a:t>
            </a:r>
            <a:endParaRPr lang="en-US" sz="1300" dirty="0"/>
          </a:p>
        </p:txBody>
      </p:sp>
      <p:sp>
        <p:nvSpPr>
          <p:cNvPr id="28" name="Text 26"/>
          <p:cNvSpPr/>
          <p:nvPr/>
        </p:nvSpPr>
        <p:spPr>
          <a:xfrm>
            <a:off x="4736592" y="3721608"/>
            <a:ext cx="4023360" cy="256032"/>
          </a:xfrm>
          <a:prstGeom prst="rect">
            <a:avLst/>
          </a:prstGeom>
          <a:noFill/>
          <a:ln/>
        </p:spPr>
        <p:txBody>
          <a:bodyPr wrap="square" lIns="0" tIns="0" rIns="0" bIns="0" rtlCol="0" anchor="ctr"/>
          <a:lstStyle/>
          <a:p>
            <a:pPr indent="0" marL="0">
              <a:buNone/>
            </a:pPr>
            <a:r>
              <a:rPr lang="en-US" sz="1100" b="1" dirty="0">
                <a:solidFill>
                  <a:srgbClr val="A371F7"/>
                </a:solidFill>
                <a:latin typeface="Calibri" pitchFamily="34" charset="0"/>
                <a:ea typeface="Calibri" pitchFamily="34" charset="-122"/>
                <a:cs typeface="Calibri" pitchFamily="34" charset="-120"/>
              </a:rPr>
              <a:t>Agentic orchestration primitives</a:t>
            </a:r>
            <a:endParaRPr lang="en-US" sz="1100" dirty="0"/>
          </a:p>
        </p:txBody>
      </p:sp>
      <p:sp>
        <p:nvSpPr>
          <p:cNvPr id="29" name="Shape 27"/>
          <p:cNvSpPr/>
          <p:nvPr/>
        </p:nvSpPr>
        <p:spPr>
          <a:xfrm>
            <a:off x="256032" y="4123944"/>
            <a:ext cx="4114800" cy="438912"/>
          </a:xfrm>
          <a:prstGeom prst="rect">
            <a:avLst/>
          </a:prstGeom>
          <a:solidFill>
            <a:srgbClr val="161D28"/>
          </a:solidFill>
          <a:ln w="12700">
            <a:solidFill>
              <a:srgbClr val="243044"/>
            </a:solidFill>
            <a:prstDash val="solid"/>
          </a:ln>
        </p:spPr>
      </p:sp>
      <p:sp>
        <p:nvSpPr>
          <p:cNvPr id="30" name="Shape 28"/>
          <p:cNvSpPr/>
          <p:nvPr/>
        </p:nvSpPr>
        <p:spPr>
          <a:xfrm>
            <a:off x="4617720" y="4123944"/>
            <a:ext cx="4270248" cy="438912"/>
          </a:xfrm>
          <a:prstGeom prst="rect">
            <a:avLst/>
          </a:prstGeom>
          <a:solidFill>
            <a:srgbClr val="1C2433"/>
          </a:solidFill>
          <a:ln w="12700">
            <a:solidFill>
              <a:srgbClr val="4D9EFF"/>
            </a:solidFill>
            <a:prstDash val="solid"/>
          </a:ln>
        </p:spPr>
      </p:sp>
      <p:sp>
        <p:nvSpPr>
          <p:cNvPr id="31" name="Text 29"/>
          <p:cNvSpPr/>
          <p:nvPr/>
        </p:nvSpPr>
        <p:spPr>
          <a:xfrm>
            <a:off x="384048" y="4215384"/>
            <a:ext cx="3840480" cy="25603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Admin/configurer workforce</a:t>
            </a:r>
            <a:endParaRPr lang="en-US" sz="1100" dirty="0"/>
          </a:p>
        </p:txBody>
      </p:sp>
      <p:sp>
        <p:nvSpPr>
          <p:cNvPr id="32" name="Text 30"/>
          <p:cNvSpPr/>
          <p:nvPr/>
        </p:nvSpPr>
        <p:spPr>
          <a:xfrm>
            <a:off x="4407408" y="4197096"/>
            <a:ext cx="256032" cy="292608"/>
          </a:xfrm>
          <a:prstGeom prst="rect">
            <a:avLst/>
          </a:prstGeom>
          <a:noFill/>
          <a:ln/>
        </p:spPr>
        <p:txBody>
          <a:bodyPr wrap="square" lIns="0" tIns="0" rIns="0" bIns="0" rtlCol="0" anchor="ctr"/>
          <a:lstStyle/>
          <a:p>
            <a:pPr algn="ctr" indent="0" marL="0">
              <a:buNone/>
            </a:pPr>
            <a:r>
              <a:rPr lang="en-US" sz="1300" dirty="0">
                <a:solidFill>
                  <a:srgbClr val="00C9A7"/>
                </a:solidFill>
              </a:rPr>
              <a:t>▶</a:t>
            </a:r>
            <a:endParaRPr lang="en-US" sz="1300" dirty="0"/>
          </a:p>
        </p:txBody>
      </p:sp>
      <p:sp>
        <p:nvSpPr>
          <p:cNvPr id="33" name="Text 31"/>
          <p:cNvSpPr/>
          <p:nvPr/>
        </p:nvSpPr>
        <p:spPr>
          <a:xfrm>
            <a:off x="4736592" y="4215384"/>
            <a:ext cx="4023360" cy="256032"/>
          </a:xfrm>
          <a:prstGeom prst="rect">
            <a:avLst/>
          </a:prstGeom>
          <a:noFill/>
          <a:ln/>
        </p:spPr>
        <p:txBody>
          <a:bodyPr wrap="square" lIns="0" tIns="0" rIns="0" bIns="0" rtlCol="0" anchor="ctr"/>
          <a:lstStyle/>
          <a:p>
            <a:pPr indent="0" marL="0">
              <a:buNone/>
            </a:pPr>
            <a:r>
              <a:rPr lang="en-US" sz="1100" b="1" dirty="0">
                <a:solidFill>
                  <a:srgbClr val="4D9EFF"/>
                </a:solidFill>
                <a:latin typeface="Calibri" pitchFamily="34" charset="0"/>
                <a:ea typeface="Calibri" pitchFamily="34" charset="-122"/>
                <a:cs typeface="Calibri" pitchFamily="34" charset="-120"/>
              </a:rPr>
              <a:t>Platform engineer + agent architect workforce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E3B341"/>
          </a:solidFill>
          <a:ln w="12700">
            <a:solidFill>
              <a:srgbClr val="E3B341"/>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E3B341"/>
                </a:solidFill>
                <a:latin typeface="Calibri" pitchFamily="34" charset="0"/>
                <a:ea typeface="Calibri" pitchFamily="34" charset="-122"/>
                <a:cs typeface="Calibri" pitchFamily="34" charset="-120"/>
              </a:rPr>
              <a:t>THE BENCHMARK</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Salesforce Agentforce: Right Architecture, Wrong Owner</a:t>
            </a:r>
            <a:endParaRPr lang="en-US" sz="3000" dirty="0"/>
          </a:p>
        </p:txBody>
      </p:sp>
      <p:sp>
        <p:nvSpPr>
          <p:cNvPr id="6" name="Text 4"/>
          <p:cNvSpPr/>
          <p:nvPr/>
        </p:nvSpPr>
        <p:spPr>
          <a:xfrm>
            <a:off x="365760" y="1261872"/>
            <a:ext cx="8412480" cy="502920"/>
          </a:xfrm>
          <a:prstGeom prst="rect">
            <a:avLst/>
          </a:prstGeom>
          <a:noFill/>
          <a:ln/>
        </p:spPr>
        <p:txBody>
          <a:bodyPr wrap="square" lIns="0" tIns="0" rIns="0" bIns="0" rtlCol="0" anchor="ctr"/>
          <a:lstStyle/>
          <a:p>
            <a:pPr indent="0" marL="0">
              <a:buNone/>
            </a:pPr>
            <a:r>
              <a:rPr lang="en-US" sz="1200" i="1" dirty="0">
                <a:solidFill>
                  <a:srgbClr val="7D8FA9"/>
                </a:solidFill>
                <a:latin typeface="Calibri" pitchFamily="34" charset="0"/>
                <a:ea typeface="Calibri" pitchFamily="34" charset="-122"/>
                <a:cs typeface="Calibri" pitchFamily="34" charset="-120"/>
              </a:rPr>
              <a:t>Salesforce is not wrong because it is architecturally weak. Salesforce is dangerous because it is architecturally strong and vendor-owned. It is the clearest proof-of-concept for OAAD, and the clearest warning about where the moat accrues.</a:t>
            </a:r>
            <a:endParaRPr lang="en-US" sz="1200" dirty="0"/>
          </a:p>
        </p:txBody>
      </p:sp>
      <p:sp>
        <p:nvSpPr>
          <p:cNvPr id="7" name="Shape 5"/>
          <p:cNvSpPr/>
          <p:nvPr/>
        </p:nvSpPr>
        <p:spPr>
          <a:xfrm>
            <a:off x="256032" y="1883664"/>
            <a:ext cx="4114800" cy="2700000"/>
          </a:xfrm>
          <a:prstGeom prst="rect">
            <a:avLst/>
          </a:prstGeom>
          <a:solidFill>
            <a:srgbClr val="161D28"/>
          </a:solidFill>
          <a:ln w="12700">
            <a:solidFill>
              <a:srgbClr val="007A65"/>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56032" y="1883664"/>
            <a:ext cx="4114800" cy="45720"/>
          </a:xfrm>
          <a:prstGeom prst="rect">
            <a:avLst/>
          </a:prstGeom>
          <a:solidFill>
            <a:srgbClr val="007A65"/>
          </a:solidFill>
          <a:ln w="12700">
            <a:solidFill>
              <a:srgbClr val="007A65"/>
            </a:solidFill>
            <a:prstDash val="solid"/>
          </a:ln>
        </p:spPr>
      </p:sp>
      <p:sp>
        <p:nvSpPr>
          <p:cNvPr id="9" name="Text 7"/>
          <p:cNvSpPr/>
          <p:nvPr/>
        </p:nvSpPr>
        <p:spPr>
          <a:xfrm>
            <a:off x="438912" y="1993392"/>
            <a:ext cx="3749040" cy="27432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What Salesforce gets right</a:t>
            </a:r>
            <a:endParaRPr lang="en-US" sz="1200" dirty="0"/>
          </a:p>
        </p:txBody>
      </p:sp>
      <p:sp>
        <p:nvSpPr>
          <p:cNvPr id="10" name="Text 8"/>
          <p:cNvSpPr/>
          <p:nvPr/>
        </p:nvSpPr>
        <p:spPr>
          <a:xfrm>
            <a:off x="438912" y="2340864"/>
            <a:ext cx="3749040" cy="2150000"/>
          </a:xfrm>
          <a:prstGeom prst="rect">
            <a:avLst/>
          </a:prstGeom>
          <a:noFill/>
          <a:ln/>
        </p:spPr>
        <p:txBody>
          <a:bodyPr wrap="square" rtlCol="0" anchor="ctr"/>
          <a:lstStyle/>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Governed data layer (Informatica + Data 360) as grounded agent context</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Deterministic workflow + LLM reasoning hybrid: Agentforce Script combines programmatic control with flexible reasoning</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Agent lifecycle: build, test, deploy, observe, refine as platform strategy</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Governance, audit, HITL framed as enterprise differentiator</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Model flexibility: OpenAI, Anthropic, Gemini as interchangeable engines</a:t>
            </a:r>
            <a:endParaRPr lang="en-US" sz="1100" dirty="0"/>
          </a:p>
        </p:txBody>
      </p:sp>
      <p:sp>
        <p:nvSpPr>
          <p:cNvPr id="11" name="Shape 9"/>
          <p:cNvSpPr/>
          <p:nvPr/>
        </p:nvSpPr>
        <p:spPr>
          <a:xfrm>
            <a:off x="4572000" y="1883664"/>
            <a:ext cx="4315968" cy="2700000"/>
          </a:xfrm>
          <a:prstGeom prst="rect">
            <a:avLst/>
          </a:prstGeom>
          <a:solidFill>
            <a:srgbClr val="161D28"/>
          </a:solidFill>
          <a:ln w="12700">
            <a:solidFill>
              <a:srgbClr val="F85149"/>
            </a:solidFill>
            <a:prstDash val="solid"/>
          </a:ln>
          <a:effectLst>
            <a:outerShdw sx="100000" sy="100000" kx="0" ky="0" algn="bl" rotWithShape="0" blurRad="101600" dist="38100" dir="8100000">
              <a:srgbClr val="000000">
                <a:alpha val="22000"/>
              </a:srgbClr>
            </a:outerShdw>
          </a:effectLst>
        </p:spPr>
      </p:sp>
      <p:sp>
        <p:nvSpPr>
          <p:cNvPr id="12" name="Shape 10"/>
          <p:cNvSpPr/>
          <p:nvPr/>
        </p:nvSpPr>
        <p:spPr>
          <a:xfrm>
            <a:off x="4572000" y="1883664"/>
            <a:ext cx="4315968" cy="45720"/>
          </a:xfrm>
          <a:prstGeom prst="rect">
            <a:avLst/>
          </a:prstGeom>
          <a:solidFill>
            <a:srgbClr val="F85149"/>
          </a:solidFill>
          <a:ln w="12700">
            <a:solidFill>
              <a:srgbClr val="F85149"/>
            </a:solidFill>
            <a:prstDash val="solid"/>
          </a:ln>
        </p:spPr>
      </p:sp>
      <p:sp>
        <p:nvSpPr>
          <p:cNvPr id="13" name="Text 11"/>
          <p:cNvSpPr/>
          <p:nvPr/>
        </p:nvSpPr>
        <p:spPr>
          <a:xfrm>
            <a:off x="4754880" y="1993392"/>
            <a:ext cx="3950208" cy="274320"/>
          </a:xfrm>
          <a:prstGeom prst="rect">
            <a:avLst/>
          </a:prstGeom>
          <a:noFill/>
          <a:ln/>
        </p:spPr>
        <p:txBody>
          <a:bodyPr wrap="square" lIns="0" tIns="0" rIns="0" bIns="0" rtlCol="0" anchor="ctr"/>
          <a:lstStyle/>
          <a:p>
            <a:pPr indent="0" marL="0">
              <a:buNone/>
            </a:pPr>
            <a:r>
              <a:rPr lang="en-US" sz="1200" b="1" dirty="0">
                <a:solidFill>
                  <a:srgbClr val="F85149"/>
                </a:solidFill>
                <a:latin typeface="Calibri" pitchFamily="34" charset="0"/>
                <a:ea typeface="Calibri" pitchFamily="34" charset="-122"/>
                <a:cs typeface="Calibri" pitchFamily="34" charset="-120"/>
              </a:rPr>
              <a:t>What this proves about OAAD</a:t>
            </a:r>
            <a:endParaRPr lang="en-US" sz="1200" dirty="0"/>
          </a:p>
        </p:txBody>
      </p:sp>
      <p:sp>
        <p:nvSpPr>
          <p:cNvPr id="14" name="Text 12"/>
          <p:cNvSpPr/>
          <p:nvPr/>
        </p:nvSpPr>
        <p:spPr>
          <a:xfrm>
            <a:off x="4754880" y="2340864"/>
            <a:ext cx="3950208" cy="2150000"/>
          </a:xfrm>
          <a:prstGeom prst="rect">
            <a:avLst/>
          </a:prstGeom>
          <a:noFill/>
          <a:ln/>
        </p:spPr>
        <p:txBody>
          <a:bodyPr wrap="square" rtlCol="0" anchor="ctr"/>
          <a:lstStyle/>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Every architecture capability Salesforce builds, OAAD builds on OSS the enterprise owns</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Intelligence moat accrues to Salesforce structurally, not to you</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Agent definitions, business logic, process memory encoded inside their schema</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Governance covers Salesforce workflows; the broader enterprise gap remains</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Salesforce validates the pattern. OAAD shifts the ownership.</a:t>
            </a:r>
            <a:endParaRPr lang="en-US" sz="1100" dirty="0"/>
          </a:p>
        </p:txBody>
      </p:sp>
      <p:sp>
        <p:nvSpPr>
          <p:cNvPr id="15" name="Text 13"/>
          <p:cNvSpPr/>
          <p:nvPr/>
        </p:nvSpPr>
        <p:spPr>
          <a:xfrm>
            <a:off x="365760" y="4620000"/>
            <a:ext cx="8412480" cy="200000"/>
          </a:xfrm>
          <a:prstGeom prst="rect">
            <a:avLst/>
          </a:prstGeom>
          <a:noFill/>
          <a:ln/>
        </p:spPr>
        <p:txBody>
          <a:bodyPr wrap="square" lIns="0" tIns="0" rIns="0" bIns="0" rtlCol="0" anchor="ctr"/>
          <a:lstStyle/>
          <a:p>
            <a:pPr indent="0" marL="0">
              <a:buNone/>
            </a:pPr>
            <a:r>
              <a:rPr lang="en-US" sz="1050" i="1" dirty="0">
                <a:solidFill>
                  <a:srgbClr val="E3B341"/>
                </a:solidFill>
                <a:latin typeface="Calibri" pitchFamily="34" charset="0"/>
                <a:ea typeface="Calibri" pitchFamily="34" charset="-122"/>
                <a:cs typeface="Calibri" pitchFamily="34" charset="-120"/>
              </a:rPr>
              <a:t>Salesforce builds this platform and licenses access to you. OAAD builds it on OSS and gives you ownership.</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00C9A7"/>
          </a:solidFill>
          <a:ln w="12700">
            <a:solidFill>
              <a:srgbClr val="00C9A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00C9A7"/>
                </a:solidFill>
                <a:latin typeface="Calibri" pitchFamily="34" charset="0"/>
                <a:ea typeface="Calibri" pitchFamily="34" charset="-122"/>
                <a:cs typeface="Calibri" pitchFamily="34" charset="-120"/>
              </a:rPr>
              <a:t>THE LANDSCAPE</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Three Models. One Compounds.</a:t>
            </a:r>
            <a:endParaRPr lang="en-US" sz="3000" dirty="0"/>
          </a:p>
        </p:txBody>
      </p:sp>
      <p:sp>
        <p:nvSpPr>
          <p:cNvPr id="6" name="Shape 4"/>
          <p:cNvSpPr/>
          <p:nvPr/>
        </p:nvSpPr>
        <p:spPr>
          <a:xfrm>
            <a:off x="228600" y="1280160"/>
            <a:ext cx="2788920" cy="822960"/>
          </a:xfrm>
          <a:prstGeom prst="rect">
            <a:avLst/>
          </a:prstGeom>
          <a:solidFill>
            <a:srgbClr val="161D28"/>
          </a:solidFill>
          <a:ln w="12700">
            <a:solidFill>
              <a:srgbClr val="F85149"/>
            </a:solidFill>
            <a:prstDash val="solid"/>
          </a:ln>
        </p:spPr>
      </p:sp>
      <p:sp>
        <p:nvSpPr>
          <p:cNvPr id="7" name="Shape 5"/>
          <p:cNvSpPr/>
          <p:nvPr/>
        </p:nvSpPr>
        <p:spPr>
          <a:xfrm>
            <a:off x="228600" y="1280160"/>
            <a:ext cx="2788920" cy="45720"/>
          </a:xfrm>
          <a:prstGeom prst="rect">
            <a:avLst/>
          </a:prstGeom>
          <a:solidFill>
            <a:srgbClr val="F85149"/>
          </a:solidFill>
          <a:ln w="12700">
            <a:solidFill>
              <a:srgbClr val="F85149"/>
            </a:solidFill>
            <a:prstDash val="solid"/>
          </a:ln>
        </p:spPr>
      </p:sp>
      <p:sp>
        <p:nvSpPr>
          <p:cNvPr id="8" name="Text 6"/>
          <p:cNvSpPr/>
          <p:nvPr/>
        </p:nvSpPr>
        <p:spPr>
          <a:xfrm>
            <a:off x="338328" y="1344168"/>
            <a:ext cx="2560320" cy="256032"/>
          </a:xfrm>
          <a:prstGeom prst="rect">
            <a:avLst/>
          </a:prstGeom>
          <a:noFill/>
          <a:ln/>
        </p:spPr>
        <p:txBody>
          <a:bodyPr wrap="square" lIns="0" tIns="0" rIns="0" bIns="0" rtlCol="0" anchor="ctr"/>
          <a:lstStyle/>
          <a:p>
            <a:pPr indent="0" marL="0">
              <a:buNone/>
            </a:pPr>
            <a:r>
              <a:rPr lang="en-US" sz="950" b="1" spc="150" kern="0" dirty="0">
                <a:solidFill>
                  <a:srgbClr val="F85149"/>
                </a:solidFill>
                <a:latin typeface="Calibri" pitchFamily="34" charset="0"/>
                <a:ea typeface="Calibri" pitchFamily="34" charset="-122"/>
                <a:cs typeface="Calibri" pitchFamily="34" charset="-120"/>
              </a:rPr>
              <a:t>TRADITIONAL COTS</a:t>
            </a:r>
            <a:endParaRPr lang="en-US" sz="950" dirty="0"/>
          </a:p>
        </p:txBody>
      </p:sp>
      <p:sp>
        <p:nvSpPr>
          <p:cNvPr id="9" name="Text 7"/>
          <p:cNvSpPr/>
          <p:nvPr/>
        </p:nvSpPr>
        <p:spPr>
          <a:xfrm>
            <a:off x="338328" y="1609344"/>
            <a:ext cx="2560320" cy="274320"/>
          </a:xfrm>
          <a:prstGeom prst="rect">
            <a:avLst/>
          </a:prstGeom>
          <a:noFill/>
          <a:ln/>
        </p:spPr>
        <p:txBody>
          <a:bodyPr wrap="square" lIns="0" tIns="0" rIns="0" bIns="0" rtlCol="0" anchor="ctr"/>
          <a:lstStyle/>
          <a:p>
            <a:pPr indent="0" marL="0">
              <a:buNone/>
            </a:pPr>
            <a:r>
              <a:rPr lang="en-US" sz="800" i="1" dirty="0">
                <a:solidFill>
                  <a:srgbClr val="7D8FA9"/>
                </a:solidFill>
                <a:latin typeface="Calibri" pitchFamily="34" charset="0"/>
                <a:ea typeface="Calibri" pitchFamily="34" charset="-122"/>
                <a:cs typeface="Calibri" pitchFamily="34" charset="-120"/>
              </a:rPr>
              <a:t>ServiceNow · SAP · Workday · Salesforce</a:t>
            </a:r>
            <a:endParaRPr lang="en-US" sz="800" dirty="0"/>
          </a:p>
        </p:txBody>
      </p:sp>
      <p:sp>
        <p:nvSpPr>
          <p:cNvPr id="10" name="Shape 8"/>
          <p:cNvSpPr/>
          <p:nvPr/>
        </p:nvSpPr>
        <p:spPr>
          <a:xfrm>
            <a:off x="228600" y="2176272"/>
            <a:ext cx="2788920" cy="310896"/>
          </a:xfrm>
          <a:prstGeom prst="rect">
            <a:avLst/>
          </a:prstGeom>
          <a:solidFill>
            <a:srgbClr val="161D28"/>
          </a:solidFill>
          <a:ln w="12700">
            <a:solidFill>
              <a:srgbClr val="243044"/>
            </a:solidFill>
            <a:prstDash val="solid"/>
          </a:ln>
        </p:spPr>
      </p:sp>
      <p:sp>
        <p:nvSpPr>
          <p:cNvPr id="11" name="Text 9"/>
          <p:cNvSpPr/>
          <p:nvPr/>
        </p:nvSpPr>
        <p:spPr>
          <a:xfrm>
            <a:off x="320040" y="2194560"/>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Ownership</a:t>
            </a:r>
            <a:endParaRPr lang="en-US" sz="700" dirty="0"/>
          </a:p>
        </p:txBody>
      </p:sp>
      <p:sp>
        <p:nvSpPr>
          <p:cNvPr id="12" name="Text 10"/>
          <p:cNvSpPr/>
          <p:nvPr/>
        </p:nvSpPr>
        <p:spPr>
          <a:xfrm>
            <a:off x="320040" y="2322576"/>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Vendor</a:t>
            </a:r>
            <a:endParaRPr lang="en-US" sz="950" dirty="0"/>
          </a:p>
        </p:txBody>
      </p:sp>
      <p:sp>
        <p:nvSpPr>
          <p:cNvPr id="13" name="Shape 11"/>
          <p:cNvSpPr/>
          <p:nvPr/>
        </p:nvSpPr>
        <p:spPr>
          <a:xfrm>
            <a:off x="228600" y="2505456"/>
            <a:ext cx="2788920" cy="310896"/>
          </a:xfrm>
          <a:prstGeom prst="rect">
            <a:avLst/>
          </a:prstGeom>
          <a:solidFill>
            <a:srgbClr val="131920"/>
          </a:solidFill>
          <a:ln w="12700">
            <a:solidFill>
              <a:srgbClr val="243044"/>
            </a:solidFill>
            <a:prstDash val="solid"/>
          </a:ln>
        </p:spPr>
      </p:sp>
      <p:sp>
        <p:nvSpPr>
          <p:cNvPr id="14" name="Text 12"/>
          <p:cNvSpPr/>
          <p:nvPr/>
        </p:nvSpPr>
        <p:spPr>
          <a:xfrm>
            <a:off x="320040" y="2523744"/>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Business Logic</a:t>
            </a:r>
            <a:endParaRPr lang="en-US" sz="700" dirty="0"/>
          </a:p>
        </p:txBody>
      </p:sp>
      <p:sp>
        <p:nvSpPr>
          <p:cNvPr id="15" name="Text 13"/>
          <p:cNvSpPr/>
          <p:nvPr/>
        </p:nvSpPr>
        <p:spPr>
          <a:xfrm>
            <a:off x="320040" y="2651760"/>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Trapped in vendor schema</a:t>
            </a:r>
            <a:endParaRPr lang="en-US" sz="950" dirty="0"/>
          </a:p>
        </p:txBody>
      </p:sp>
      <p:sp>
        <p:nvSpPr>
          <p:cNvPr id="16" name="Shape 14"/>
          <p:cNvSpPr/>
          <p:nvPr/>
        </p:nvSpPr>
        <p:spPr>
          <a:xfrm>
            <a:off x="228600" y="2834640"/>
            <a:ext cx="2788920" cy="310896"/>
          </a:xfrm>
          <a:prstGeom prst="rect">
            <a:avLst/>
          </a:prstGeom>
          <a:solidFill>
            <a:srgbClr val="161D28"/>
          </a:solidFill>
          <a:ln w="12700">
            <a:solidFill>
              <a:srgbClr val="243044"/>
            </a:solidFill>
            <a:prstDash val="solid"/>
          </a:ln>
        </p:spPr>
      </p:sp>
      <p:sp>
        <p:nvSpPr>
          <p:cNvPr id="17" name="Text 15"/>
          <p:cNvSpPr/>
          <p:nvPr/>
        </p:nvSpPr>
        <p:spPr>
          <a:xfrm>
            <a:off x="320040" y="2852928"/>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Intelligence Moat</a:t>
            </a:r>
            <a:endParaRPr lang="en-US" sz="700" dirty="0"/>
          </a:p>
        </p:txBody>
      </p:sp>
      <p:sp>
        <p:nvSpPr>
          <p:cNvPr id="18" name="Text 16"/>
          <p:cNvSpPr/>
          <p:nvPr/>
        </p:nvSpPr>
        <p:spPr>
          <a:xfrm>
            <a:off x="320040" y="2980944"/>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Accrues to vendor</a:t>
            </a:r>
            <a:endParaRPr lang="en-US" sz="950" dirty="0"/>
          </a:p>
        </p:txBody>
      </p:sp>
      <p:sp>
        <p:nvSpPr>
          <p:cNvPr id="19" name="Shape 17"/>
          <p:cNvSpPr/>
          <p:nvPr/>
        </p:nvSpPr>
        <p:spPr>
          <a:xfrm>
            <a:off x="228600" y="3163824"/>
            <a:ext cx="2788920" cy="310896"/>
          </a:xfrm>
          <a:prstGeom prst="rect">
            <a:avLst/>
          </a:prstGeom>
          <a:solidFill>
            <a:srgbClr val="131920"/>
          </a:solidFill>
          <a:ln w="12700">
            <a:solidFill>
              <a:srgbClr val="243044"/>
            </a:solidFill>
            <a:prstDash val="solid"/>
          </a:ln>
        </p:spPr>
      </p:sp>
      <p:sp>
        <p:nvSpPr>
          <p:cNvPr id="20" name="Text 18"/>
          <p:cNvSpPr/>
          <p:nvPr/>
        </p:nvSpPr>
        <p:spPr>
          <a:xfrm>
            <a:off x="320040" y="3182112"/>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Differentiation</a:t>
            </a:r>
            <a:endParaRPr lang="en-US" sz="700" dirty="0"/>
          </a:p>
        </p:txBody>
      </p:sp>
      <p:sp>
        <p:nvSpPr>
          <p:cNvPr id="21" name="Text 19"/>
          <p:cNvSpPr/>
          <p:nvPr/>
        </p:nvSpPr>
        <p:spPr>
          <a:xfrm>
            <a:off x="320040" y="3310128"/>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None: same product, every competitor</a:t>
            </a:r>
            <a:endParaRPr lang="en-US" sz="950" dirty="0"/>
          </a:p>
        </p:txBody>
      </p:sp>
      <p:sp>
        <p:nvSpPr>
          <p:cNvPr id="22" name="Shape 20"/>
          <p:cNvSpPr/>
          <p:nvPr/>
        </p:nvSpPr>
        <p:spPr>
          <a:xfrm>
            <a:off x="228600" y="3493008"/>
            <a:ext cx="2788920" cy="310896"/>
          </a:xfrm>
          <a:prstGeom prst="rect">
            <a:avLst/>
          </a:prstGeom>
          <a:solidFill>
            <a:srgbClr val="161D28"/>
          </a:solidFill>
          <a:ln w="12700">
            <a:solidFill>
              <a:srgbClr val="243044"/>
            </a:solidFill>
            <a:prstDash val="solid"/>
          </a:ln>
        </p:spPr>
      </p:sp>
      <p:sp>
        <p:nvSpPr>
          <p:cNvPr id="23" name="Text 21"/>
          <p:cNvSpPr/>
          <p:nvPr/>
        </p:nvSpPr>
        <p:spPr>
          <a:xfrm>
            <a:off x="320040" y="3511296"/>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Integration</a:t>
            </a:r>
            <a:endParaRPr lang="en-US" sz="700" dirty="0"/>
          </a:p>
        </p:txBody>
      </p:sp>
      <p:sp>
        <p:nvSpPr>
          <p:cNvPr id="24" name="Text 22"/>
          <p:cNvSpPr/>
          <p:nvPr/>
        </p:nvSpPr>
        <p:spPr>
          <a:xfrm>
            <a:off x="320040" y="3639312"/>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Vendor's integration bus</a:t>
            </a:r>
            <a:endParaRPr lang="en-US" sz="950" dirty="0"/>
          </a:p>
        </p:txBody>
      </p:sp>
      <p:sp>
        <p:nvSpPr>
          <p:cNvPr id="25" name="Shape 23"/>
          <p:cNvSpPr/>
          <p:nvPr/>
        </p:nvSpPr>
        <p:spPr>
          <a:xfrm>
            <a:off x="228600" y="3822192"/>
            <a:ext cx="2788920" cy="310896"/>
          </a:xfrm>
          <a:prstGeom prst="rect">
            <a:avLst/>
          </a:prstGeom>
          <a:solidFill>
            <a:srgbClr val="131920"/>
          </a:solidFill>
          <a:ln w="12700">
            <a:solidFill>
              <a:srgbClr val="243044"/>
            </a:solidFill>
            <a:prstDash val="solid"/>
          </a:ln>
        </p:spPr>
      </p:sp>
      <p:sp>
        <p:nvSpPr>
          <p:cNvPr id="26" name="Text 24"/>
          <p:cNvSpPr/>
          <p:nvPr/>
        </p:nvSpPr>
        <p:spPr>
          <a:xfrm>
            <a:off x="320040" y="3840480"/>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AI Strategy</a:t>
            </a:r>
            <a:endParaRPr lang="en-US" sz="700" dirty="0"/>
          </a:p>
        </p:txBody>
      </p:sp>
      <p:sp>
        <p:nvSpPr>
          <p:cNvPr id="27" name="Text 25"/>
          <p:cNvSpPr/>
          <p:nvPr/>
        </p:nvSpPr>
        <p:spPr>
          <a:xfrm>
            <a:off x="320040" y="3968496"/>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Copilot bolted on top</a:t>
            </a:r>
            <a:endParaRPr lang="en-US" sz="950" dirty="0"/>
          </a:p>
        </p:txBody>
      </p:sp>
      <p:sp>
        <p:nvSpPr>
          <p:cNvPr id="28" name="Shape 26"/>
          <p:cNvSpPr/>
          <p:nvPr/>
        </p:nvSpPr>
        <p:spPr>
          <a:xfrm>
            <a:off x="228600" y="4151376"/>
            <a:ext cx="2788920" cy="310896"/>
          </a:xfrm>
          <a:prstGeom prst="rect">
            <a:avLst/>
          </a:prstGeom>
          <a:solidFill>
            <a:srgbClr val="161D28"/>
          </a:solidFill>
          <a:ln w="12700">
            <a:solidFill>
              <a:srgbClr val="243044"/>
            </a:solidFill>
            <a:prstDash val="solid"/>
          </a:ln>
        </p:spPr>
      </p:sp>
      <p:sp>
        <p:nvSpPr>
          <p:cNvPr id="29" name="Text 27"/>
          <p:cNvSpPr/>
          <p:nvPr/>
        </p:nvSpPr>
        <p:spPr>
          <a:xfrm>
            <a:off x="320040" y="4169664"/>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Cost Model</a:t>
            </a:r>
            <a:endParaRPr lang="en-US" sz="700" dirty="0"/>
          </a:p>
        </p:txBody>
      </p:sp>
      <p:sp>
        <p:nvSpPr>
          <p:cNvPr id="30" name="Text 28"/>
          <p:cNvSpPr/>
          <p:nvPr/>
        </p:nvSpPr>
        <p:spPr>
          <a:xfrm>
            <a:off x="320040" y="4297680"/>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Perpetual license + PS army</a:t>
            </a:r>
            <a:endParaRPr lang="en-US" sz="950" dirty="0"/>
          </a:p>
        </p:txBody>
      </p:sp>
      <p:sp>
        <p:nvSpPr>
          <p:cNvPr id="31" name="Shape 29"/>
          <p:cNvSpPr/>
          <p:nvPr/>
        </p:nvSpPr>
        <p:spPr>
          <a:xfrm>
            <a:off x="228600" y="4480560"/>
            <a:ext cx="2788920" cy="310896"/>
          </a:xfrm>
          <a:prstGeom prst="rect">
            <a:avLst/>
          </a:prstGeom>
          <a:solidFill>
            <a:srgbClr val="131920"/>
          </a:solidFill>
          <a:ln w="12700">
            <a:solidFill>
              <a:srgbClr val="243044"/>
            </a:solidFill>
            <a:prstDash val="solid"/>
          </a:ln>
        </p:spPr>
      </p:sp>
      <p:sp>
        <p:nvSpPr>
          <p:cNvPr id="32" name="Text 30"/>
          <p:cNvSpPr/>
          <p:nvPr/>
        </p:nvSpPr>
        <p:spPr>
          <a:xfrm>
            <a:off x="320040" y="4498848"/>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Workforce</a:t>
            </a:r>
            <a:endParaRPr lang="en-US" sz="700" dirty="0"/>
          </a:p>
        </p:txBody>
      </p:sp>
      <p:sp>
        <p:nvSpPr>
          <p:cNvPr id="33" name="Text 31"/>
          <p:cNvSpPr/>
          <p:nvPr/>
        </p:nvSpPr>
        <p:spPr>
          <a:xfrm>
            <a:off x="320040" y="4626864"/>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Admins and configurers</a:t>
            </a:r>
            <a:endParaRPr lang="en-US" sz="950" dirty="0"/>
          </a:p>
        </p:txBody>
      </p:sp>
      <p:sp>
        <p:nvSpPr>
          <p:cNvPr id="34" name="Shape 32"/>
          <p:cNvSpPr/>
          <p:nvPr/>
        </p:nvSpPr>
        <p:spPr>
          <a:xfrm>
            <a:off x="3154680" y="1280160"/>
            <a:ext cx="2788920" cy="822960"/>
          </a:xfrm>
          <a:prstGeom prst="rect">
            <a:avLst/>
          </a:prstGeom>
          <a:solidFill>
            <a:srgbClr val="161D28"/>
          </a:solidFill>
          <a:ln w="12700">
            <a:solidFill>
              <a:srgbClr val="E3B341"/>
            </a:solidFill>
            <a:prstDash val="solid"/>
          </a:ln>
        </p:spPr>
      </p:sp>
      <p:sp>
        <p:nvSpPr>
          <p:cNvPr id="35" name="Shape 33"/>
          <p:cNvSpPr/>
          <p:nvPr/>
        </p:nvSpPr>
        <p:spPr>
          <a:xfrm>
            <a:off x="3154680" y="1280160"/>
            <a:ext cx="2788920" cy="45720"/>
          </a:xfrm>
          <a:prstGeom prst="rect">
            <a:avLst/>
          </a:prstGeom>
          <a:solidFill>
            <a:srgbClr val="E3B341"/>
          </a:solidFill>
          <a:ln w="12700">
            <a:solidFill>
              <a:srgbClr val="E3B341"/>
            </a:solidFill>
            <a:prstDash val="solid"/>
          </a:ln>
        </p:spPr>
      </p:sp>
      <p:sp>
        <p:nvSpPr>
          <p:cNvPr id="36" name="Text 34"/>
          <p:cNvSpPr/>
          <p:nvPr/>
        </p:nvSpPr>
        <p:spPr>
          <a:xfrm>
            <a:off x="3264408" y="1344168"/>
            <a:ext cx="2560320" cy="256032"/>
          </a:xfrm>
          <a:prstGeom prst="rect">
            <a:avLst/>
          </a:prstGeom>
          <a:noFill/>
          <a:ln/>
        </p:spPr>
        <p:txBody>
          <a:bodyPr wrap="square" lIns="0" tIns="0" rIns="0" bIns="0" rtlCol="0" anchor="ctr"/>
          <a:lstStyle/>
          <a:p>
            <a:pPr indent="0" marL="0">
              <a:buNone/>
            </a:pPr>
            <a:r>
              <a:rPr lang="en-US" sz="950" b="1" spc="150" kern="0" dirty="0">
                <a:solidFill>
                  <a:srgbClr val="E3B341"/>
                </a:solidFill>
                <a:latin typeface="Calibri" pitchFamily="34" charset="0"/>
                <a:ea typeface="Calibri" pitchFamily="34" charset="-122"/>
                <a:cs typeface="Calibri" pitchFamily="34" charset="-120"/>
              </a:rPr>
              <a:t>VENDOR AGENTIC PLATFORM</a:t>
            </a:r>
            <a:endParaRPr lang="en-US" sz="950" dirty="0"/>
          </a:p>
        </p:txBody>
      </p:sp>
      <p:sp>
        <p:nvSpPr>
          <p:cNvPr id="37" name="Text 35"/>
          <p:cNvSpPr/>
          <p:nvPr/>
        </p:nvSpPr>
        <p:spPr>
          <a:xfrm>
            <a:off x="3264408" y="1609344"/>
            <a:ext cx="2560320" cy="274320"/>
          </a:xfrm>
          <a:prstGeom prst="rect">
            <a:avLst/>
          </a:prstGeom>
          <a:noFill/>
          <a:ln/>
        </p:spPr>
        <p:txBody>
          <a:bodyPr wrap="square" lIns="0" tIns="0" rIns="0" bIns="0" rtlCol="0" anchor="ctr"/>
          <a:lstStyle/>
          <a:p>
            <a:pPr indent="0" marL="0">
              <a:buNone/>
            </a:pPr>
            <a:r>
              <a:rPr lang="en-US" sz="800" i="1" dirty="0">
                <a:solidFill>
                  <a:srgbClr val="7D8FA9"/>
                </a:solidFill>
                <a:latin typeface="Calibri" pitchFamily="34" charset="0"/>
                <a:ea typeface="Calibri" pitchFamily="34" charset="-122"/>
                <a:cs typeface="Calibri" pitchFamily="34" charset="-120"/>
              </a:rPr>
              <a:t>Salesforce Agentforce · MS Copilot · ServiceNow AI</a:t>
            </a:r>
            <a:endParaRPr lang="en-US" sz="800" dirty="0"/>
          </a:p>
        </p:txBody>
      </p:sp>
      <p:sp>
        <p:nvSpPr>
          <p:cNvPr id="38" name="Shape 36"/>
          <p:cNvSpPr/>
          <p:nvPr/>
        </p:nvSpPr>
        <p:spPr>
          <a:xfrm>
            <a:off x="3154680" y="2176272"/>
            <a:ext cx="2788920" cy="310896"/>
          </a:xfrm>
          <a:prstGeom prst="rect">
            <a:avLst/>
          </a:prstGeom>
          <a:solidFill>
            <a:srgbClr val="161D28"/>
          </a:solidFill>
          <a:ln w="12700">
            <a:solidFill>
              <a:srgbClr val="243044"/>
            </a:solidFill>
            <a:prstDash val="solid"/>
          </a:ln>
        </p:spPr>
      </p:sp>
      <p:sp>
        <p:nvSpPr>
          <p:cNvPr id="39" name="Text 37"/>
          <p:cNvSpPr/>
          <p:nvPr/>
        </p:nvSpPr>
        <p:spPr>
          <a:xfrm>
            <a:off x="3246120" y="2194560"/>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Ownership</a:t>
            </a:r>
            <a:endParaRPr lang="en-US" sz="700" dirty="0"/>
          </a:p>
        </p:txBody>
      </p:sp>
      <p:sp>
        <p:nvSpPr>
          <p:cNvPr id="40" name="Text 38"/>
          <p:cNvSpPr/>
          <p:nvPr/>
        </p:nvSpPr>
        <p:spPr>
          <a:xfrm>
            <a:off x="3246120" y="2322576"/>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Vendor (new layer, same trap)</a:t>
            </a:r>
            <a:endParaRPr lang="en-US" sz="950" dirty="0"/>
          </a:p>
        </p:txBody>
      </p:sp>
      <p:sp>
        <p:nvSpPr>
          <p:cNvPr id="41" name="Shape 39"/>
          <p:cNvSpPr/>
          <p:nvPr/>
        </p:nvSpPr>
        <p:spPr>
          <a:xfrm>
            <a:off x="3154680" y="2505456"/>
            <a:ext cx="2788920" cy="310896"/>
          </a:xfrm>
          <a:prstGeom prst="rect">
            <a:avLst/>
          </a:prstGeom>
          <a:solidFill>
            <a:srgbClr val="131920"/>
          </a:solidFill>
          <a:ln w="12700">
            <a:solidFill>
              <a:srgbClr val="243044"/>
            </a:solidFill>
            <a:prstDash val="solid"/>
          </a:ln>
        </p:spPr>
      </p:sp>
      <p:sp>
        <p:nvSpPr>
          <p:cNvPr id="42" name="Text 40"/>
          <p:cNvSpPr/>
          <p:nvPr/>
        </p:nvSpPr>
        <p:spPr>
          <a:xfrm>
            <a:off x="3246120" y="2523744"/>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Business Logic</a:t>
            </a:r>
            <a:endParaRPr lang="en-US" sz="700" dirty="0"/>
          </a:p>
        </p:txBody>
      </p:sp>
      <p:sp>
        <p:nvSpPr>
          <p:cNvPr id="43" name="Text 41"/>
          <p:cNvSpPr/>
          <p:nvPr/>
        </p:nvSpPr>
        <p:spPr>
          <a:xfrm>
            <a:off x="3246120" y="2651760"/>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Trapped in vendor agent schema</a:t>
            </a:r>
            <a:endParaRPr lang="en-US" sz="950" dirty="0"/>
          </a:p>
        </p:txBody>
      </p:sp>
      <p:sp>
        <p:nvSpPr>
          <p:cNvPr id="44" name="Shape 42"/>
          <p:cNvSpPr/>
          <p:nvPr/>
        </p:nvSpPr>
        <p:spPr>
          <a:xfrm>
            <a:off x="3154680" y="2834640"/>
            <a:ext cx="2788920" cy="310896"/>
          </a:xfrm>
          <a:prstGeom prst="rect">
            <a:avLst/>
          </a:prstGeom>
          <a:solidFill>
            <a:srgbClr val="161D28"/>
          </a:solidFill>
          <a:ln w="12700">
            <a:solidFill>
              <a:srgbClr val="243044"/>
            </a:solidFill>
            <a:prstDash val="solid"/>
          </a:ln>
        </p:spPr>
      </p:sp>
      <p:sp>
        <p:nvSpPr>
          <p:cNvPr id="45" name="Text 43"/>
          <p:cNvSpPr/>
          <p:nvPr/>
        </p:nvSpPr>
        <p:spPr>
          <a:xfrm>
            <a:off x="3246120" y="2852928"/>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Intelligence Moat</a:t>
            </a:r>
            <a:endParaRPr lang="en-US" sz="700" dirty="0"/>
          </a:p>
        </p:txBody>
      </p:sp>
      <p:sp>
        <p:nvSpPr>
          <p:cNvPr id="46" name="Text 44"/>
          <p:cNvSpPr/>
          <p:nvPr/>
        </p:nvSpPr>
        <p:spPr>
          <a:xfrm>
            <a:off x="3246120" y="2980944"/>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Accrues to vendor, again</a:t>
            </a:r>
            <a:endParaRPr lang="en-US" sz="950" dirty="0"/>
          </a:p>
        </p:txBody>
      </p:sp>
      <p:sp>
        <p:nvSpPr>
          <p:cNvPr id="47" name="Shape 45"/>
          <p:cNvSpPr/>
          <p:nvPr/>
        </p:nvSpPr>
        <p:spPr>
          <a:xfrm>
            <a:off x="3154680" y="3163824"/>
            <a:ext cx="2788920" cy="310896"/>
          </a:xfrm>
          <a:prstGeom prst="rect">
            <a:avLst/>
          </a:prstGeom>
          <a:solidFill>
            <a:srgbClr val="131920"/>
          </a:solidFill>
          <a:ln w="12700">
            <a:solidFill>
              <a:srgbClr val="243044"/>
            </a:solidFill>
            <a:prstDash val="solid"/>
          </a:ln>
        </p:spPr>
      </p:sp>
      <p:sp>
        <p:nvSpPr>
          <p:cNvPr id="48" name="Text 46"/>
          <p:cNvSpPr/>
          <p:nvPr/>
        </p:nvSpPr>
        <p:spPr>
          <a:xfrm>
            <a:off x="3246120" y="3182112"/>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Differentiation</a:t>
            </a:r>
            <a:endParaRPr lang="en-US" sz="700" dirty="0"/>
          </a:p>
        </p:txBody>
      </p:sp>
      <p:sp>
        <p:nvSpPr>
          <p:cNvPr id="49" name="Text 47"/>
          <p:cNvSpPr/>
          <p:nvPr/>
        </p:nvSpPr>
        <p:spPr>
          <a:xfrm>
            <a:off x="3246120" y="3310128"/>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Minimal: within vendor bounds</a:t>
            </a:r>
            <a:endParaRPr lang="en-US" sz="950" dirty="0"/>
          </a:p>
        </p:txBody>
      </p:sp>
      <p:sp>
        <p:nvSpPr>
          <p:cNvPr id="50" name="Shape 48"/>
          <p:cNvSpPr/>
          <p:nvPr/>
        </p:nvSpPr>
        <p:spPr>
          <a:xfrm>
            <a:off x="3154680" y="3493008"/>
            <a:ext cx="2788920" cy="310896"/>
          </a:xfrm>
          <a:prstGeom prst="rect">
            <a:avLst/>
          </a:prstGeom>
          <a:solidFill>
            <a:srgbClr val="161D28"/>
          </a:solidFill>
          <a:ln w="12700">
            <a:solidFill>
              <a:srgbClr val="243044"/>
            </a:solidFill>
            <a:prstDash val="solid"/>
          </a:ln>
        </p:spPr>
      </p:sp>
      <p:sp>
        <p:nvSpPr>
          <p:cNvPr id="51" name="Text 49"/>
          <p:cNvSpPr/>
          <p:nvPr/>
        </p:nvSpPr>
        <p:spPr>
          <a:xfrm>
            <a:off x="3246120" y="3511296"/>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Integration</a:t>
            </a:r>
            <a:endParaRPr lang="en-US" sz="700" dirty="0"/>
          </a:p>
        </p:txBody>
      </p:sp>
      <p:sp>
        <p:nvSpPr>
          <p:cNvPr id="52" name="Text 50"/>
          <p:cNvSpPr/>
          <p:nvPr/>
        </p:nvSpPr>
        <p:spPr>
          <a:xfrm>
            <a:off x="3246120" y="3639312"/>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MCP/MuleSoft, vendor-brokered</a:t>
            </a:r>
            <a:endParaRPr lang="en-US" sz="950" dirty="0"/>
          </a:p>
        </p:txBody>
      </p:sp>
      <p:sp>
        <p:nvSpPr>
          <p:cNvPr id="53" name="Shape 51"/>
          <p:cNvSpPr/>
          <p:nvPr/>
        </p:nvSpPr>
        <p:spPr>
          <a:xfrm>
            <a:off x="3154680" y="3822192"/>
            <a:ext cx="2788920" cy="310896"/>
          </a:xfrm>
          <a:prstGeom prst="rect">
            <a:avLst/>
          </a:prstGeom>
          <a:solidFill>
            <a:srgbClr val="131920"/>
          </a:solidFill>
          <a:ln w="12700">
            <a:solidFill>
              <a:srgbClr val="243044"/>
            </a:solidFill>
            <a:prstDash val="solid"/>
          </a:ln>
        </p:spPr>
      </p:sp>
      <p:sp>
        <p:nvSpPr>
          <p:cNvPr id="54" name="Text 52"/>
          <p:cNvSpPr/>
          <p:nvPr/>
        </p:nvSpPr>
        <p:spPr>
          <a:xfrm>
            <a:off x="3246120" y="3840480"/>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AI Strategy</a:t>
            </a:r>
            <a:endParaRPr lang="en-US" sz="700" dirty="0"/>
          </a:p>
        </p:txBody>
      </p:sp>
      <p:sp>
        <p:nvSpPr>
          <p:cNvPr id="55" name="Text 53"/>
          <p:cNvSpPr/>
          <p:nvPr/>
        </p:nvSpPr>
        <p:spPr>
          <a:xfrm>
            <a:off x="3246120" y="3968496"/>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AI-native UI, legacy substrate</a:t>
            </a:r>
            <a:endParaRPr lang="en-US" sz="950" dirty="0"/>
          </a:p>
        </p:txBody>
      </p:sp>
      <p:sp>
        <p:nvSpPr>
          <p:cNvPr id="56" name="Shape 54"/>
          <p:cNvSpPr/>
          <p:nvPr/>
        </p:nvSpPr>
        <p:spPr>
          <a:xfrm>
            <a:off x="3154680" y="4151376"/>
            <a:ext cx="2788920" cy="310896"/>
          </a:xfrm>
          <a:prstGeom prst="rect">
            <a:avLst/>
          </a:prstGeom>
          <a:solidFill>
            <a:srgbClr val="161D28"/>
          </a:solidFill>
          <a:ln w="12700">
            <a:solidFill>
              <a:srgbClr val="243044"/>
            </a:solidFill>
            <a:prstDash val="solid"/>
          </a:ln>
        </p:spPr>
      </p:sp>
      <p:sp>
        <p:nvSpPr>
          <p:cNvPr id="57" name="Text 55"/>
          <p:cNvSpPr/>
          <p:nvPr/>
        </p:nvSpPr>
        <p:spPr>
          <a:xfrm>
            <a:off x="3246120" y="4169664"/>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Cost Model</a:t>
            </a:r>
            <a:endParaRPr lang="en-US" sz="700" dirty="0"/>
          </a:p>
        </p:txBody>
      </p:sp>
      <p:sp>
        <p:nvSpPr>
          <p:cNvPr id="58" name="Text 56"/>
          <p:cNvSpPr/>
          <p:nvPr/>
        </p:nvSpPr>
        <p:spPr>
          <a:xfrm>
            <a:off x="3246120" y="4297680"/>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Higher licensing + agent consulting</a:t>
            </a:r>
            <a:endParaRPr lang="en-US" sz="950" dirty="0"/>
          </a:p>
        </p:txBody>
      </p:sp>
      <p:sp>
        <p:nvSpPr>
          <p:cNvPr id="59" name="Shape 57"/>
          <p:cNvSpPr/>
          <p:nvPr/>
        </p:nvSpPr>
        <p:spPr>
          <a:xfrm>
            <a:off x="3154680" y="4480560"/>
            <a:ext cx="2788920" cy="310896"/>
          </a:xfrm>
          <a:prstGeom prst="rect">
            <a:avLst/>
          </a:prstGeom>
          <a:solidFill>
            <a:srgbClr val="131920"/>
          </a:solidFill>
          <a:ln w="12700">
            <a:solidFill>
              <a:srgbClr val="243044"/>
            </a:solidFill>
            <a:prstDash val="solid"/>
          </a:ln>
        </p:spPr>
      </p:sp>
      <p:sp>
        <p:nvSpPr>
          <p:cNvPr id="60" name="Text 58"/>
          <p:cNvSpPr/>
          <p:nvPr/>
        </p:nvSpPr>
        <p:spPr>
          <a:xfrm>
            <a:off x="3246120" y="4498848"/>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Workforce</a:t>
            </a:r>
            <a:endParaRPr lang="en-US" sz="700" dirty="0"/>
          </a:p>
        </p:txBody>
      </p:sp>
      <p:sp>
        <p:nvSpPr>
          <p:cNvPr id="61" name="Text 59"/>
          <p:cNvSpPr/>
          <p:nvPr/>
        </p:nvSpPr>
        <p:spPr>
          <a:xfrm>
            <a:off x="3246120" y="4626864"/>
            <a:ext cx="2578608" cy="146304"/>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Prompt engineers in vendor sandbox (capped)</a:t>
            </a:r>
            <a:endParaRPr lang="en-US" sz="950" dirty="0"/>
          </a:p>
        </p:txBody>
      </p:sp>
      <p:sp>
        <p:nvSpPr>
          <p:cNvPr id="62" name="Shape 60"/>
          <p:cNvSpPr/>
          <p:nvPr/>
        </p:nvSpPr>
        <p:spPr>
          <a:xfrm>
            <a:off x="6080760" y="1280160"/>
            <a:ext cx="2788920" cy="822960"/>
          </a:xfrm>
          <a:prstGeom prst="rect">
            <a:avLst/>
          </a:prstGeom>
          <a:solidFill>
            <a:srgbClr val="1C2433"/>
          </a:solidFill>
          <a:ln w="12700">
            <a:solidFill>
              <a:srgbClr val="00C9A7"/>
            </a:solidFill>
            <a:prstDash val="solid"/>
          </a:ln>
        </p:spPr>
      </p:sp>
      <p:sp>
        <p:nvSpPr>
          <p:cNvPr id="63" name="Shape 61"/>
          <p:cNvSpPr/>
          <p:nvPr/>
        </p:nvSpPr>
        <p:spPr>
          <a:xfrm>
            <a:off x="6080760" y="1280160"/>
            <a:ext cx="2788920" cy="45720"/>
          </a:xfrm>
          <a:prstGeom prst="rect">
            <a:avLst/>
          </a:prstGeom>
          <a:solidFill>
            <a:srgbClr val="00C9A7"/>
          </a:solidFill>
          <a:ln w="12700">
            <a:solidFill>
              <a:srgbClr val="00C9A7"/>
            </a:solidFill>
            <a:prstDash val="solid"/>
          </a:ln>
        </p:spPr>
      </p:sp>
      <p:sp>
        <p:nvSpPr>
          <p:cNvPr id="64" name="Text 62"/>
          <p:cNvSpPr/>
          <p:nvPr/>
        </p:nvSpPr>
        <p:spPr>
          <a:xfrm>
            <a:off x="6190488" y="1344168"/>
            <a:ext cx="2560320" cy="256032"/>
          </a:xfrm>
          <a:prstGeom prst="rect">
            <a:avLst/>
          </a:prstGeom>
          <a:noFill/>
          <a:ln/>
        </p:spPr>
        <p:txBody>
          <a:bodyPr wrap="square" lIns="0" tIns="0" rIns="0" bIns="0" rtlCol="0" anchor="ctr"/>
          <a:lstStyle/>
          <a:p>
            <a:pPr indent="0" marL="0">
              <a:buNone/>
            </a:pPr>
            <a:r>
              <a:rPr lang="en-US" sz="950" b="1" spc="150" kern="0" dirty="0">
                <a:solidFill>
                  <a:srgbClr val="00C9A7"/>
                </a:solidFill>
                <a:latin typeface="Calibri" pitchFamily="34" charset="0"/>
                <a:ea typeface="Calibri" pitchFamily="34" charset="-122"/>
                <a:cs typeface="Calibri" pitchFamily="34" charset="-120"/>
              </a:rPr>
              <a:t>OAAD PLATFORM</a:t>
            </a:r>
            <a:endParaRPr lang="en-US" sz="950" dirty="0"/>
          </a:p>
        </p:txBody>
      </p:sp>
      <p:sp>
        <p:nvSpPr>
          <p:cNvPr id="65" name="Text 63"/>
          <p:cNvSpPr/>
          <p:nvPr/>
        </p:nvSpPr>
        <p:spPr>
          <a:xfrm>
            <a:off x="6190488" y="1609344"/>
            <a:ext cx="2560320" cy="274320"/>
          </a:xfrm>
          <a:prstGeom prst="rect">
            <a:avLst/>
          </a:prstGeom>
          <a:noFill/>
          <a:ln/>
        </p:spPr>
        <p:txBody>
          <a:bodyPr wrap="square" lIns="0" tIns="0" rIns="0" bIns="0" rtlCol="0" anchor="ctr"/>
          <a:lstStyle/>
          <a:p>
            <a:pPr indent="0" marL="0">
              <a:buNone/>
            </a:pPr>
            <a:r>
              <a:rPr lang="en-US" sz="800" i="1" dirty="0">
                <a:solidFill>
                  <a:srgbClr val="7D8FA9"/>
                </a:solidFill>
                <a:latin typeface="Calibri" pitchFamily="34" charset="0"/>
                <a:ea typeface="Calibri" pitchFamily="34" charset="-122"/>
                <a:cs typeface="Calibri" pitchFamily="34" charset="-120"/>
              </a:rPr>
              <a:t>OSS Stack · Agentic Fabric · DevSecOps Governance</a:t>
            </a:r>
            <a:endParaRPr lang="en-US" sz="800" dirty="0"/>
          </a:p>
        </p:txBody>
      </p:sp>
      <p:sp>
        <p:nvSpPr>
          <p:cNvPr id="66" name="Shape 64"/>
          <p:cNvSpPr/>
          <p:nvPr/>
        </p:nvSpPr>
        <p:spPr>
          <a:xfrm>
            <a:off x="6080760" y="2176272"/>
            <a:ext cx="2788920" cy="310896"/>
          </a:xfrm>
          <a:prstGeom prst="rect">
            <a:avLst/>
          </a:prstGeom>
          <a:solidFill>
            <a:srgbClr val="161D28"/>
          </a:solidFill>
          <a:ln w="12700">
            <a:solidFill>
              <a:srgbClr val="243044"/>
            </a:solidFill>
            <a:prstDash val="solid"/>
          </a:ln>
        </p:spPr>
      </p:sp>
      <p:sp>
        <p:nvSpPr>
          <p:cNvPr id="67" name="Text 65"/>
          <p:cNvSpPr/>
          <p:nvPr/>
        </p:nvSpPr>
        <p:spPr>
          <a:xfrm>
            <a:off x="6172200" y="2194560"/>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Ownership</a:t>
            </a:r>
            <a:endParaRPr lang="en-US" sz="700" dirty="0"/>
          </a:p>
        </p:txBody>
      </p:sp>
      <p:sp>
        <p:nvSpPr>
          <p:cNvPr id="68" name="Text 66"/>
          <p:cNvSpPr/>
          <p:nvPr/>
        </p:nvSpPr>
        <p:spPr>
          <a:xfrm>
            <a:off x="6172200" y="2322576"/>
            <a:ext cx="2578608" cy="146304"/>
          </a:xfrm>
          <a:prstGeom prst="rect">
            <a:avLst/>
          </a:prstGeom>
          <a:noFill/>
          <a:ln/>
        </p:spPr>
        <p:txBody>
          <a:bodyPr wrap="square" lIns="0" tIns="0" rIns="0" bIns="0" rtlCol="0" anchor="ctr"/>
          <a:lstStyle/>
          <a:p>
            <a:pPr indent="0" marL="0">
              <a:buNone/>
            </a:pPr>
            <a:r>
              <a:rPr lang="en-US" sz="950" dirty="0">
                <a:solidFill>
                  <a:srgbClr val="EFF3FA"/>
                </a:solidFill>
                <a:latin typeface="Calibri" pitchFamily="34" charset="0"/>
                <a:ea typeface="Calibri" pitchFamily="34" charset="-122"/>
                <a:cs typeface="Calibri" pitchFamily="34" charset="-120"/>
              </a:rPr>
              <a:t>Enterprise, fully</a:t>
            </a:r>
            <a:endParaRPr lang="en-US" sz="950" dirty="0"/>
          </a:p>
        </p:txBody>
      </p:sp>
      <p:sp>
        <p:nvSpPr>
          <p:cNvPr id="69" name="Shape 67"/>
          <p:cNvSpPr/>
          <p:nvPr/>
        </p:nvSpPr>
        <p:spPr>
          <a:xfrm>
            <a:off x="6080760" y="2505456"/>
            <a:ext cx="2788920" cy="310896"/>
          </a:xfrm>
          <a:prstGeom prst="rect">
            <a:avLst/>
          </a:prstGeom>
          <a:solidFill>
            <a:srgbClr val="131920"/>
          </a:solidFill>
          <a:ln w="12700">
            <a:solidFill>
              <a:srgbClr val="243044"/>
            </a:solidFill>
            <a:prstDash val="solid"/>
          </a:ln>
        </p:spPr>
      </p:sp>
      <p:sp>
        <p:nvSpPr>
          <p:cNvPr id="70" name="Text 68"/>
          <p:cNvSpPr/>
          <p:nvPr/>
        </p:nvSpPr>
        <p:spPr>
          <a:xfrm>
            <a:off x="6172200" y="2523744"/>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Business Logic</a:t>
            </a:r>
            <a:endParaRPr lang="en-US" sz="700" dirty="0"/>
          </a:p>
        </p:txBody>
      </p:sp>
      <p:sp>
        <p:nvSpPr>
          <p:cNvPr id="71" name="Text 69"/>
          <p:cNvSpPr/>
          <p:nvPr/>
        </p:nvSpPr>
        <p:spPr>
          <a:xfrm>
            <a:off x="6172200" y="2651760"/>
            <a:ext cx="2578608" cy="146304"/>
          </a:xfrm>
          <a:prstGeom prst="rect">
            <a:avLst/>
          </a:prstGeom>
          <a:noFill/>
          <a:ln/>
        </p:spPr>
        <p:txBody>
          <a:bodyPr wrap="square" lIns="0" tIns="0" rIns="0" bIns="0" rtlCol="0" anchor="ctr"/>
          <a:lstStyle/>
          <a:p>
            <a:pPr indent="0" marL="0">
              <a:buNone/>
            </a:pPr>
            <a:r>
              <a:rPr lang="en-US" sz="950" dirty="0">
                <a:solidFill>
                  <a:srgbClr val="EFF3FA"/>
                </a:solidFill>
                <a:latin typeface="Calibri" pitchFamily="34" charset="0"/>
                <a:ea typeface="Calibri" pitchFamily="34" charset="-122"/>
                <a:cs typeface="Calibri" pitchFamily="34" charset="-120"/>
              </a:rPr>
              <a:t>Versioned agents the enterprise owns</a:t>
            </a:r>
            <a:endParaRPr lang="en-US" sz="950" dirty="0"/>
          </a:p>
        </p:txBody>
      </p:sp>
      <p:sp>
        <p:nvSpPr>
          <p:cNvPr id="72" name="Shape 70"/>
          <p:cNvSpPr/>
          <p:nvPr/>
        </p:nvSpPr>
        <p:spPr>
          <a:xfrm>
            <a:off x="6080760" y="2834640"/>
            <a:ext cx="2788920" cy="310896"/>
          </a:xfrm>
          <a:prstGeom prst="rect">
            <a:avLst/>
          </a:prstGeom>
          <a:solidFill>
            <a:srgbClr val="161D28"/>
          </a:solidFill>
          <a:ln w="12700">
            <a:solidFill>
              <a:srgbClr val="243044"/>
            </a:solidFill>
            <a:prstDash val="solid"/>
          </a:ln>
        </p:spPr>
      </p:sp>
      <p:sp>
        <p:nvSpPr>
          <p:cNvPr id="73" name="Text 71"/>
          <p:cNvSpPr/>
          <p:nvPr/>
        </p:nvSpPr>
        <p:spPr>
          <a:xfrm>
            <a:off x="6172200" y="2852928"/>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Intelligence Moat</a:t>
            </a:r>
            <a:endParaRPr lang="en-US" sz="700" dirty="0"/>
          </a:p>
        </p:txBody>
      </p:sp>
      <p:sp>
        <p:nvSpPr>
          <p:cNvPr id="74" name="Text 72"/>
          <p:cNvSpPr/>
          <p:nvPr/>
        </p:nvSpPr>
        <p:spPr>
          <a:xfrm>
            <a:off x="6172200" y="2980944"/>
            <a:ext cx="2578608" cy="146304"/>
          </a:xfrm>
          <a:prstGeom prst="rect">
            <a:avLst/>
          </a:prstGeom>
          <a:noFill/>
          <a:ln/>
        </p:spPr>
        <p:txBody>
          <a:bodyPr wrap="square" lIns="0" tIns="0" rIns="0" bIns="0" rtlCol="0" anchor="ctr"/>
          <a:lstStyle/>
          <a:p>
            <a:pPr indent="0" marL="0">
              <a:buNone/>
            </a:pPr>
            <a:r>
              <a:rPr lang="en-US" sz="950" dirty="0">
                <a:solidFill>
                  <a:srgbClr val="EFF3FA"/>
                </a:solidFill>
                <a:latin typeface="Calibri" pitchFamily="34" charset="0"/>
                <a:ea typeface="Calibri" pitchFamily="34" charset="-122"/>
                <a:cs typeface="Calibri" pitchFamily="34" charset="-120"/>
              </a:rPr>
              <a:t>Accrues to the enterprise</a:t>
            </a:r>
            <a:endParaRPr lang="en-US" sz="950" dirty="0"/>
          </a:p>
        </p:txBody>
      </p:sp>
      <p:sp>
        <p:nvSpPr>
          <p:cNvPr id="75" name="Shape 73"/>
          <p:cNvSpPr/>
          <p:nvPr/>
        </p:nvSpPr>
        <p:spPr>
          <a:xfrm>
            <a:off x="6080760" y="3163824"/>
            <a:ext cx="2788920" cy="310896"/>
          </a:xfrm>
          <a:prstGeom prst="rect">
            <a:avLst/>
          </a:prstGeom>
          <a:solidFill>
            <a:srgbClr val="131920"/>
          </a:solidFill>
          <a:ln w="12700">
            <a:solidFill>
              <a:srgbClr val="243044"/>
            </a:solidFill>
            <a:prstDash val="solid"/>
          </a:ln>
        </p:spPr>
      </p:sp>
      <p:sp>
        <p:nvSpPr>
          <p:cNvPr id="76" name="Text 74"/>
          <p:cNvSpPr/>
          <p:nvPr/>
        </p:nvSpPr>
        <p:spPr>
          <a:xfrm>
            <a:off x="6172200" y="3182112"/>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Differentiation</a:t>
            </a:r>
            <a:endParaRPr lang="en-US" sz="700" dirty="0"/>
          </a:p>
        </p:txBody>
      </p:sp>
      <p:sp>
        <p:nvSpPr>
          <p:cNvPr id="77" name="Text 75"/>
          <p:cNvSpPr/>
          <p:nvPr/>
        </p:nvSpPr>
        <p:spPr>
          <a:xfrm>
            <a:off x="6172200" y="3310128"/>
            <a:ext cx="2578608" cy="146304"/>
          </a:xfrm>
          <a:prstGeom prst="rect">
            <a:avLst/>
          </a:prstGeom>
          <a:noFill/>
          <a:ln/>
        </p:spPr>
        <p:txBody>
          <a:bodyPr wrap="square" lIns="0" tIns="0" rIns="0" bIns="0" rtlCol="0" anchor="ctr"/>
          <a:lstStyle/>
          <a:p>
            <a:pPr indent="0" marL="0">
              <a:buNone/>
            </a:pPr>
            <a:r>
              <a:rPr lang="en-US" sz="950" dirty="0">
                <a:solidFill>
                  <a:srgbClr val="EFF3FA"/>
                </a:solidFill>
                <a:latin typeface="Calibri" pitchFamily="34" charset="0"/>
                <a:ea typeface="Calibri" pitchFamily="34" charset="-122"/>
                <a:cs typeface="Calibri" pitchFamily="34" charset="-120"/>
              </a:rPr>
              <a:t>Compounding: encodes your uniqueness</a:t>
            </a:r>
            <a:endParaRPr lang="en-US" sz="950" dirty="0"/>
          </a:p>
        </p:txBody>
      </p:sp>
      <p:sp>
        <p:nvSpPr>
          <p:cNvPr id="78" name="Shape 76"/>
          <p:cNvSpPr/>
          <p:nvPr/>
        </p:nvSpPr>
        <p:spPr>
          <a:xfrm>
            <a:off x="6080760" y="3493008"/>
            <a:ext cx="2788920" cy="310896"/>
          </a:xfrm>
          <a:prstGeom prst="rect">
            <a:avLst/>
          </a:prstGeom>
          <a:solidFill>
            <a:srgbClr val="161D28"/>
          </a:solidFill>
          <a:ln w="12700">
            <a:solidFill>
              <a:srgbClr val="243044"/>
            </a:solidFill>
            <a:prstDash val="solid"/>
          </a:ln>
        </p:spPr>
      </p:sp>
      <p:sp>
        <p:nvSpPr>
          <p:cNvPr id="79" name="Text 77"/>
          <p:cNvSpPr/>
          <p:nvPr/>
        </p:nvSpPr>
        <p:spPr>
          <a:xfrm>
            <a:off x="6172200" y="3511296"/>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Integration</a:t>
            </a:r>
            <a:endParaRPr lang="en-US" sz="700" dirty="0"/>
          </a:p>
        </p:txBody>
      </p:sp>
      <p:sp>
        <p:nvSpPr>
          <p:cNvPr id="80" name="Text 78"/>
          <p:cNvSpPr/>
          <p:nvPr/>
        </p:nvSpPr>
        <p:spPr>
          <a:xfrm>
            <a:off x="6172200" y="3639312"/>
            <a:ext cx="2578608" cy="146304"/>
          </a:xfrm>
          <a:prstGeom prst="rect">
            <a:avLst/>
          </a:prstGeom>
          <a:noFill/>
          <a:ln/>
        </p:spPr>
        <p:txBody>
          <a:bodyPr wrap="square" lIns="0" tIns="0" rIns="0" bIns="0" rtlCol="0" anchor="ctr"/>
          <a:lstStyle/>
          <a:p>
            <a:pPr indent="0" marL="0">
              <a:buNone/>
            </a:pPr>
            <a:r>
              <a:rPr lang="en-US" sz="950" dirty="0">
                <a:solidFill>
                  <a:srgbClr val="EFF3FA"/>
                </a:solidFill>
                <a:latin typeface="Calibri" pitchFamily="34" charset="0"/>
                <a:ea typeface="Calibri" pitchFamily="34" charset="-122"/>
                <a:cs typeface="Calibri" pitchFamily="34" charset="-120"/>
              </a:rPr>
              <a:t>Agentic fabric above deterministic layer</a:t>
            </a:r>
            <a:endParaRPr lang="en-US" sz="950" dirty="0"/>
          </a:p>
        </p:txBody>
      </p:sp>
      <p:sp>
        <p:nvSpPr>
          <p:cNvPr id="81" name="Shape 79"/>
          <p:cNvSpPr/>
          <p:nvPr/>
        </p:nvSpPr>
        <p:spPr>
          <a:xfrm>
            <a:off x="6080760" y="3822192"/>
            <a:ext cx="2788920" cy="310896"/>
          </a:xfrm>
          <a:prstGeom prst="rect">
            <a:avLst/>
          </a:prstGeom>
          <a:solidFill>
            <a:srgbClr val="131920"/>
          </a:solidFill>
          <a:ln w="12700">
            <a:solidFill>
              <a:srgbClr val="243044"/>
            </a:solidFill>
            <a:prstDash val="solid"/>
          </a:ln>
        </p:spPr>
      </p:sp>
      <p:sp>
        <p:nvSpPr>
          <p:cNvPr id="82" name="Text 80"/>
          <p:cNvSpPr/>
          <p:nvPr/>
        </p:nvSpPr>
        <p:spPr>
          <a:xfrm>
            <a:off x="6172200" y="3840480"/>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AI Strategy</a:t>
            </a:r>
            <a:endParaRPr lang="en-US" sz="700" dirty="0"/>
          </a:p>
        </p:txBody>
      </p:sp>
      <p:sp>
        <p:nvSpPr>
          <p:cNvPr id="83" name="Text 81"/>
          <p:cNvSpPr/>
          <p:nvPr/>
        </p:nvSpPr>
        <p:spPr>
          <a:xfrm>
            <a:off x="6172200" y="3968496"/>
            <a:ext cx="2578608" cy="146304"/>
          </a:xfrm>
          <a:prstGeom prst="rect">
            <a:avLst/>
          </a:prstGeom>
          <a:noFill/>
          <a:ln/>
        </p:spPr>
        <p:txBody>
          <a:bodyPr wrap="square" lIns="0" tIns="0" rIns="0" bIns="0" rtlCol="0" anchor="ctr"/>
          <a:lstStyle/>
          <a:p>
            <a:pPr indent="0" marL="0">
              <a:buNone/>
            </a:pPr>
            <a:r>
              <a:rPr lang="en-US" sz="950" dirty="0">
                <a:solidFill>
                  <a:srgbClr val="EFF3FA"/>
                </a:solidFill>
                <a:latin typeface="Calibri" pitchFamily="34" charset="0"/>
                <a:ea typeface="Calibri" pitchFamily="34" charset="-122"/>
                <a:cs typeface="Calibri" pitchFamily="34" charset="-120"/>
              </a:rPr>
              <a:t>AI-native from substrate to capability</a:t>
            </a:r>
            <a:endParaRPr lang="en-US" sz="950" dirty="0"/>
          </a:p>
        </p:txBody>
      </p:sp>
      <p:sp>
        <p:nvSpPr>
          <p:cNvPr id="84" name="Shape 82"/>
          <p:cNvSpPr/>
          <p:nvPr/>
        </p:nvSpPr>
        <p:spPr>
          <a:xfrm>
            <a:off x="6080760" y="4151376"/>
            <a:ext cx="2788920" cy="310896"/>
          </a:xfrm>
          <a:prstGeom prst="rect">
            <a:avLst/>
          </a:prstGeom>
          <a:solidFill>
            <a:srgbClr val="161D28"/>
          </a:solidFill>
          <a:ln w="12700">
            <a:solidFill>
              <a:srgbClr val="243044"/>
            </a:solidFill>
            <a:prstDash val="solid"/>
          </a:ln>
        </p:spPr>
      </p:sp>
      <p:sp>
        <p:nvSpPr>
          <p:cNvPr id="85" name="Text 83"/>
          <p:cNvSpPr/>
          <p:nvPr/>
        </p:nvSpPr>
        <p:spPr>
          <a:xfrm>
            <a:off x="6172200" y="4169664"/>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Cost Model</a:t>
            </a:r>
            <a:endParaRPr lang="en-US" sz="700" dirty="0"/>
          </a:p>
        </p:txBody>
      </p:sp>
      <p:sp>
        <p:nvSpPr>
          <p:cNvPr id="86" name="Text 84"/>
          <p:cNvSpPr/>
          <p:nvPr/>
        </p:nvSpPr>
        <p:spPr>
          <a:xfrm>
            <a:off x="6172200" y="4297680"/>
            <a:ext cx="2578608" cy="146304"/>
          </a:xfrm>
          <a:prstGeom prst="rect">
            <a:avLst/>
          </a:prstGeom>
          <a:noFill/>
          <a:ln/>
        </p:spPr>
        <p:txBody>
          <a:bodyPr wrap="square" lIns="0" tIns="0" rIns="0" bIns="0" rtlCol="0" anchor="ctr"/>
          <a:lstStyle/>
          <a:p>
            <a:pPr indent="0" marL="0">
              <a:buNone/>
            </a:pPr>
            <a:r>
              <a:rPr lang="en-US" sz="950" dirty="0">
                <a:solidFill>
                  <a:srgbClr val="EFF3FA"/>
                </a:solidFill>
                <a:latin typeface="Calibri" pitchFamily="34" charset="0"/>
                <a:ea typeface="Calibri" pitchFamily="34" charset="-122"/>
                <a:cs typeface="Calibri" pitchFamily="34" charset="-120"/>
              </a:rPr>
              <a:t>Platform investment, zero license rent</a:t>
            </a:r>
            <a:endParaRPr lang="en-US" sz="950" dirty="0"/>
          </a:p>
        </p:txBody>
      </p:sp>
      <p:sp>
        <p:nvSpPr>
          <p:cNvPr id="87" name="Shape 85"/>
          <p:cNvSpPr/>
          <p:nvPr/>
        </p:nvSpPr>
        <p:spPr>
          <a:xfrm>
            <a:off x="6080760" y="4480560"/>
            <a:ext cx="2788920" cy="310896"/>
          </a:xfrm>
          <a:prstGeom prst="rect">
            <a:avLst/>
          </a:prstGeom>
          <a:solidFill>
            <a:srgbClr val="131920"/>
          </a:solidFill>
          <a:ln w="12700">
            <a:solidFill>
              <a:srgbClr val="243044"/>
            </a:solidFill>
            <a:prstDash val="solid"/>
          </a:ln>
        </p:spPr>
      </p:sp>
      <p:sp>
        <p:nvSpPr>
          <p:cNvPr id="88" name="Text 86"/>
          <p:cNvSpPr/>
          <p:nvPr/>
        </p:nvSpPr>
        <p:spPr>
          <a:xfrm>
            <a:off x="6172200" y="4498848"/>
            <a:ext cx="1005840" cy="128016"/>
          </a:xfrm>
          <a:prstGeom prst="rect">
            <a:avLst/>
          </a:prstGeom>
          <a:noFill/>
          <a:ln/>
        </p:spPr>
        <p:txBody>
          <a:bodyPr wrap="square" lIns="0" tIns="0" rIns="0" bIns="0" rtlCol="0" anchor="ctr"/>
          <a:lstStyle/>
          <a:p>
            <a:pPr indent="0" marL="0">
              <a:buNone/>
            </a:pPr>
            <a:r>
              <a:rPr lang="en-US" sz="700" b="1" dirty="0">
                <a:solidFill>
                  <a:srgbClr val="3D4F63"/>
                </a:solidFill>
                <a:latin typeface="Calibri" pitchFamily="34" charset="0"/>
                <a:ea typeface="Calibri" pitchFamily="34" charset="-122"/>
                <a:cs typeface="Calibri" pitchFamily="34" charset="-120"/>
              </a:rPr>
              <a:t>Workforce</a:t>
            </a:r>
            <a:endParaRPr lang="en-US" sz="700" dirty="0"/>
          </a:p>
        </p:txBody>
      </p:sp>
      <p:sp>
        <p:nvSpPr>
          <p:cNvPr id="89" name="Text 87"/>
          <p:cNvSpPr/>
          <p:nvPr/>
        </p:nvSpPr>
        <p:spPr>
          <a:xfrm>
            <a:off x="6172200" y="4626864"/>
            <a:ext cx="2578608" cy="146304"/>
          </a:xfrm>
          <a:prstGeom prst="rect">
            <a:avLst/>
          </a:prstGeom>
          <a:noFill/>
          <a:ln/>
        </p:spPr>
        <p:txBody>
          <a:bodyPr wrap="square" lIns="0" tIns="0" rIns="0" bIns="0" rtlCol="0" anchor="ctr"/>
          <a:lstStyle/>
          <a:p>
            <a:pPr indent="0" marL="0">
              <a:buNone/>
            </a:pPr>
            <a:r>
              <a:rPr lang="en-US" sz="950" dirty="0">
                <a:solidFill>
                  <a:srgbClr val="EFF3FA"/>
                </a:solidFill>
                <a:latin typeface="Calibri" pitchFamily="34" charset="0"/>
                <a:ea typeface="Calibri" pitchFamily="34" charset="-122"/>
                <a:cs typeface="Calibri" pitchFamily="34" charset="-120"/>
              </a:rPr>
              <a:t>Platform engineers + agent architects (scarce)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E3B341"/>
          </a:solidFill>
          <a:ln w="12700">
            <a:solidFill>
              <a:srgbClr val="E3B341"/>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E3B341"/>
                </a:solidFill>
                <a:latin typeface="Calibri" pitchFamily="34" charset="0"/>
                <a:ea typeface="Calibri" pitchFamily="34" charset="-122"/>
                <a:cs typeface="Calibri" pitchFamily="34" charset="-120"/>
              </a:rPr>
              <a:t>THE OSS STACK</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The Alternatives Already Exist. Today.</a:t>
            </a:r>
            <a:endParaRPr lang="en-US" sz="3000" dirty="0"/>
          </a:p>
        </p:txBody>
      </p:sp>
      <p:sp>
        <p:nvSpPr>
          <p:cNvPr id="6" name="Text 4"/>
          <p:cNvSpPr/>
          <p:nvPr/>
        </p:nvSpPr>
        <p:spPr>
          <a:xfrm>
            <a:off x="365760" y="1234440"/>
            <a:ext cx="8503920" cy="402336"/>
          </a:xfrm>
          <a:prstGeom prst="rect">
            <a:avLst/>
          </a:prstGeom>
          <a:noFill/>
          <a:ln/>
        </p:spPr>
        <p:txBody>
          <a:bodyPr wrap="square" lIns="0" tIns="0" rIns="0" bIns="0" rtlCol="0" anchor="ctr"/>
          <a:lstStyle/>
          <a:p>
            <a:pPr indent="0" marL="0">
              <a:buNone/>
            </a:pPr>
            <a:r>
              <a:rPr lang="en-US" sz="1150" i="1" dirty="0">
                <a:solidFill>
                  <a:srgbClr val="7D8FA9"/>
                </a:solidFill>
                <a:latin typeface="Calibri" pitchFamily="34" charset="0"/>
                <a:ea typeface="Calibri" pitchFamily="34" charset="-122"/>
                <a:cs typeface="Calibri" pitchFamily="34" charset="-120"/>
              </a:rPr>
              <a:t>Every major COTS domain has a mature OSS alternative. The gap was never capability. It was integration, operations, and governance at enterprise scale. OAAD closes that gap.</a:t>
            </a:r>
            <a:endParaRPr lang="en-US" sz="1150" dirty="0"/>
          </a:p>
        </p:txBody>
      </p:sp>
      <p:sp>
        <p:nvSpPr>
          <p:cNvPr id="7" name="Shape 5"/>
          <p:cNvSpPr/>
          <p:nvPr/>
        </p:nvSpPr>
        <p:spPr>
          <a:xfrm>
            <a:off x="228600" y="1609072"/>
            <a:ext cx="1417320" cy="274320"/>
          </a:xfrm>
          <a:prstGeom prst="rect">
            <a:avLst/>
          </a:prstGeom>
          <a:solidFill>
            <a:srgbClr val="1C2433"/>
          </a:solidFill>
          <a:ln w="12700">
            <a:solidFill>
              <a:srgbClr val="243044"/>
            </a:solidFill>
            <a:prstDash val="solid"/>
          </a:ln>
        </p:spPr>
      </p:sp>
      <p:sp>
        <p:nvSpPr>
          <p:cNvPr id="8" name="Text 6"/>
          <p:cNvSpPr/>
          <p:nvPr/>
        </p:nvSpPr>
        <p:spPr>
          <a:xfrm>
            <a:off x="301752" y="1654792"/>
            <a:ext cx="1344168" cy="201168"/>
          </a:xfrm>
          <a:prstGeom prst="rect">
            <a:avLst/>
          </a:prstGeom>
          <a:noFill/>
          <a:ln/>
        </p:spPr>
        <p:txBody>
          <a:bodyPr wrap="square" lIns="0" tIns="0" rIns="0" bIns="0" rtlCol="0" anchor="ctr"/>
          <a:lstStyle/>
          <a:p>
            <a:pPr indent="0" marL="0">
              <a:buNone/>
            </a:pPr>
            <a:r>
              <a:rPr lang="en-US" sz="750" b="1" spc="100" kern="0" dirty="0">
                <a:solidFill>
                  <a:srgbClr val="7D8FA9"/>
                </a:solidFill>
                <a:latin typeface="Calibri" pitchFamily="34" charset="0"/>
                <a:ea typeface="Calibri" pitchFamily="34" charset="-122"/>
                <a:cs typeface="Calibri" pitchFamily="34" charset="-120"/>
              </a:rPr>
              <a:t>DOMAIN</a:t>
            </a:r>
            <a:endParaRPr lang="en-US" sz="750" dirty="0"/>
          </a:p>
        </p:txBody>
      </p:sp>
      <p:sp>
        <p:nvSpPr>
          <p:cNvPr id="9" name="Shape 7"/>
          <p:cNvSpPr/>
          <p:nvPr/>
        </p:nvSpPr>
        <p:spPr>
          <a:xfrm>
            <a:off x="1719072" y="1609072"/>
            <a:ext cx="1691640" cy="274320"/>
          </a:xfrm>
          <a:prstGeom prst="rect">
            <a:avLst/>
          </a:prstGeom>
          <a:solidFill>
            <a:srgbClr val="1C2433"/>
          </a:solidFill>
          <a:ln w="12700">
            <a:solidFill>
              <a:srgbClr val="243044"/>
            </a:solidFill>
            <a:prstDash val="solid"/>
          </a:ln>
        </p:spPr>
      </p:sp>
      <p:sp>
        <p:nvSpPr>
          <p:cNvPr id="10" name="Text 8"/>
          <p:cNvSpPr/>
          <p:nvPr/>
        </p:nvSpPr>
        <p:spPr>
          <a:xfrm>
            <a:off x="1792224" y="1654792"/>
            <a:ext cx="1618488" cy="201168"/>
          </a:xfrm>
          <a:prstGeom prst="rect">
            <a:avLst/>
          </a:prstGeom>
          <a:noFill/>
          <a:ln/>
        </p:spPr>
        <p:txBody>
          <a:bodyPr wrap="square" lIns="0" tIns="0" rIns="0" bIns="0" rtlCol="0" anchor="ctr"/>
          <a:lstStyle/>
          <a:p>
            <a:pPr indent="0" marL="0">
              <a:buNone/>
            </a:pPr>
            <a:r>
              <a:rPr lang="en-US" sz="750" b="1" spc="100" kern="0" dirty="0">
                <a:solidFill>
                  <a:srgbClr val="7D8FA9"/>
                </a:solidFill>
                <a:latin typeface="Calibri" pitchFamily="34" charset="0"/>
                <a:ea typeface="Calibri" pitchFamily="34" charset="-122"/>
                <a:cs typeface="Calibri" pitchFamily="34" charset="-120"/>
              </a:rPr>
              <a:t>COTS DISPLACED</a:t>
            </a:r>
            <a:endParaRPr lang="en-US" sz="750" dirty="0"/>
          </a:p>
        </p:txBody>
      </p:sp>
      <p:sp>
        <p:nvSpPr>
          <p:cNvPr id="11" name="Shape 9"/>
          <p:cNvSpPr/>
          <p:nvPr/>
        </p:nvSpPr>
        <p:spPr>
          <a:xfrm>
            <a:off x="3483864" y="1609072"/>
            <a:ext cx="2423160" cy="274320"/>
          </a:xfrm>
          <a:prstGeom prst="rect">
            <a:avLst/>
          </a:prstGeom>
          <a:solidFill>
            <a:srgbClr val="1C2433"/>
          </a:solidFill>
          <a:ln w="12700">
            <a:solidFill>
              <a:srgbClr val="243044"/>
            </a:solidFill>
            <a:prstDash val="solid"/>
          </a:ln>
        </p:spPr>
      </p:sp>
      <p:sp>
        <p:nvSpPr>
          <p:cNvPr id="12" name="Text 10"/>
          <p:cNvSpPr/>
          <p:nvPr/>
        </p:nvSpPr>
        <p:spPr>
          <a:xfrm>
            <a:off x="3557016" y="1654792"/>
            <a:ext cx="2350008" cy="201168"/>
          </a:xfrm>
          <a:prstGeom prst="rect">
            <a:avLst/>
          </a:prstGeom>
          <a:noFill/>
          <a:ln/>
        </p:spPr>
        <p:txBody>
          <a:bodyPr wrap="square" lIns="0" tIns="0" rIns="0" bIns="0" rtlCol="0" anchor="ctr"/>
          <a:lstStyle/>
          <a:p>
            <a:pPr indent="0" marL="0">
              <a:buNone/>
            </a:pPr>
            <a:r>
              <a:rPr lang="en-US" sz="750" b="1" spc="100" kern="0" dirty="0">
                <a:solidFill>
                  <a:srgbClr val="7D8FA9"/>
                </a:solidFill>
                <a:latin typeface="Calibri" pitchFamily="34" charset="0"/>
                <a:ea typeface="Calibri" pitchFamily="34" charset="-122"/>
                <a:cs typeface="Calibri" pitchFamily="34" charset="-120"/>
              </a:rPr>
              <a:t>OSS ALTERNATIVE  (EXISTS TODAY)</a:t>
            </a:r>
            <a:endParaRPr lang="en-US" sz="750" dirty="0"/>
          </a:p>
        </p:txBody>
      </p:sp>
      <p:sp>
        <p:nvSpPr>
          <p:cNvPr id="13" name="Shape 11"/>
          <p:cNvSpPr/>
          <p:nvPr/>
        </p:nvSpPr>
        <p:spPr>
          <a:xfrm>
            <a:off x="5980176" y="1609072"/>
            <a:ext cx="2615184" cy="274320"/>
          </a:xfrm>
          <a:prstGeom prst="rect">
            <a:avLst/>
          </a:prstGeom>
          <a:solidFill>
            <a:srgbClr val="1C2433"/>
          </a:solidFill>
          <a:ln w="12700">
            <a:solidFill>
              <a:srgbClr val="243044"/>
            </a:solidFill>
            <a:prstDash val="solid"/>
          </a:ln>
        </p:spPr>
      </p:sp>
      <p:sp>
        <p:nvSpPr>
          <p:cNvPr id="14" name="Text 12"/>
          <p:cNvSpPr/>
          <p:nvPr/>
        </p:nvSpPr>
        <p:spPr>
          <a:xfrm>
            <a:off x="6053328" y="1654792"/>
            <a:ext cx="2542032" cy="201168"/>
          </a:xfrm>
          <a:prstGeom prst="rect">
            <a:avLst/>
          </a:prstGeom>
          <a:noFill/>
          <a:ln/>
        </p:spPr>
        <p:txBody>
          <a:bodyPr wrap="square" lIns="0" tIns="0" rIns="0" bIns="0" rtlCol="0" anchor="ctr"/>
          <a:lstStyle/>
          <a:p>
            <a:pPr indent="0" marL="0">
              <a:buNone/>
            </a:pPr>
            <a:r>
              <a:rPr lang="en-US" sz="750" b="1" spc="100" kern="0" dirty="0">
                <a:solidFill>
                  <a:srgbClr val="7D8FA9"/>
                </a:solidFill>
                <a:latin typeface="Calibri" pitchFamily="34" charset="0"/>
                <a:ea typeface="Calibri" pitchFamily="34" charset="-122"/>
                <a:cs typeface="Calibri" pitchFamily="34" charset="-120"/>
              </a:rPr>
              <a:t>OAAD AGENTIC LAYER</a:t>
            </a:r>
            <a:endParaRPr lang="en-US" sz="750" dirty="0"/>
          </a:p>
        </p:txBody>
      </p:sp>
      <p:sp>
        <p:nvSpPr>
          <p:cNvPr id="15" name="Shape 13"/>
          <p:cNvSpPr/>
          <p:nvPr/>
        </p:nvSpPr>
        <p:spPr>
          <a:xfrm>
            <a:off x="8668512" y="1609072"/>
            <a:ext cx="685800" cy="274320"/>
          </a:xfrm>
          <a:prstGeom prst="rect">
            <a:avLst/>
          </a:prstGeom>
          <a:solidFill>
            <a:srgbClr val="1C2433"/>
          </a:solidFill>
          <a:ln w="12700">
            <a:solidFill>
              <a:srgbClr val="243044"/>
            </a:solidFill>
            <a:prstDash val="solid"/>
          </a:ln>
        </p:spPr>
      </p:sp>
      <p:sp>
        <p:nvSpPr>
          <p:cNvPr id="16" name="Text 14"/>
          <p:cNvSpPr/>
          <p:nvPr/>
        </p:nvSpPr>
        <p:spPr>
          <a:xfrm>
            <a:off x="8741664" y="1654792"/>
            <a:ext cx="612648" cy="201168"/>
          </a:xfrm>
          <a:prstGeom prst="rect">
            <a:avLst/>
          </a:prstGeom>
          <a:noFill/>
          <a:ln/>
        </p:spPr>
        <p:txBody>
          <a:bodyPr wrap="square" lIns="0" tIns="0" rIns="0" bIns="0" rtlCol="0" anchor="ctr"/>
          <a:lstStyle/>
          <a:p>
            <a:pPr indent="0" marL="0">
              <a:buNone/>
            </a:pPr>
            <a:r>
              <a:rPr lang="en-US" sz="750" b="1" spc="100" kern="0" dirty="0">
                <a:solidFill>
                  <a:srgbClr val="7D8FA9"/>
                </a:solidFill>
                <a:latin typeface="Calibri" pitchFamily="34" charset="0"/>
                <a:ea typeface="Calibri" pitchFamily="34" charset="-122"/>
                <a:cs typeface="Calibri" pitchFamily="34" charset="-120"/>
              </a:rPr>
              <a:t>PHASE</a:t>
            </a:r>
            <a:endParaRPr lang="en-US" sz="750" dirty="0"/>
          </a:p>
        </p:txBody>
      </p:sp>
      <p:sp>
        <p:nvSpPr>
          <p:cNvPr id="17" name="Shape 15"/>
          <p:cNvSpPr/>
          <p:nvPr/>
        </p:nvSpPr>
        <p:spPr>
          <a:xfrm>
            <a:off x="228600" y="1919968"/>
            <a:ext cx="1417320" cy="356616"/>
          </a:xfrm>
          <a:prstGeom prst="rect">
            <a:avLst/>
          </a:prstGeom>
          <a:solidFill>
            <a:srgbClr val="161D28"/>
          </a:solidFill>
          <a:ln w="12700">
            <a:solidFill>
              <a:srgbClr val="243044"/>
            </a:solidFill>
            <a:prstDash val="solid"/>
          </a:ln>
        </p:spPr>
      </p:sp>
      <p:sp>
        <p:nvSpPr>
          <p:cNvPr id="18" name="Shape 16"/>
          <p:cNvSpPr/>
          <p:nvPr/>
        </p:nvSpPr>
        <p:spPr>
          <a:xfrm>
            <a:off x="1719072" y="1919968"/>
            <a:ext cx="1691640" cy="356616"/>
          </a:xfrm>
          <a:prstGeom prst="rect">
            <a:avLst/>
          </a:prstGeom>
          <a:solidFill>
            <a:srgbClr val="161D28"/>
          </a:solidFill>
          <a:ln w="12700">
            <a:solidFill>
              <a:srgbClr val="243044"/>
            </a:solidFill>
            <a:prstDash val="solid"/>
          </a:ln>
        </p:spPr>
      </p:sp>
      <p:sp>
        <p:nvSpPr>
          <p:cNvPr id="19" name="Shape 17"/>
          <p:cNvSpPr/>
          <p:nvPr/>
        </p:nvSpPr>
        <p:spPr>
          <a:xfrm>
            <a:off x="3483864" y="1919968"/>
            <a:ext cx="2423160" cy="356616"/>
          </a:xfrm>
          <a:prstGeom prst="rect">
            <a:avLst/>
          </a:prstGeom>
          <a:solidFill>
            <a:srgbClr val="161D28"/>
          </a:solidFill>
          <a:ln w="12700">
            <a:solidFill>
              <a:srgbClr val="243044"/>
            </a:solidFill>
            <a:prstDash val="solid"/>
          </a:ln>
        </p:spPr>
      </p:sp>
      <p:sp>
        <p:nvSpPr>
          <p:cNvPr id="20" name="Shape 18"/>
          <p:cNvSpPr/>
          <p:nvPr/>
        </p:nvSpPr>
        <p:spPr>
          <a:xfrm>
            <a:off x="5980176" y="1919968"/>
            <a:ext cx="2615184" cy="356616"/>
          </a:xfrm>
          <a:prstGeom prst="rect">
            <a:avLst/>
          </a:prstGeom>
          <a:solidFill>
            <a:srgbClr val="161D28"/>
          </a:solidFill>
          <a:ln w="12700">
            <a:solidFill>
              <a:srgbClr val="243044"/>
            </a:solidFill>
            <a:prstDash val="solid"/>
          </a:ln>
        </p:spPr>
      </p:sp>
      <p:sp>
        <p:nvSpPr>
          <p:cNvPr id="21" name="Shape 19"/>
          <p:cNvSpPr/>
          <p:nvPr/>
        </p:nvSpPr>
        <p:spPr>
          <a:xfrm>
            <a:off x="8668512" y="1919968"/>
            <a:ext cx="685800" cy="356616"/>
          </a:xfrm>
          <a:prstGeom prst="rect">
            <a:avLst/>
          </a:prstGeom>
          <a:solidFill>
            <a:srgbClr val="161D28"/>
          </a:solidFill>
          <a:ln w="12700">
            <a:solidFill>
              <a:srgbClr val="243044"/>
            </a:solidFill>
            <a:prstDash val="solid"/>
          </a:ln>
        </p:spPr>
      </p:sp>
      <p:sp>
        <p:nvSpPr>
          <p:cNvPr id="22" name="Text 20"/>
          <p:cNvSpPr/>
          <p:nvPr/>
        </p:nvSpPr>
        <p:spPr>
          <a:xfrm>
            <a:off x="301752" y="2002264"/>
            <a:ext cx="1261872" cy="219456"/>
          </a:xfrm>
          <a:prstGeom prst="rect">
            <a:avLst/>
          </a:prstGeom>
          <a:noFill/>
          <a:ln/>
        </p:spPr>
        <p:txBody>
          <a:bodyPr wrap="square" lIns="0" tIns="0" rIns="0" bIns="0" rtlCol="0" anchor="ctr"/>
          <a:lstStyle/>
          <a:p>
            <a:pPr indent="0" marL="0">
              <a:buNone/>
            </a:pPr>
            <a:r>
              <a:rPr lang="en-US" sz="1000" b="1" dirty="0">
                <a:solidFill>
                  <a:srgbClr val="EFF3FA"/>
                </a:solidFill>
                <a:latin typeface="Calibri" pitchFamily="34" charset="0"/>
                <a:ea typeface="Calibri" pitchFamily="34" charset="-122"/>
                <a:cs typeface="Calibri" pitchFamily="34" charset="-120"/>
              </a:rPr>
              <a:t>IT Service Mgmt</a:t>
            </a:r>
            <a:endParaRPr lang="en-US" sz="1000" dirty="0"/>
          </a:p>
        </p:txBody>
      </p:sp>
      <p:sp>
        <p:nvSpPr>
          <p:cNvPr id="23" name="Text 21"/>
          <p:cNvSpPr/>
          <p:nvPr/>
        </p:nvSpPr>
        <p:spPr>
          <a:xfrm>
            <a:off x="1792224" y="2002264"/>
            <a:ext cx="1545336" cy="219456"/>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ServiceNow</a:t>
            </a:r>
            <a:endParaRPr lang="en-US" sz="950" dirty="0"/>
          </a:p>
        </p:txBody>
      </p:sp>
      <p:sp>
        <p:nvSpPr>
          <p:cNvPr id="24" name="Text 22"/>
          <p:cNvSpPr/>
          <p:nvPr/>
        </p:nvSpPr>
        <p:spPr>
          <a:xfrm>
            <a:off x="3557016" y="2002264"/>
            <a:ext cx="2286000" cy="219456"/>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iTop / GLPI / Zammad</a:t>
            </a:r>
            <a:endParaRPr lang="en-US" sz="950" dirty="0"/>
          </a:p>
        </p:txBody>
      </p:sp>
      <p:sp>
        <p:nvSpPr>
          <p:cNvPr id="25" name="Text 23"/>
          <p:cNvSpPr/>
          <p:nvPr/>
        </p:nvSpPr>
        <p:spPr>
          <a:xfrm>
            <a:off x="6053328" y="1965688"/>
            <a:ext cx="2468880" cy="274320"/>
          </a:xfrm>
          <a:prstGeom prst="rect">
            <a:avLst/>
          </a:prstGeom>
          <a:noFill/>
          <a:ln/>
        </p:spPr>
        <p:txBody>
          <a:bodyPr wrap="square" lIns="0" tIns="0" rIns="0" bIns="0" rtlCol="0" anchor="ctr"/>
          <a:lstStyle/>
          <a:p>
            <a:pPr indent="0" marL="0">
              <a:buNone/>
            </a:pPr>
            <a:r>
              <a:rPr lang="en-US" sz="900" dirty="0">
                <a:solidFill>
                  <a:srgbClr val="7D8FA9"/>
                </a:solidFill>
                <a:latin typeface="Calibri" pitchFamily="34" charset="0"/>
                <a:ea typeface="Calibri" pitchFamily="34" charset="-122"/>
                <a:cs typeface="Calibri" pitchFamily="34" charset="-120"/>
              </a:rPr>
              <a:t>Incident triage, change orchestration, CMDB sync, self-healing ops</a:t>
            </a:r>
            <a:endParaRPr lang="en-US" sz="900" dirty="0"/>
          </a:p>
        </p:txBody>
      </p:sp>
      <p:sp>
        <p:nvSpPr>
          <p:cNvPr id="26" name="Text 24"/>
          <p:cNvSpPr/>
          <p:nvPr/>
        </p:nvSpPr>
        <p:spPr>
          <a:xfrm>
            <a:off x="8668512" y="2002264"/>
            <a:ext cx="685800" cy="219456"/>
          </a:xfrm>
          <a:prstGeom prst="rect">
            <a:avLst/>
          </a:prstGeom>
          <a:noFill/>
          <a:ln/>
        </p:spPr>
        <p:txBody>
          <a:bodyPr wrap="square" lIns="0" tIns="0" rIns="0" bIns="0" rtlCol="0" anchor="ctr"/>
          <a:lstStyle/>
          <a:p>
            <a:pPr algn="ctr" indent="0" marL="0">
              <a:buNone/>
            </a:pPr>
            <a:r>
              <a:rPr lang="en-US" sz="1000" b="1" dirty="0">
                <a:solidFill>
                  <a:srgbClr val="4D9EFF"/>
                </a:solidFill>
                <a:latin typeface="Calibri" pitchFamily="34" charset="0"/>
                <a:ea typeface="Calibri" pitchFamily="34" charset="-122"/>
                <a:cs typeface="Calibri" pitchFamily="34" charset="-120"/>
              </a:rPr>
              <a:t>1</a:t>
            </a:r>
            <a:endParaRPr lang="en-US" sz="1000" dirty="0"/>
          </a:p>
        </p:txBody>
      </p:sp>
      <p:sp>
        <p:nvSpPr>
          <p:cNvPr id="27" name="Shape 25"/>
          <p:cNvSpPr/>
          <p:nvPr/>
        </p:nvSpPr>
        <p:spPr>
          <a:xfrm>
            <a:off x="228600" y="2294872"/>
            <a:ext cx="1417320" cy="356616"/>
          </a:xfrm>
          <a:prstGeom prst="rect">
            <a:avLst/>
          </a:prstGeom>
          <a:solidFill>
            <a:srgbClr val="131920"/>
          </a:solidFill>
          <a:ln w="12700">
            <a:solidFill>
              <a:srgbClr val="243044"/>
            </a:solidFill>
            <a:prstDash val="solid"/>
          </a:ln>
        </p:spPr>
      </p:sp>
      <p:sp>
        <p:nvSpPr>
          <p:cNvPr id="28" name="Shape 26"/>
          <p:cNvSpPr/>
          <p:nvPr/>
        </p:nvSpPr>
        <p:spPr>
          <a:xfrm>
            <a:off x="1719072" y="2294872"/>
            <a:ext cx="1691640" cy="356616"/>
          </a:xfrm>
          <a:prstGeom prst="rect">
            <a:avLst/>
          </a:prstGeom>
          <a:solidFill>
            <a:srgbClr val="131920"/>
          </a:solidFill>
          <a:ln w="12700">
            <a:solidFill>
              <a:srgbClr val="243044"/>
            </a:solidFill>
            <a:prstDash val="solid"/>
          </a:ln>
        </p:spPr>
      </p:sp>
      <p:sp>
        <p:nvSpPr>
          <p:cNvPr id="29" name="Shape 27"/>
          <p:cNvSpPr/>
          <p:nvPr/>
        </p:nvSpPr>
        <p:spPr>
          <a:xfrm>
            <a:off x="3483864" y="2294872"/>
            <a:ext cx="2423160" cy="356616"/>
          </a:xfrm>
          <a:prstGeom prst="rect">
            <a:avLst/>
          </a:prstGeom>
          <a:solidFill>
            <a:srgbClr val="131920"/>
          </a:solidFill>
          <a:ln w="12700">
            <a:solidFill>
              <a:srgbClr val="243044"/>
            </a:solidFill>
            <a:prstDash val="solid"/>
          </a:ln>
        </p:spPr>
      </p:sp>
      <p:sp>
        <p:nvSpPr>
          <p:cNvPr id="30" name="Shape 28"/>
          <p:cNvSpPr/>
          <p:nvPr/>
        </p:nvSpPr>
        <p:spPr>
          <a:xfrm>
            <a:off x="5980176" y="2294872"/>
            <a:ext cx="2615184" cy="356616"/>
          </a:xfrm>
          <a:prstGeom prst="rect">
            <a:avLst/>
          </a:prstGeom>
          <a:solidFill>
            <a:srgbClr val="131920"/>
          </a:solidFill>
          <a:ln w="12700">
            <a:solidFill>
              <a:srgbClr val="243044"/>
            </a:solidFill>
            <a:prstDash val="solid"/>
          </a:ln>
        </p:spPr>
      </p:sp>
      <p:sp>
        <p:nvSpPr>
          <p:cNvPr id="31" name="Shape 29"/>
          <p:cNvSpPr/>
          <p:nvPr/>
        </p:nvSpPr>
        <p:spPr>
          <a:xfrm>
            <a:off x="8668512" y="2294872"/>
            <a:ext cx="685800" cy="356616"/>
          </a:xfrm>
          <a:prstGeom prst="rect">
            <a:avLst/>
          </a:prstGeom>
          <a:solidFill>
            <a:srgbClr val="131920"/>
          </a:solidFill>
          <a:ln w="12700">
            <a:solidFill>
              <a:srgbClr val="243044"/>
            </a:solidFill>
            <a:prstDash val="solid"/>
          </a:ln>
        </p:spPr>
      </p:sp>
      <p:sp>
        <p:nvSpPr>
          <p:cNvPr id="32" name="Text 30"/>
          <p:cNvSpPr/>
          <p:nvPr/>
        </p:nvSpPr>
        <p:spPr>
          <a:xfrm>
            <a:off x="301752" y="2377168"/>
            <a:ext cx="1261872" cy="219456"/>
          </a:xfrm>
          <a:prstGeom prst="rect">
            <a:avLst/>
          </a:prstGeom>
          <a:noFill/>
          <a:ln/>
        </p:spPr>
        <p:txBody>
          <a:bodyPr wrap="square" lIns="0" tIns="0" rIns="0" bIns="0" rtlCol="0" anchor="ctr"/>
          <a:lstStyle/>
          <a:p>
            <a:pPr indent="0" marL="0">
              <a:buNone/>
            </a:pPr>
            <a:r>
              <a:rPr lang="en-US" sz="1000" b="1" dirty="0">
                <a:solidFill>
                  <a:srgbClr val="EFF3FA"/>
                </a:solidFill>
                <a:latin typeface="Calibri" pitchFamily="34" charset="0"/>
                <a:ea typeface="Calibri" pitchFamily="34" charset="-122"/>
                <a:cs typeface="Calibri" pitchFamily="34" charset="-120"/>
              </a:rPr>
              <a:t>CRM &amp; Sales</a:t>
            </a:r>
            <a:endParaRPr lang="en-US" sz="1000" dirty="0"/>
          </a:p>
        </p:txBody>
      </p:sp>
      <p:sp>
        <p:nvSpPr>
          <p:cNvPr id="33" name="Text 31"/>
          <p:cNvSpPr/>
          <p:nvPr/>
        </p:nvSpPr>
        <p:spPr>
          <a:xfrm>
            <a:off x="1792224" y="2377168"/>
            <a:ext cx="1545336" cy="219456"/>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Salesforce</a:t>
            </a:r>
            <a:endParaRPr lang="en-US" sz="950" dirty="0"/>
          </a:p>
        </p:txBody>
      </p:sp>
      <p:sp>
        <p:nvSpPr>
          <p:cNvPr id="34" name="Text 32"/>
          <p:cNvSpPr/>
          <p:nvPr/>
        </p:nvSpPr>
        <p:spPr>
          <a:xfrm>
            <a:off x="3557016" y="2377168"/>
            <a:ext cx="2286000" cy="219456"/>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SuiteCRM / Twenty / Odoo CRM</a:t>
            </a:r>
            <a:endParaRPr lang="en-US" sz="950" dirty="0"/>
          </a:p>
        </p:txBody>
      </p:sp>
      <p:sp>
        <p:nvSpPr>
          <p:cNvPr id="35" name="Text 33"/>
          <p:cNvSpPr/>
          <p:nvPr/>
        </p:nvSpPr>
        <p:spPr>
          <a:xfrm>
            <a:off x="6053328" y="2340592"/>
            <a:ext cx="2468880" cy="274320"/>
          </a:xfrm>
          <a:prstGeom prst="rect">
            <a:avLst/>
          </a:prstGeom>
          <a:noFill/>
          <a:ln/>
        </p:spPr>
        <p:txBody>
          <a:bodyPr wrap="square" lIns="0" tIns="0" rIns="0" bIns="0" rtlCol="0" anchor="ctr"/>
          <a:lstStyle/>
          <a:p>
            <a:pPr indent="0" marL="0">
              <a:buNone/>
            </a:pPr>
            <a:r>
              <a:rPr lang="en-US" sz="900" dirty="0">
                <a:solidFill>
                  <a:srgbClr val="7D8FA9"/>
                </a:solidFill>
                <a:latin typeface="Calibri" pitchFamily="34" charset="0"/>
                <a:ea typeface="Calibri" pitchFamily="34" charset="-122"/>
                <a:cs typeface="Calibri" pitchFamily="34" charset="-120"/>
              </a:rPr>
              <a:t>Lead intelligence, account context, pipeline automation, follow-up</a:t>
            </a:r>
            <a:endParaRPr lang="en-US" sz="900" dirty="0"/>
          </a:p>
        </p:txBody>
      </p:sp>
      <p:sp>
        <p:nvSpPr>
          <p:cNvPr id="36" name="Text 34"/>
          <p:cNvSpPr/>
          <p:nvPr/>
        </p:nvSpPr>
        <p:spPr>
          <a:xfrm>
            <a:off x="8668512" y="2377168"/>
            <a:ext cx="685800" cy="219456"/>
          </a:xfrm>
          <a:prstGeom prst="rect">
            <a:avLst/>
          </a:prstGeom>
          <a:noFill/>
          <a:ln/>
        </p:spPr>
        <p:txBody>
          <a:bodyPr wrap="square" lIns="0" tIns="0" rIns="0" bIns="0" rtlCol="0" anchor="ctr"/>
          <a:lstStyle/>
          <a:p>
            <a:pPr algn="ctr" indent="0" marL="0">
              <a:buNone/>
            </a:pPr>
            <a:r>
              <a:rPr lang="en-US" sz="1000" b="1" dirty="0">
                <a:solidFill>
                  <a:srgbClr val="00C9A7"/>
                </a:solidFill>
                <a:latin typeface="Calibri" pitchFamily="34" charset="0"/>
                <a:ea typeface="Calibri" pitchFamily="34" charset="-122"/>
                <a:cs typeface="Calibri" pitchFamily="34" charset="-120"/>
              </a:rPr>
              <a:t>2</a:t>
            </a:r>
            <a:endParaRPr lang="en-US" sz="1000" dirty="0"/>
          </a:p>
        </p:txBody>
      </p:sp>
      <p:sp>
        <p:nvSpPr>
          <p:cNvPr id="37" name="Shape 35"/>
          <p:cNvSpPr/>
          <p:nvPr/>
        </p:nvSpPr>
        <p:spPr>
          <a:xfrm>
            <a:off x="228600" y="2669776"/>
            <a:ext cx="1417320" cy="356616"/>
          </a:xfrm>
          <a:prstGeom prst="rect">
            <a:avLst/>
          </a:prstGeom>
          <a:solidFill>
            <a:srgbClr val="161D28"/>
          </a:solidFill>
          <a:ln w="12700">
            <a:solidFill>
              <a:srgbClr val="243044"/>
            </a:solidFill>
            <a:prstDash val="solid"/>
          </a:ln>
        </p:spPr>
      </p:sp>
      <p:sp>
        <p:nvSpPr>
          <p:cNvPr id="38" name="Shape 36"/>
          <p:cNvSpPr/>
          <p:nvPr/>
        </p:nvSpPr>
        <p:spPr>
          <a:xfrm>
            <a:off x="1719072" y="2669776"/>
            <a:ext cx="1691640" cy="356616"/>
          </a:xfrm>
          <a:prstGeom prst="rect">
            <a:avLst/>
          </a:prstGeom>
          <a:solidFill>
            <a:srgbClr val="161D28"/>
          </a:solidFill>
          <a:ln w="12700">
            <a:solidFill>
              <a:srgbClr val="243044"/>
            </a:solidFill>
            <a:prstDash val="solid"/>
          </a:ln>
        </p:spPr>
      </p:sp>
      <p:sp>
        <p:nvSpPr>
          <p:cNvPr id="39" name="Shape 37"/>
          <p:cNvSpPr/>
          <p:nvPr/>
        </p:nvSpPr>
        <p:spPr>
          <a:xfrm>
            <a:off x="3483864" y="2669776"/>
            <a:ext cx="2423160" cy="356616"/>
          </a:xfrm>
          <a:prstGeom prst="rect">
            <a:avLst/>
          </a:prstGeom>
          <a:solidFill>
            <a:srgbClr val="161D28"/>
          </a:solidFill>
          <a:ln w="12700">
            <a:solidFill>
              <a:srgbClr val="243044"/>
            </a:solidFill>
            <a:prstDash val="solid"/>
          </a:ln>
        </p:spPr>
      </p:sp>
      <p:sp>
        <p:nvSpPr>
          <p:cNvPr id="40" name="Shape 38"/>
          <p:cNvSpPr/>
          <p:nvPr/>
        </p:nvSpPr>
        <p:spPr>
          <a:xfrm>
            <a:off x="5980176" y="2669776"/>
            <a:ext cx="2615184" cy="356616"/>
          </a:xfrm>
          <a:prstGeom prst="rect">
            <a:avLst/>
          </a:prstGeom>
          <a:solidFill>
            <a:srgbClr val="161D28"/>
          </a:solidFill>
          <a:ln w="12700">
            <a:solidFill>
              <a:srgbClr val="243044"/>
            </a:solidFill>
            <a:prstDash val="solid"/>
          </a:ln>
        </p:spPr>
      </p:sp>
      <p:sp>
        <p:nvSpPr>
          <p:cNvPr id="41" name="Shape 39"/>
          <p:cNvSpPr/>
          <p:nvPr/>
        </p:nvSpPr>
        <p:spPr>
          <a:xfrm>
            <a:off x="8668512" y="2669776"/>
            <a:ext cx="685800" cy="356616"/>
          </a:xfrm>
          <a:prstGeom prst="rect">
            <a:avLst/>
          </a:prstGeom>
          <a:solidFill>
            <a:srgbClr val="161D28"/>
          </a:solidFill>
          <a:ln w="12700">
            <a:solidFill>
              <a:srgbClr val="243044"/>
            </a:solidFill>
            <a:prstDash val="solid"/>
          </a:ln>
        </p:spPr>
      </p:sp>
      <p:sp>
        <p:nvSpPr>
          <p:cNvPr id="42" name="Text 40"/>
          <p:cNvSpPr/>
          <p:nvPr/>
        </p:nvSpPr>
        <p:spPr>
          <a:xfrm>
            <a:off x="301752" y="2752072"/>
            <a:ext cx="1261872" cy="219456"/>
          </a:xfrm>
          <a:prstGeom prst="rect">
            <a:avLst/>
          </a:prstGeom>
          <a:noFill/>
          <a:ln/>
        </p:spPr>
        <p:txBody>
          <a:bodyPr wrap="square" lIns="0" tIns="0" rIns="0" bIns="0" rtlCol="0" anchor="ctr"/>
          <a:lstStyle/>
          <a:p>
            <a:pPr indent="0" marL="0">
              <a:buNone/>
            </a:pPr>
            <a:r>
              <a:rPr lang="en-US" sz="1000" b="1" dirty="0">
                <a:solidFill>
                  <a:srgbClr val="EFF3FA"/>
                </a:solidFill>
                <a:latin typeface="Calibri" pitchFamily="34" charset="0"/>
                <a:ea typeface="Calibri" pitchFamily="34" charset="-122"/>
                <a:cs typeface="Calibri" pitchFamily="34" charset="-120"/>
              </a:rPr>
              <a:t>ERP &amp; Finance</a:t>
            </a:r>
            <a:endParaRPr lang="en-US" sz="1000" dirty="0"/>
          </a:p>
        </p:txBody>
      </p:sp>
      <p:sp>
        <p:nvSpPr>
          <p:cNvPr id="43" name="Text 41"/>
          <p:cNvSpPr/>
          <p:nvPr/>
        </p:nvSpPr>
        <p:spPr>
          <a:xfrm>
            <a:off x="1792224" y="2752072"/>
            <a:ext cx="1545336" cy="219456"/>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SAP / Oracle</a:t>
            </a:r>
            <a:endParaRPr lang="en-US" sz="950" dirty="0"/>
          </a:p>
        </p:txBody>
      </p:sp>
      <p:sp>
        <p:nvSpPr>
          <p:cNvPr id="44" name="Text 42"/>
          <p:cNvSpPr/>
          <p:nvPr/>
        </p:nvSpPr>
        <p:spPr>
          <a:xfrm>
            <a:off x="3557016" y="2752072"/>
            <a:ext cx="2286000" cy="219456"/>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Odoo / ERPNext / Dolibarr</a:t>
            </a:r>
            <a:endParaRPr lang="en-US" sz="950" dirty="0"/>
          </a:p>
        </p:txBody>
      </p:sp>
      <p:sp>
        <p:nvSpPr>
          <p:cNvPr id="45" name="Text 43"/>
          <p:cNvSpPr/>
          <p:nvPr/>
        </p:nvSpPr>
        <p:spPr>
          <a:xfrm>
            <a:off x="6053328" y="2715496"/>
            <a:ext cx="2468880" cy="274320"/>
          </a:xfrm>
          <a:prstGeom prst="rect">
            <a:avLst/>
          </a:prstGeom>
          <a:noFill/>
          <a:ln/>
        </p:spPr>
        <p:txBody>
          <a:bodyPr wrap="square" lIns="0" tIns="0" rIns="0" bIns="0" rtlCol="0" anchor="ctr"/>
          <a:lstStyle/>
          <a:p>
            <a:pPr indent="0" marL="0">
              <a:buNone/>
            </a:pPr>
            <a:r>
              <a:rPr lang="en-US" sz="900" dirty="0">
                <a:solidFill>
                  <a:srgbClr val="7D8FA9"/>
                </a:solidFill>
                <a:latin typeface="Calibri" pitchFamily="34" charset="0"/>
                <a:ea typeface="Calibri" pitchFamily="34" charset="-122"/>
                <a:cs typeface="Calibri" pitchFamily="34" charset="-120"/>
              </a:rPr>
              <a:t>Procurement flows, financial close, inventory, supply chain agents</a:t>
            </a:r>
            <a:endParaRPr lang="en-US" sz="900" dirty="0"/>
          </a:p>
        </p:txBody>
      </p:sp>
      <p:sp>
        <p:nvSpPr>
          <p:cNvPr id="46" name="Text 44"/>
          <p:cNvSpPr/>
          <p:nvPr/>
        </p:nvSpPr>
        <p:spPr>
          <a:xfrm>
            <a:off x="8668512" y="2752072"/>
            <a:ext cx="685800" cy="219456"/>
          </a:xfrm>
          <a:prstGeom prst="rect">
            <a:avLst/>
          </a:prstGeom>
          <a:noFill/>
          <a:ln/>
        </p:spPr>
        <p:txBody>
          <a:bodyPr wrap="square" lIns="0" tIns="0" rIns="0" bIns="0" rtlCol="0" anchor="ctr"/>
          <a:lstStyle/>
          <a:p>
            <a:pPr algn="ctr" indent="0" marL="0">
              <a:buNone/>
            </a:pPr>
            <a:r>
              <a:rPr lang="en-US" sz="1000" b="1" dirty="0">
                <a:solidFill>
                  <a:srgbClr val="E3B341"/>
                </a:solidFill>
                <a:latin typeface="Calibri" pitchFamily="34" charset="0"/>
                <a:ea typeface="Calibri" pitchFamily="34" charset="-122"/>
                <a:cs typeface="Calibri" pitchFamily="34" charset="-120"/>
              </a:rPr>
              <a:t>3</a:t>
            </a:r>
            <a:endParaRPr lang="en-US" sz="1000" dirty="0"/>
          </a:p>
        </p:txBody>
      </p:sp>
      <p:sp>
        <p:nvSpPr>
          <p:cNvPr id="47" name="Shape 45"/>
          <p:cNvSpPr/>
          <p:nvPr/>
        </p:nvSpPr>
        <p:spPr>
          <a:xfrm>
            <a:off x="228600" y="3044680"/>
            <a:ext cx="1417320" cy="356616"/>
          </a:xfrm>
          <a:prstGeom prst="rect">
            <a:avLst/>
          </a:prstGeom>
          <a:solidFill>
            <a:srgbClr val="131920"/>
          </a:solidFill>
          <a:ln w="12700">
            <a:solidFill>
              <a:srgbClr val="243044"/>
            </a:solidFill>
            <a:prstDash val="solid"/>
          </a:ln>
        </p:spPr>
      </p:sp>
      <p:sp>
        <p:nvSpPr>
          <p:cNvPr id="48" name="Shape 46"/>
          <p:cNvSpPr/>
          <p:nvPr/>
        </p:nvSpPr>
        <p:spPr>
          <a:xfrm>
            <a:off x="1719072" y="3044680"/>
            <a:ext cx="1691640" cy="356616"/>
          </a:xfrm>
          <a:prstGeom prst="rect">
            <a:avLst/>
          </a:prstGeom>
          <a:solidFill>
            <a:srgbClr val="131920"/>
          </a:solidFill>
          <a:ln w="12700">
            <a:solidFill>
              <a:srgbClr val="243044"/>
            </a:solidFill>
            <a:prstDash val="solid"/>
          </a:ln>
        </p:spPr>
      </p:sp>
      <p:sp>
        <p:nvSpPr>
          <p:cNvPr id="49" name="Shape 47"/>
          <p:cNvSpPr/>
          <p:nvPr/>
        </p:nvSpPr>
        <p:spPr>
          <a:xfrm>
            <a:off x="3483864" y="3044680"/>
            <a:ext cx="2423160" cy="356616"/>
          </a:xfrm>
          <a:prstGeom prst="rect">
            <a:avLst/>
          </a:prstGeom>
          <a:solidFill>
            <a:srgbClr val="131920"/>
          </a:solidFill>
          <a:ln w="12700">
            <a:solidFill>
              <a:srgbClr val="243044"/>
            </a:solidFill>
            <a:prstDash val="solid"/>
          </a:ln>
        </p:spPr>
      </p:sp>
      <p:sp>
        <p:nvSpPr>
          <p:cNvPr id="50" name="Shape 48"/>
          <p:cNvSpPr/>
          <p:nvPr/>
        </p:nvSpPr>
        <p:spPr>
          <a:xfrm>
            <a:off x="5980176" y="3044680"/>
            <a:ext cx="2615184" cy="356616"/>
          </a:xfrm>
          <a:prstGeom prst="rect">
            <a:avLst/>
          </a:prstGeom>
          <a:solidFill>
            <a:srgbClr val="131920"/>
          </a:solidFill>
          <a:ln w="12700">
            <a:solidFill>
              <a:srgbClr val="243044"/>
            </a:solidFill>
            <a:prstDash val="solid"/>
          </a:ln>
        </p:spPr>
      </p:sp>
      <p:sp>
        <p:nvSpPr>
          <p:cNvPr id="51" name="Shape 49"/>
          <p:cNvSpPr/>
          <p:nvPr/>
        </p:nvSpPr>
        <p:spPr>
          <a:xfrm>
            <a:off x="8668512" y="3044680"/>
            <a:ext cx="685800" cy="356616"/>
          </a:xfrm>
          <a:prstGeom prst="rect">
            <a:avLst/>
          </a:prstGeom>
          <a:solidFill>
            <a:srgbClr val="131920"/>
          </a:solidFill>
          <a:ln w="12700">
            <a:solidFill>
              <a:srgbClr val="243044"/>
            </a:solidFill>
            <a:prstDash val="solid"/>
          </a:ln>
        </p:spPr>
      </p:sp>
      <p:sp>
        <p:nvSpPr>
          <p:cNvPr id="52" name="Text 50"/>
          <p:cNvSpPr/>
          <p:nvPr/>
        </p:nvSpPr>
        <p:spPr>
          <a:xfrm>
            <a:off x="301752" y="3126976"/>
            <a:ext cx="1261872" cy="219456"/>
          </a:xfrm>
          <a:prstGeom prst="rect">
            <a:avLst/>
          </a:prstGeom>
          <a:noFill/>
          <a:ln/>
        </p:spPr>
        <p:txBody>
          <a:bodyPr wrap="square" lIns="0" tIns="0" rIns="0" bIns="0" rtlCol="0" anchor="ctr"/>
          <a:lstStyle/>
          <a:p>
            <a:pPr indent="0" marL="0">
              <a:buNone/>
            </a:pPr>
            <a:r>
              <a:rPr lang="en-US" sz="1000" b="1" dirty="0">
                <a:solidFill>
                  <a:srgbClr val="EFF3FA"/>
                </a:solidFill>
                <a:latin typeface="Calibri" pitchFamily="34" charset="0"/>
                <a:ea typeface="Calibri" pitchFamily="34" charset="-122"/>
                <a:cs typeface="Calibri" pitchFamily="34" charset="-120"/>
              </a:rPr>
              <a:t>HR &amp; Workforce</a:t>
            </a:r>
            <a:endParaRPr lang="en-US" sz="1000" dirty="0"/>
          </a:p>
        </p:txBody>
      </p:sp>
      <p:sp>
        <p:nvSpPr>
          <p:cNvPr id="53" name="Text 51"/>
          <p:cNvSpPr/>
          <p:nvPr/>
        </p:nvSpPr>
        <p:spPr>
          <a:xfrm>
            <a:off x="1792224" y="3126976"/>
            <a:ext cx="1545336" cy="219456"/>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Workday / SuccessFactors</a:t>
            </a:r>
            <a:endParaRPr lang="en-US" sz="950" dirty="0"/>
          </a:p>
        </p:txBody>
      </p:sp>
      <p:sp>
        <p:nvSpPr>
          <p:cNvPr id="54" name="Text 52"/>
          <p:cNvSpPr/>
          <p:nvPr/>
        </p:nvSpPr>
        <p:spPr>
          <a:xfrm>
            <a:off x="3557016" y="3126976"/>
            <a:ext cx="2286000" cy="219456"/>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OrangeHRM / Sentrifugo / Odoo HR</a:t>
            </a:r>
            <a:endParaRPr lang="en-US" sz="950" dirty="0"/>
          </a:p>
        </p:txBody>
      </p:sp>
      <p:sp>
        <p:nvSpPr>
          <p:cNvPr id="55" name="Text 53"/>
          <p:cNvSpPr/>
          <p:nvPr/>
        </p:nvSpPr>
        <p:spPr>
          <a:xfrm>
            <a:off x="6053328" y="3090400"/>
            <a:ext cx="2468880" cy="274320"/>
          </a:xfrm>
          <a:prstGeom prst="rect">
            <a:avLst/>
          </a:prstGeom>
          <a:noFill/>
          <a:ln/>
        </p:spPr>
        <p:txBody>
          <a:bodyPr wrap="square" lIns="0" tIns="0" rIns="0" bIns="0" rtlCol="0" anchor="ctr"/>
          <a:lstStyle/>
          <a:p>
            <a:pPr indent="0" marL="0">
              <a:buNone/>
            </a:pPr>
            <a:r>
              <a:rPr lang="en-US" sz="900" dirty="0">
                <a:solidFill>
                  <a:srgbClr val="7D8FA9"/>
                </a:solidFill>
                <a:latin typeface="Calibri" pitchFamily="34" charset="0"/>
                <a:ea typeface="Calibri" pitchFamily="34" charset="-122"/>
                <a:cs typeface="Calibri" pitchFamily="34" charset="-120"/>
              </a:rPr>
              <a:t>Onboarding automation, policy agents, workforce analytics</a:t>
            </a:r>
            <a:endParaRPr lang="en-US" sz="900" dirty="0"/>
          </a:p>
        </p:txBody>
      </p:sp>
      <p:sp>
        <p:nvSpPr>
          <p:cNvPr id="56" name="Text 54"/>
          <p:cNvSpPr/>
          <p:nvPr/>
        </p:nvSpPr>
        <p:spPr>
          <a:xfrm>
            <a:off x="8668512" y="3126976"/>
            <a:ext cx="685800" cy="219456"/>
          </a:xfrm>
          <a:prstGeom prst="rect">
            <a:avLst/>
          </a:prstGeom>
          <a:noFill/>
          <a:ln/>
        </p:spPr>
        <p:txBody>
          <a:bodyPr wrap="square" lIns="0" tIns="0" rIns="0" bIns="0" rtlCol="0" anchor="ctr"/>
          <a:lstStyle/>
          <a:p>
            <a:pPr algn="ctr" indent="0" marL="0">
              <a:buNone/>
            </a:pPr>
            <a:r>
              <a:rPr lang="en-US" sz="1000" b="1" dirty="0">
                <a:solidFill>
                  <a:srgbClr val="00C9A7"/>
                </a:solidFill>
                <a:latin typeface="Calibri" pitchFamily="34" charset="0"/>
                <a:ea typeface="Calibri" pitchFamily="34" charset="-122"/>
                <a:cs typeface="Calibri" pitchFamily="34" charset="-120"/>
              </a:rPr>
              <a:t>2</a:t>
            </a:r>
            <a:endParaRPr lang="en-US" sz="1000" dirty="0"/>
          </a:p>
        </p:txBody>
      </p:sp>
      <p:sp>
        <p:nvSpPr>
          <p:cNvPr id="57" name="Shape 55"/>
          <p:cNvSpPr/>
          <p:nvPr/>
        </p:nvSpPr>
        <p:spPr>
          <a:xfrm>
            <a:off x="228600" y="3419584"/>
            <a:ext cx="1417320" cy="356616"/>
          </a:xfrm>
          <a:prstGeom prst="rect">
            <a:avLst/>
          </a:prstGeom>
          <a:solidFill>
            <a:srgbClr val="161D28"/>
          </a:solidFill>
          <a:ln w="12700">
            <a:solidFill>
              <a:srgbClr val="243044"/>
            </a:solidFill>
            <a:prstDash val="solid"/>
          </a:ln>
        </p:spPr>
      </p:sp>
      <p:sp>
        <p:nvSpPr>
          <p:cNvPr id="58" name="Shape 56"/>
          <p:cNvSpPr/>
          <p:nvPr/>
        </p:nvSpPr>
        <p:spPr>
          <a:xfrm>
            <a:off x="1719072" y="3419584"/>
            <a:ext cx="1691640" cy="356616"/>
          </a:xfrm>
          <a:prstGeom prst="rect">
            <a:avLst/>
          </a:prstGeom>
          <a:solidFill>
            <a:srgbClr val="161D28"/>
          </a:solidFill>
          <a:ln w="12700">
            <a:solidFill>
              <a:srgbClr val="243044"/>
            </a:solidFill>
            <a:prstDash val="solid"/>
          </a:ln>
        </p:spPr>
      </p:sp>
      <p:sp>
        <p:nvSpPr>
          <p:cNvPr id="59" name="Shape 57"/>
          <p:cNvSpPr/>
          <p:nvPr/>
        </p:nvSpPr>
        <p:spPr>
          <a:xfrm>
            <a:off x="3483864" y="3419584"/>
            <a:ext cx="2423160" cy="356616"/>
          </a:xfrm>
          <a:prstGeom prst="rect">
            <a:avLst/>
          </a:prstGeom>
          <a:solidFill>
            <a:srgbClr val="161D28"/>
          </a:solidFill>
          <a:ln w="12700">
            <a:solidFill>
              <a:srgbClr val="243044"/>
            </a:solidFill>
            <a:prstDash val="solid"/>
          </a:ln>
        </p:spPr>
      </p:sp>
      <p:sp>
        <p:nvSpPr>
          <p:cNvPr id="60" name="Shape 58"/>
          <p:cNvSpPr/>
          <p:nvPr/>
        </p:nvSpPr>
        <p:spPr>
          <a:xfrm>
            <a:off x="5980176" y="3419584"/>
            <a:ext cx="2615184" cy="356616"/>
          </a:xfrm>
          <a:prstGeom prst="rect">
            <a:avLst/>
          </a:prstGeom>
          <a:solidFill>
            <a:srgbClr val="161D28"/>
          </a:solidFill>
          <a:ln w="12700">
            <a:solidFill>
              <a:srgbClr val="243044"/>
            </a:solidFill>
            <a:prstDash val="solid"/>
          </a:ln>
        </p:spPr>
      </p:sp>
      <p:sp>
        <p:nvSpPr>
          <p:cNvPr id="61" name="Shape 59"/>
          <p:cNvSpPr/>
          <p:nvPr/>
        </p:nvSpPr>
        <p:spPr>
          <a:xfrm>
            <a:off x="8668512" y="3419584"/>
            <a:ext cx="685800" cy="356616"/>
          </a:xfrm>
          <a:prstGeom prst="rect">
            <a:avLst/>
          </a:prstGeom>
          <a:solidFill>
            <a:srgbClr val="161D28"/>
          </a:solidFill>
          <a:ln w="12700">
            <a:solidFill>
              <a:srgbClr val="243044"/>
            </a:solidFill>
            <a:prstDash val="solid"/>
          </a:ln>
        </p:spPr>
      </p:sp>
      <p:sp>
        <p:nvSpPr>
          <p:cNvPr id="62" name="Text 60"/>
          <p:cNvSpPr/>
          <p:nvPr/>
        </p:nvSpPr>
        <p:spPr>
          <a:xfrm>
            <a:off x="301752" y="3501880"/>
            <a:ext cx="1261872" cy="219456"/>
          </a:xfrm>
          <a:prstGeom prst="rect">
            <a:avLst/>
          </a:prstGeom>
          <a:noFill/>
          <a:ln/>
        </p:spPr>
        <p:txBody>
          <a:bodyPr wrap="square" lIns="0" tIns="0" rIns="0" bIns="0" rtlCol="0" anchor="ctr"/>
          <a:lstStyle/>
          <a:p>
            <a:pPr indent="0" marL="0">
              <a:buNone/>
            </a:pPr>
            <a:r>
              <a:rPr lang="en-US" sz="1000" b="1" dirty="0">
                <a:solidFill>
                  <a:srgbClr val="EFF3FA"/>
                </a:solidFill>
                <a:latin typeface="Calibri" pitchFamily="34" charset="0"/>
                <a:ea typeface="Calibri" pitchFamily="34" charset="-122"/>
                <a:cs typeface="Calibri" pitchFamily="34" charset="-120"/>
              </a:rPr>
              <a:t>DevOps &amp; SDLC</a:t>
            </a:r>
            <a:endParaRPr lang="en-US" sz="1000" dirty="0"/>
          </a:p>
        </p:txBody>
      </p:sp>
      <p:sp>
        <p:nvSpPr>
          <p:cNvPr id="63" name="Text 61"/>
          <p:cNvSpPr/>
          <p:nvPr/>
        </p:nvSpPr>
        <p:spPr>
          <a:xfrm>
            <a:off x="1792224" y="3501880"/>
            <a:ext cx="1545336" cy="219456"/>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Jira / ServiceNow SPM</a:t>
            </a:r>
            <a:endParaRPr lang="en-US" sz="950" dirty="0"/>
          </a:p>
        </p:txBody>
      </p:sp>
      <p:sp>
        <p:nvSpPr>
          <p:cNvPr id="64" name="Text 62"/>
          <p:cNvSpPr/>
          <p:nvPr/>
        </p:nvSpPr>
        <p:spPr>
          <a:xfrm>
            <a:off x="3557016" y="3501880"/>
            <a:ext cx="2286000" cy="219456"/>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GitLab / Gitea / Taiga / Plane</a:t>
            </a:r>
            <a:endParaRPr lang="en-US" sz="950" dirty="0"/>
          </a:p>
        </p:txBody>
      </p:sp>
      <p:sp>
        <p:nvSpPr>
          <p:cNvPr id="65" name="Text 63"/>
          <p:cNvSpPr/>
          <p:nvPr/>
        </p:nvSpPr>
        <p:spPr>
          <a:xfrm>
            <a:off x="6053328" y="3465304"/>
            <a:ext cx="2468880" cy="274320"/>
          </a:xfrm>
          <a:prstGeom prst="rect">
            <a:avLst/>
          </a:prstGeom>
          <a:noFill/>
          <a:ln/>
        </p:spPr>
        <p:txBody>
          <a:bodyPr wrap="square" lIns="0" tIns="0" rIns="0" bIns="0" rtlCol="0" anchor="ctr"/>
          <a:lstStyle/>
          <a:p>
            <a:pPr indent="0" marL="0">
              <a:buNone/>
            </a:pPr>
            <a:r>
              <a:rPr lang="en-US" sz="900" dirty="0">
                <a:solidFill>
                  <a:srgbClr val="7D8FA9"/>
                </a:solidFill>
                <a:latin typeface="Calibri" pitchFamily="34" charset="0"/>
                <a:ea typeface="Calibri" pitchFamily="34" charset="-122"/>
                <a:cs typeface="Calibri" pitchFamily="34" charset="-120"/>
              </a:rPr>
              <a:t>Agentic CI/CD, sprint automation, code review, release intelligence</a:t>
            </a:r>
            <a:endParaRPr lang="en-US" sz="900" dirty="0"/>
          </a:p>
        </p:txBody>
      </p:sp>
      <p:sp>
        <p:nvSpPr>
          <p:cNvPr id="66" name="Text 64"/>
          <p:cNvSpPr/>
          <p:nvPr/>
        </p:nvSpPr>
        <p:spPr>
          <a:xfrm>
            <a:off x="8668512" y="3501880"/>
            <a:ext cx="685800" cy="219456"/>
          </a:xfrm>
          <a:prstGeom prst="rect">
            <a:avLst/>
          </a:prstGeom>
          <a:noFill/>
          <a:ln/>
        </p:spPr>
        <p:txBody>
          <a:bodyPr wrap="square" lIns="0" tIns="0" rIns="0" bIns="0" rtlCol="0" anchor="ctr"/>
          <a:lstStyle/>
          <a:p>
            <a:pPr algn="ctr" indent="0" marL="0">
              <a:buNone/>
            </a:pPr>
            <a:r>
              <a:rPr lang="en-US" sz="1000" b="1" dirty="0">
                <a:solidFill>
                  <a:srgbClr val="4D9EFF"/>
                </a:solidFill>
                <a:latin typeface="Calibri" pitchFamily="34" charset="0"/>
                <a:ea typeface="Calibri" pitchFamily="34" charset="-122"/>
                <a:cs typeface="Calibri" pitchFamily="34" charset="-120"/>
              </a:rPr>
              <a:t>1</a:t>
            </a:r>
            <a:endParaRPr lang="en-US" sz="1000" dirty="0"/>
          </a:p>
        </p:txBody>
      </p:sp>
      <p:sp>
        <p:nvSpPr>
          <p:cNvPr id="67" name="Shape 65"/>
          <p:cNvSpPr/>
          <p:nvPr/>
        </p:nvSpPr>
        <p:spPr>
          <a:xfrm>
            <a:off x="228600" y="3794488"/>
            <a:ext cx="1417320" cy="356616"/>
          </a:xfrm>
          <a:prstGeom prst="rect">
            <a:avLst/>
          </a:prstGeom>
          <a:solidFill>
            <a:srgbClr val="131920"/>
          </a:solidFill>
          <a:ln w="12700">
            <a:solidFill>
              <a:srgbClr val="243044"/>
            </a:solidFill>
            <a:prstDash val="solid"/>
          </a:ln>
        </p:spPr>
      </p:sp>
      <p:sp>
        <p:nvSpPr>
          <p:cNvPr id="68" name="Shape 66"/>
          <p:cNvSpPr/>
          <p:nvPr/>
        </p:nvSpPr>
        <p:spPr>
          <a:xfrm>
            <a:off x="1719072" y="3794488"/>
            <a:ext cx="1691640" cy="356616"/>
          </a:xfrm>
          <a:prstGeom prst="rect">
            <a:avLst/>
          </a:prstGeom>
          <a:solidFill>
            <a:srgbClr val="131920"/>
          </a:solidFill>
          <a:ln w="12700">
            <a:solidFill>
              <a:srgbClr val="243044"/>
            </a:solidFill>
            <a:prstDash val="solid"/>
          </a:ln>
        </p:spPr>
      </p:sp>
      <p:sp>
        <p:nvSpPr>
          <p:cNvPr id="69" name="Shape 67"/>
          <p:cNvSpPr/>
          <p:nvPr/>
        </p:nvSpPr>
        <p:spPr>
          <a:xfrm>
            <a:off x="3483864" y="3794488"/>
            <a:ext cx="2423160" cy="356616"/>
          </a:xfrm>
          <a:prstGeom prst="rect">
            <a:avLst/>
          </a:prstGeom>
          <a:solidFill>
            <a:srgbClr val="131920"/>
          </a:solidFill>
          <a:ln w="12700">
            <a:solidFill>
              <a:srgbClr val="243044"/>
            </a:solidFill>
            <a:prstDash val="solid"/>
          </a:ln>
        </p:spPr>
      </p:sp>
      <p:sp>
        <p:nvSpPr>
          <p:cNvPr id="70" name="Shape 68"/>
          <p:cNvSpPr/>
          <p:nvPr/>
        </p:nvSpPr>
        <p:spPr>
          <a:xfrm>
            <a:off x="5980176" y="3794488"/>
            <a:ext cx="2615184" cy="356616"/>
          </a:xfrm>
          <a:prstGeom prst="rect">
            <a:avLst/>
          </a:prstGeom>
          <a:solidFill>
            <a:srgbClr val="131920"/>
          </a:solidFill>
          <a:ln w="12700">
            <a:solidFill>
              <a:srgbClr val="243044"/>
            </a:solidFill>
            <a:prstDash val="solid"/>
          </a:ln>
        </p:spPr>
      </p:sp>
      <p:sp>
        <p:nvSpPr>
          <p:cNvPr id="71" name="Shape 69"/>
          <p:cNvSpPr/>
          <p:nvPr/>
        </p:nvSpPr>
        <p:spPr>
          <a:xfrm>
            <a:off x="8668512" y="3794488"/>
            <a:ext cx="685800" cy="356616"/>
          </a:xfrm>
          <a:prstGeom prst="rect">
            <a:avLst/>
          </a:prstGeom>
          <a:solidFill>
            <a:srgbClr val="131920"/>
          </a:solidFill>
          <a:ln w="12700">
            <a:solidFill>
              <a:srgbClr val="243044"/>
            </a:solidFill>
            <a:prstDash val="solid"/>
          </a:ln>
        </p:spPr>
      </p:sp>
      <p:sp>
        <p:nvSpPr>
          <p:cNvPr id="72" name="Text 70"/>
          <p:cNvSpPr/>
          <p:nvPr/>
        </p:nvSpPr>
        <p:spPr>
          <a:xfrm>
            <a:off x="301752" y="3876784"/>
            <a:ext cx="1261872" cy="219456"/>
          </a:xfrm>
          <a:prstGeom prst="rect">
            <a:avLst/>
          </a:prstGeom>
          <a:noFill/>
          <a:ln/>
        </p:spPr>
        <p:txBody>
          <a:bodyPr wrap="square" lIns="0" tIns="0" rIns="0" bIns="0" rtlCol="0" anchor="ctr"/>
          <a:lstStyle/>
          <a:p>
            <a:pPr indent="0" marL="0">
              <a:buNone/>
            </a:pPr>
            <a:r>
              <a:rPr lang="en-US" sz="1000" b="1" dirty="0">
                <a:solidFill>
                  <a:srgbClr val="EFF3FA"/>
                </a:solidFill>
                <a:latin typeface="Calibri" pitchFamily="34" charset="0"/>
                <a:ea typeface="Calibri" pitchFamily="34" charset="-122"/>
                <a:cs typeface="Calibri" pitchFamily="34" charset="-120"/>
              </a:rPr>
              <a:t>Collab &amp; Comms</a:t>
            </a:r>
            <a:endParaRPr lang="en-US" sz="1000" dirty="0"/>
          </a:p>
        </p:txBody>
      </p:sp>
      <p:sp>
        <p:nvSpPr>
          <p:cNvPr id="73" name="Text 71"/>
          <p:cNvSpPr/>
          <p:nvPr/>
        </p:nvSpPr>
        <p:spPr>
          <a:xfrm>
            <a:off x="1792224" y="3876784"/>
            <a:ext cx="1545336" cy="219456"/>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M365 / Teams Copilot</a:t>
            </a:r>
            <a:endParaRPr lang="en-US" sz="950" dirty="0"/>
          </a:p>
        </p:txBody>
      </p:sp>
      <p:sp>
        <p:nvSpPr>
          <p:cNvPr id="74" name="Text 72"/>
          <p:cNvSpPr/>
          <p:nvPr/>
        </p:nvSpPr>
        <p:spPr>
          <a:xfrm>
            <a:off x="3557016" y="3876784"/>
            <a:ext cx="2286000" cy="219456"/>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Mattermost / Rocket.Chat / Nextcloud</a:t>
            </a:r>
            <a:endParaRPr lang="en-US" sz="950" dirty="0"/>
          </a:p>
        </p:txBody>
      </p:sp>
      <p:sp>
        <p:nvSpPr>
          <p:cNvPr id="75" name="Text 73"/>
          <p:cNvSpPr/>
          <p:nvPr/>
        </p:nvSpPr>
        <p:spPr>
          <a:xfrm>
            <a:off x="6053328" y="3840208"/>
            <a:ext cx="2468880" cy="274320"/>
          </a:xfrm>
          <a:prstGeom prst="rect">
            <a:avLst/>
          </a:prstGeom>
          <a:noFill/>
          <a:ln/>
        </p:spPr>
        <p:txBody>
          <a:bodyPr wrap="square" lIns="0" tIns="0" rIns="0" bIns="0" rtlCol="0" anchor="ctr"/>
          <a:lstStyle/>
          <a:p>
            <a:pPr indent="0" marL="0">
              <a:buNone/>
            </a:pPr>
            <a:r>
              <a:rPr lang="en-US" sz="900" dirty="0">
                <a:solidFill>
                  <a:srgbClr val="7D8FA9"/>
                </a:solidFill>
                <a:latin typeface="Calibri" pitchFamily="34" charset="0"/>
                <a:ea typeface="Calibri" pitchFamily="34" charset="-122"/>
                <a:cs typeface="Calibri" pitchFamily="34" charset="-120"/>
              </a:rPr>
              <a:t>Meeting intelligence, action routing, knowledge agents</a:t>
            </a:r>
            <a:endParaRPr lang="en-US" sz="900" dirty="0"/>
          </a:p>
        </p:txBody>
      </p:sp>
      <p:sp>
        <p:nvSpPr>
          <p:cNvPr id="76" name="Text 74"/>
          <p:cNvSpPr/>
          <p:nvPr/>
        </p:nvSpPr>
        <p:spPr>
          <a:xfrm>
            <a:off x="8668512" y="3876784"/>
            <a:ext cx="685800" cy="219456"/>
          </a:xfrm>
          <a:prstGeom prst="rect">
            <a:avLst/>
          </a:prstGeom>
          <a:noFill/>
          <a:ln/>
        </p:spPr>
        <p:txBody>
          <a:bodyPr wrap="square" lIns="0" tIns="0" rIns="0" bIns="0" rtlCol="0" anchor="ctr"/>
          <a:lstStyle/>
          <a:p>
            <a:pPr algn="ctr" indent="0" marL="0">
              <a:buNone/>
            </a:pPr>
            <a:r>
              <a:rPr lang="en-US" sz="1000" b="1" dirty="0">
                <a:solidFill>
                  <a:srgbClr val="4D9EFF"/>
                </a:solidFill>
                <a:latin typeface="Calibri" pitchFamily="34" charset="0"/>
                <a:ea typeface="Calibri" pitchFamily="34" charset="-122"/>
                <a:cs typeface="Calibri" pitchFamily="34" charset="-120"/>
              </a:rPr>
              <a:t>1</a:t>
            </a:r>
            <a:endParaRPr lang="en-US" sz="1000" dirty="0"/>
          </a:p>
        </p:txBody>
      </p:sp>
      <p:sp>
        <p:nvSpPr>
          <p:cNvPr id="77" name="Shape 75"/>
          <p:cNvSpPr/>
          <p:nvPr/>
        </p:nvSpPr>
        <p:spPr>
          <a:xfrm>
            <a:off x="228600" y="4169392"/>
            <a:ext cx="1417320" cy="356616"/>
          </a:xfrm>
          <a:prstGeom prst="rect">
            <a:avLst/>
          </a:prstGeom>
          <a:solidFill>
            <a:srgbClr val="161D28"/>
          </a:solidFill>
          <a:ln w="12700">
            <a:solidFill>
              <a:srgbClr val="243044"/>
            </a:solidFill>
            <a:prstDash val="solid"/>
          </a:ln>
        </p:spPr>
      </p:sp>
      <p:sp>
        <p:nvSpPr>
          <p:cNvPr id="78" name="Shape 76"/>
          <p:cNvSpPr/>
          <p:nvPr/>
        </p:nvSpPr>
        <p:spPr>
          <a:xfrm>
            <a:off x="1719072" y="4169392"/>
            <a:ext cx="1691640" cy="356616"/>
          </a:xfrm>
          <a:prstGeom prst="rect">
            <a:avLst/>
          </a:prstGeom>
          <a:solidFill>
            <a:srgbClr val="161D28"/>
          </a:solidFill>
          <a:ln w="12700">
            <a:solidFill>
              <a:srgbClr val="243044"/>
            </a:solidFill>
            <a:prstDash val="solid"/>
          </a:ln>
        </p:spPr>
      </p:sp>
      <p:sp>
        <p:nvSpPr>
          <p:cNvPr id="79" name="Shape 77"/>
          <p:cNvSpPr/>
          <p:nvPr/>
        </p:nvSpPr>
        <p:spPr>
          <a:xfrm>
            <a:off x="3483864" y="4169392"/>
            <a:ext cx="2423160" cy="356616"/>
          </a:xfrm>
          <a:prstGeom prst="rect">
            <a:avLst/>
          </a:prstGeom>
          <a:solidFill>
            <a:srgbClr val="161D28"/>
          </a:solidFill>
          <a:ln w="12700">
            <a:solidFill>
              <a:srgbClr val="243044"/>
            </a:solidFill>
            <a:prstDash val="solid"/>
          </a:ln>
        </p:spPr>
      </p:sp>
      <p:sp>
        <p:nvSpPr>
          <p:cNvPr id="80" name="Shape 78"/>
          <p:cNvSpPr/>
          <p:nvPr/>
        </p:nvSpPr>
        <p:spPr>
          <a:xfrm>
            <a:off x="5980176" y="4169392"/>
            <a:ext cx="2615184" cy="356616"/>
          </a:xfrm>
          <a:prstGeom prst="rect">
            <a:avLst/>
          </a:prstGeom>
          <a:solidFill>
            <a:srgbClr val="161D28"/>
          </a:solidFill>
          <a:ln w="12700">
            <a:solidFill>
              <a:srgbClr val="243044"/>
            </a:solidFill>
            <a:prstDash val="solid"/>
          </a:ln>
        </p:spPr>
      </p:sp>
      <p:sp>
        <p:nvSpPr>
          <p:cNvPr id="81" name="Shape 79"/>
          <p:cNvSpPr/>
          <p:nvPr/>
        </p:nvSpPr>
        <p:spPr>
          <a:xfrm>
            <a:off x="8668512" y="4169392"/>
            <a:ext cx="685800" cy="356616"/>
          </a:xfrm>
          <a:prstGeom prst="rect">
            <a:avLst/>
          </a:prstGeom>
          <a:solidFill>
            <a:srgbClr val="161D28"/>
          </a:solidFill>
          <a:ln w="12700">
            <a:solidFill>
              <a:srgbClr val="243044"/>
            </a:solidFill>
            <a:prstDash val="solid"/>
          </a:ln>
        </p:spPr>
      </p:sp>
      <p:sp>
        <p:nvSpPr>
          <p:cNvPr id="82" name="Text 80"/>
          <p:cNvSpPr/>
          <p:nvPr/>
        </p:nvSpPr>
        <p:spPr>
          <a:xfrm>
            <a:off x="301752" y="4251688"/>
            <a:ext cx="1261872" cy="219456"/>
          </a:xfrm>
          <a:prstGeom prst="rect">
            <a:avLst/>
          </a:prstGeom>
          <a:noFill/>
          <a:ln/>
        </p:spPr>
        <p:txBody>
          <a:bodyPr wrap="square" lIns="0" tIns="0" rIns="0" bIns="0" rtlCol="0" anchor="ctr"/>
          <a:lstStyle/>
          <a:p>
            <a:pPr indent="0" marL="0">
              <a:buNone/>
            </a:pPr>
            <a:r>
              <a:rPr lang="en-US" sz="1000" b="1" dirty="0">
                <a:solidFill>
                  <a:srgbClr val="EFF3FA"/>
                </a:solidFill>
                <a:latin typeface="Calibri" pitchFamily="34" charset="0"/>
                <a:ea typeface="Calibri" pitchFamily="34" charset="-122"/>
                <a:cs typeface="Calibri" pitchFamily="34" charset="-120"/>
              </a:rPr>
              <a:t>Data &amp; Analytics</a:t>
            </a:r>
            <a:endParaRPr lang="en-US" sz="1000" dirty="0"/>
          </a:p>
        </p:txBody>
      </p:sp>
      <p:sp>
        <p:nvSpPr>
          <p:cNvPr id="83" name="Text 81"/>
          <p:cNvSpPr/>
          <p:nvPr/>
        </p:nvSpPr>
        <p:spPr>
          <a:xfrm>
            <a:off x="1792224" y="4251688"/>
            <a:ext cx="1545336" cy="219456"/>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Tableau / PowerBI</a:t>
            </a:r>
            <a:endParaRPr lang="en-US" sz="950" dirty="0"/>
          </a:p>
        </p:txBody>
      </p:sp>
      <p:sp>
        <p:nvSpPr>
          <p:cNvPr id="84" name="Text 82"/>
          <p:cNvSpPr/>
          <p:nvPr/>
        </p:nvSpPr>
        <p:spPr>
          <a:xfrm>
            <a:off x="3557016" y="4251688"/>
            <a:ext cx="2286000" cy="219456"/>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Metabase / Apache Superset / Redash</a:t>
            </a:r>
            <a:endParaRPr lang="en-US" sz="950" dirty="0"/>
          </a:p>
        </p:txBody>
      </p:sp>
      <p:sp>
        <p:nvSpPr>
          <p:cNvPr id="85" name="Text 83"/>
          <p:cNvSpPr/>
          <p:nvPr/>
        </p:nvSpPr>
        <p:spPr>
          <a:xfrm>
            <a:off x="6053328" y="4215112"/>
            <a:ext cx="2468880" cy="274320"/>
          </a:xfrm>
          <a:prstGeom prst="rect">
            <a:avLst/>
          </a:prstGeom>
          <a:noFill/>
          <a:ln/>
        </p:spPr>
        <p:txBody>
          <a:bodyPr wrap="square" lIns="0" tIns="0" rIns="0" bIns="0" rtlCol="0" anchor="ctr"/>
          <a:lstStyle/>
          <a:p>
            <a:pPr indent="0" marL="0">
              <a:buNone/>
            </a:pPr>
            <a:r>
              <a:rPr lang="en-US" sz="900" dirty="0">
                <a:solidFill>
                  <a:srgbClr val="7D8FA9"/>
                </a:solidFill>
                <a:latin typeface="Calibri" pitchFamily="34" charset="0"/>
                <a:ea typeface="Calibri" pitchFamily="34" charset="-122"/>
                <a:cs typeface="Calibri" pitchFamily="34" charset="-120"/>
              </a:rPr>
              <a:t>NL analytics queries, anomaly detection, automated reporting</a:t>
            </a:r>
            <a:endParaRPr lang="en-US" sz="900" dirty="0"/>
          </a:p>
        </p:txBody>
      </p:sp>
      <p:sp>
        <p:nvSpPr>
          <p:cNvPr id="86" name="Text 84"/>
          <p:cNvSpPr/>
          <p:nvPr/>
        </p:nvSpPr>
        <p:spPr>
          <a:xfrm>
            <a:off x="8668512" y="4251688"/>
            <a:ext cx="685800" cy="219456"/>
          </a:xfrm>
          <a:prstGeom prst="rect">
            <a:avLst/>
          </a:prstGeom>
          <a:noFill/>
          <a:ln/>
        </p:spPr>
        <p:txBody>
          <a:bodyPr wrap="square" lIns="0" tIns="0" rIns="0" bIns="0" rtlCol="0" anchor="ctr"/>
          <a:lstStyle/>
          <a:p>
            <a:pPr algn="ctr" indent="0" marL="0">
              <a:buNone/>
            </a:pPr>
            <a:r>
              <a:rPr lang="en-US" sz="1000" b="1" dirty="0">
                <a:solidFill>
                  <a:srgbClr val="00C9A7"/>
                </a:solidFill>
                <a:latin typeface="Calibri" pitchFamily="34" charset="0"/>
                <a:ea typeface="Calibri" pitchFamily="34" charset="-122"/>
                <a:cs typeface="Calibri" pitchFamily="34" charset="-120"/>
              </a:rPr>
              <a:t>2</a:t>
            </a:r>
            <a:endParaRPr lang="en-US" sz="1000" dirty="0"/>
          </a:p>
        </p:txBody>
      </p:sp>
      <p:sp>
        <p:nvSpPr>
          <p:cNvPr id="87" name="Shape 85"/>
          <p:cNvSpPr/>
          <p:nvPr/>
        </p:nvSpPr>
        <p:spPr>
          <a:xfrm>
            <a:off x="228600" y="4544296"/>
            <a:ext cx="1417320" cy="356616"/>
          </a:xfrm>
          <a:prstGeom prst="rect">
            <a:avLst/>
          </a:prstGeom>
          <a:solidFill>
            <a:srgbClr val="131920"/>
          </a:solidFill>
          <a:ln w="12700">
            <a:solidFill>
              <a:srgbClr val="243044"/>
            </a:solidFill>
            <a:prstDash val="solid"/>
          </a:ln>
        </p:spPr>
      </p:sp>
      <p:sp>
        <p:nvSpPr>
          <p:cNvPr id="88" name="Shape 86"/>
          <p:cNvSpPr/>
          <p:nvPr/>
        </p:nvSpPr>
        <p:spPr>
          <a:xfrm>
            <a:off x="1719072" y="4544296"/>
            <a:ext cx="1691640" cy="356616"/>
          </a:xfrm>
          <a:prstGeom prst="rect">
            <a:avLst/>
          </a:prstGeom>
          <a:solidFill>
            <a:srgbClr val="131920"/>
          </a:solidFill>
          <a:ln w="12700">
            <a:solidFill>
              <a:srgbClr val="243044"/>
            </a:solidFill>
            <a:prstDash val="solid"/>
          </a:ln>
        </p:spPr>
      </p:sp>
      <p:sp>
        <p:nvSpPr>
          <p:cNvPr id="89" name="Shape 87"/>
          <p:cNvSpPr/>
          <p:nvPr/>
        </p:nvSpPr>
        <p:spPr>
          <a:xfrm>
            <a:off x="3483864" y="4544296"/>
            <a:ext cx="2423160" cy="356616"/>
          </a:xfrm>
          <a:prstGeom prst="rect">
            <a:avLst/>
          </a:prstGeom>
          <a:solidFill>
            <a:srgbClr val="131920"/>
          </a:solidFill>
          <a:ln w="12700">
            <a:solidFill>
              <a:srgbClr val="243044"/>
            </a:solidFill>
            <a:prstDash val="solid"/>
          </a:ln>
        </p:spPr>
      </p:sp>
      <p:sp>
        <p:nvSpPr>
          <p:cNvPr id="90" name="Shape 88"/>
          <p:cNvSpPr/>
          <p:nvPr/>
        </p:nvSpPr>
        <p:spPr>
          <a:xfrm>
            <a:off x="5980176" y="4544296"/>
            <a:ext cx="2615184" cy="356616"/>
          </a:xfrm>
          <a:prstGeom prst="rect">
            <a:avLst/>
          </a:prstGeom>
          <a:solidFill>
            <a:srgbClr val="131920"/>
          </a:solidFill>
          <a:ln w="12700">
            <a:solidFill>
              <a:srgbClr val="243044"/>
            </a:solidFill>
            <a:prstDash val="solid"/>
          </a:ln>
        </p:spPr>
      </p:sp>
      <p:sp>
        <p:nvSpPr>
          <p:cNvPr id="91" name="Shape 89"/>
          <p:cNvSpPr/>
          <p:nvPr/>
        </p:nvSpPr>
        <p:spPr>
          <a:xfrm>
            <a:off x="8668512" y="4544296"/>
            <a:ext cx="685800" cy="356616"/>
          </a:xfrm>
          <a:prstGeom prst="rect">
            <a:avLst/>
          </a:prstGeom>
          <a:solidFill>
            <a:srgbClr val="131920"/>
          </a:solidFill>
          <a:ln w="12700">
            <a:solidFill>
              <a:srgbClr val="243044"/>
            </a:solidFill>
            <a:prstDash val="solid"/>
          </a:ln>
        </p:spPr>
      </p:sp>
      <p:sp>
        <p:nvSpPr>
          <p:cNvPr id="92" name="Text 90"/>
          <p:cNvSpPr/>
          <p:nvPr/>
        </p:nvSpPr>
        <p:spPr>
          <a:xfrm>
            <a:off x="301752" y="4626592"/>
            <a:ext cx="1261872" cy="219456"/>
          </a:xfrm>
          <a:prstGeom prst="rect">
            <a:avLst/>
          </a:prstGeom>
          <a:noFill/>
          <a:ln/>
        </p:spPr>
        <p:txBody>
          <a:bodyPr wrap="square" lIns="0" tIns="0" rIns="0" bIns="0" rtlCol="0" anchor="ctr"/>
          <a:lstStyle/>
          <a:p>
            <a:pPr indent="0" marL="0">
              <a:buNone/>
            </a:pPr>
            <a:r>
              <a:rPr lang="en-US" sz="1000" b="1" dirty="0">
                <a:solidFill>
                  <a:srgbClr val="EFF3FA"/>
                </a:solidFill>
                <a:latin typeface="Calibri" pitchFamily="34" charset="0"/>
                <a:ea typeface="Calibri" pitchFamily="34" charset="-122"/>
                <a:cs typeface="Calibri" pitchFamily="34" charset="-120"/>
              </a:rPr>
              <a:t>Security &amp; GRC</a:t>
            </a:r>
            <a:endParaRPr lang="en-US" sz="1000" dirty="0"/>
          </a:p>
        </p:txBody>
      </p:sp>
      <p:sp>
        <p:nvSpPr>
          <p:cNvPr id="93" name="Text 91"/>
          <p:cNvSpPr/>
          <p:nvPr/>
        </p:nvSpPr>
        <p:spPr>
          <a:xfrm>
            <a:off x="1792224" y="4626592"/>
            <a:ext cx="1545336" cy="219456"/>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Splunk / Archer / Qualys</a:t>
            </a:r>
            <a:endParaRPr lang="en-US" sz="950" dirty="0"/>
          </a:p>
        </p:txBody>
      </p:sp>
      <p:sp>
        <p:nvSpPr>
          <p:cNvPr id="94" name="Text 92"/>
          <p:cNvSpPr/>
          <p:nvPr/>
        </p:nvSpPr>
        <p:spPr>
          <a:xfrm>
            <a:off x="3557016" y="4626592"/>
            <a:ext cx="2286000" cy="219456"/>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Wazuh / OpenSearch / GVM / Eramba</a:t>
            </a:r>
            <a:endParaRPr lang="en-US" sz="950" dirty="0"/>
          </a:p>
        </p:txBody>
      </p:sp>
      <p:sp>
        <p:nvSpPr>
          <p:cNvPr id="95" name="Text 93"/>
          <p:cNvSpPr/>
          <p:nvPr/>
        </p:nvSpPr>
        <p:spPr>
          <a:xfrm>
            <a:off x="6053328" y="4590016"/>
            <a:ext cx="2468880" cy="274320"/>
          </a:xfrm>
          <a:prstGeom prst="rect">
            <a:avLst/>
          </a:prstGeom>
          <a:noFill/>
          <a:ln/>
        </p:spPr>
        <p:txBody>
          <a:bodyPr wrap="square" lIns="0" tIns="0" rIns="0" bIns="0" rtlCol="0" anchor="ctr"/>
          <a:lstStyle/>
          <a:p>
            <a:pPr indent="0" marL="0">
              <a:buNone/>
            </a:pPr>
            <a:r>
              <a:rPr lang="en-US" sz="900" dirty="0">
                <a:solidFill>
                  <a:srgbClr val="7D8FA9"/>
                </a:solidFill>
                <a:latin typeface="Calibri" pitchFamily="34" charset="0"/>
                <a:ea typeface="Calibri" pitchFamily="34" charset="-122"/>
                <a:cs typeface="Calibri" pitchFamily="34" charset="-120"/>
              </a:rPr>
              <a:t>Threat hunting agents, compliance automation, risk scoring</a:t>
            </a:r>
            <a:endParaRPr lang="en-US" sz="900" dirty="0"/>
          </a:p>
        </p:txBody>
      </p:sp>
      <p:sp>
        <p:nvSpPr>
          <p:cNvPr id="96" name="Text 94"/>
          <p:cNvSpPr/>
          <p:nvPr/>
        </p:nvSpPr>
        <p:spPr>
          <a:xfrm>
            <a:off x="8668512" y="4626592"/>
            <a:ext cx="685800" cy="219456"/>
          </a:xfrm>
          <a:prstGeom prst="rect">
            <a:avLst/>
          </a:prstGeom>
          <a:noFill/>
          <a:ln/>
        </p:spPr>
        <p:txBody>
          <a:bodyPr wrap="square" lIns="0" tIns="0" rIns="0" bIns="0" rtlCol="0" anchor="ctr"/>
          <a:lstStyle/>
          <a:p>
            <a:pPr algn="ctr" indent="0" marL="0">
              <a:buNone/>
            </a:pPr>
            <a:r>
              <a:rPr lang="en-US" sz="1000" b="1" dirty="0">
                <a:solidFill>
                  <a:srgbClr val="E3B34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00C9A7"/>
          </a:solidFill>
          <a:ln w="12700">
            <a:solidFill>
              <a:srgbClr val="00C9A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00C9A7"/>
                </a:solidFill>
                <a:latin typeface="Calibri" pitchFamily="34" charset="0"/>
                <a:ea typeface="Calibri" pitchFamily="34" charset="-122"/>
                <a:cs typeface="Calibri" pitchFamily="34" charset="-120"/>
              </a:rPr>
              <a:t>OAAD ARCHITECTURE</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2400" b="1" dirty="0">
                <a:solidFill>
                  <a:srgbClr val="EFF3FA"/>
                </a:solidFill>
                <a:latin typeface="Trebuchet MS" pitchFamily="34" charset="0"/>
                <a:ea typeface="Trebuchet MS" pitchFamily="34" charset="-122"/>
                <a:cs typeface="Trebuchet MS" pitchFamily="34" charset="-120"/>
              </a:rPr>
              <a:t>OSS Capabilities + Agentic Fabric + Governance</a:t>
            </a:r>
            <a:endParaRPr lang="en-US" sz="3000" dirty="0"/>
          </a:p>
        </p:txBody>
      </p:sp>
      <p:sp>
        <p:nvSpPr>
          <p:cNvPr id="6" name="Shape 4"/>
          <p:cNvSpPr/>
          <p:nvPr/>
        </p:nvSpPr>
        <p:spPr>
          <a:xfrm>
            <a:off x="228600" y="1261872"/>
            <a:ext cx="8686800" cy="713232"/>
          </a:xfrm>
          <a:prstGeom prst="rect">
            <a:avLst/>
          </a:prstGeom>
          <a:solidFill>
            <a:srgbClr val="161D28"/>
          </a:solidFill>
          <a:ln w="12700">
            <a:solidFill>
              <a:srgbClr val="E3B341"/>
            </a:solidFill>
            <a:prstDash val="solid"/>
          </a:ln>
        </p:spPr>
      </p:sp>
      <p:sp>
        <p:nvSpPr>
          <p:cNvPr id="7" name="Shape 5"/>
          <p:cNvSpPr/>
          <p:nvPr/>
        </p:nvSpPr>
        <p:spPr>
          <a:xfrm>
            <a:off x="228600" y="1261872"/>
            <a:ext cx="54864" cy="713232"/>
          </a:xfrm>
          <a:prstGeom prst="rect">
            <a:avLst/>
          </a:prstGeom>
          <a:solidFill>
            <a:srgbClr val="E3B341"/>
          </a:solidFill>
          <a:ln w="12700">
            <a:solidFill>
              <a:srgbClr val="E3B341"/>
            </a:solidFill>
            <a:prstDash val="solid"/>
          </a:ln>
        </p:spPr>
      </p:sp>
      <p:sp>
        <p:nvSpPr>
          <p:cNvPr id="8" name="Text 6"/>
          <p:cNvSpPr/>
          <p:nvPr/>
        </p:nvSpPr>
        <p:spPr>
          <a:xfrm>
            <a:off x="384048" y="1307592"/>
            <a:ext cx="8321040" cy="201168"/>
          </a:xfrm>
          <a:prstGeom prst="rect">
            <a:avLst/>
          </a:prstGeom>
          <a:noFill/>
          <a:ln/>
        </p:spPr>
        <p:txBody>
          <a:bodyPr wrap="square" lIns="0" tIns="0" rIns="0" bIns="0" rtlCol="0" anchor="ctr"/>
          <a:lstStyle/>
          <a:p>
            <a:pPr indent="0" marL="0">
              <a:buNone/>
            </a:pPr>
            <a:r>
              <a:rPr lang="en-US" sz="850" b="1" spc="150" kern="0" dirty="0">
                <a:solidFill>
                  <a:srgbClr val="E3B341"/>
                </a:solidFill>
                <a:latin typeface="Calibri" pitchFamily="34" charset="0"/>
                <a:ea typeface="Calibri" pitchFamily="34" charset="-122"/>
                <a:cs typeface="Calibri" pitchFamily="34" charset="-120"/>
              </a:rPr>
              <a:t>OSS BUSINESS CAPABILITY LAYER</a:t>
            </a:r>
            <a:endParaRPr lang="en-US" sz="850" dirty="0"/>
          </a:p>
        </p:txBody>
      </p:sp>
      <p:sp>
        <p:nvSpPr>
          <p:cNvPr id="9" name="Text 7"/>
          <p:cNvSpPr/>
          <p:nvPr/>
        </p:nvSpPr>
        <p:spPr>
          <a:xfrm>
            <a:off x="384048" y="1508760"/>
            <a:ext cx="8321040" cy="201168"/>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iTop · SuiteCRM · Odoo · ERPNext · OrangeHRM · GitLab · Mattermost · Metabase · Wazuh</a:t>
            </a:r>
            <a:endParaRPr lang="en-US" sz="1050" dirty="0"/>
          </a:p>
        </p:txBody>
      </p:sp>
      <p:sp>
        <p:nvSpPr>
          <p:cNvPr id="10" name="Text 8"/>
          <p:cNvSpPr/>
          <p:nvPr/>
        </p:nvSpPr>
        <p:spPr>
          <a:xfrm>
            <a:off x="384048" y="1709928"/>
            <a:ext cx="8321040" cy="201168"/>
          </a:xfrm>
          <a:prstGeom prst="rect">
            <a:avLst/>
          </a:prstGeom>
          <a:noFill/>
          <a:ln/>
        </p:spPr>
        <p:txBody>
          <a:bodyPr wrap="square" lIns="0" tIns="0" rIns="0" bIns="0" rtlCol="0" anchor="ctr"/>
          <a:lstStyle/>
          <a:p>
            <a:pPr indent="0" marL="0">
              <a:buNone/>
            </a:pPr>
            <a:r>
              <a:rPr lang="en-US" sz="850" i="1" dirty="0">
                <a:solidFill>
                  <a:srgbClr val="7D8FA9"/>
                </a:solidFill>
                <a:latin typeface="Calibri" pitchFamily="34" charset="0"/>
                <a:ea typeface="Calibri" pitchFamily="34" charset="-122"/>
                <a:cs typeface="Calibri" pitchFamily="34" charset="-120"/>
              </a:rPr>
              <a:t>Mature OSS systems covering every major COTS domain. Already exist, proven, zero license cost</a:t>
            </a:r>
            <a:endParaRPr lang="en-US" sz="850" dirty="0"/>
          </a:p>
        </p:txBody>
      </p:sp>
      <p:sp>
        <p:nvSpPr>
          <p:cNvPr id="11" name="Shape 9"/>
          <p:cNvSpPr/>
          <p:nvPr/>
        </p:nvSpPr>
        <p:spPr>
          <a:xfrm>
            <a:off x="228600" y="2029968"/>
            <a:ext cx="8686800" cy="841248"/>
          </a:xfrm>
          <a:prstGeom prst="rect">
            <a:avLst/>
          </a:prstGeom>
          <a:solidFill>
            <a:srgbClr val="161D28"/>
          </a:solidFill>
          <a:ln w="12700">
            <a:solidFill>
              <a:srgbClr val="00C9A7"/>
            </a:solidFill>
            <a:prstDash val="solid"/>
          </a:ln>
        </p:spPr>
      </p:sp>
      <p:sp>
        <p:nvSpPr>
          <p:cNvPr id="12" name="Shape 10"/>
          <p:cNvSpPr/>
          <p:nvPr/>
        </p:nvSpPr>
        <p:spPr>
          <a:xfrm>
            <a:off x="228600" y="2029968"/>
            <a:ext cx="54864" cy="841248"/>
          </a:xfrm>
          <a:prstGeom prst="rect">
            <a:avLst/>
          </a:prstGeom>
          <a:solidFill>
            <a:srgbClr val="00C9A7"/>
          </a:solidFill>
          <a:ln w="12700">
            <a:solidFill>
              <a:srgbClr val="00C9A7"/>
            </a:solidFill>
            <a:prstDash val="solid"/>
          </a:ln>
        </p:spPr>
      </p:sp>
      <p:sp>
        <p:nvSpPr>
          <p:cNvPr id="13" name="Text 11"/>
          <p:cNvSpPr/>
          <p:nvPr/>
        </p:nvSpPr>
        <p:spPr>
          <a:xfrm>
            <a:off x="384048" y="2075688"/>
            <a:ext cx="8321040" cy="201168"/>
          </a:xfrm>
          <a:prstGeom prst="rect">
            <a:avLst/>
          </a:prstGeom>
          <a:noFill/>
          <a:ln/>
        </p:spPr>
        <p:txBody>
          <a:bodyPr wrap="square" lIns="0" tIns="0" rIns="0" bIns="0" rtlCol="0" anchor="ctr"/>
          <a:lstStyle/>
          <a:p>
            <a:pPr indent="0" marL="0">
              <a:buNone/>
            </a:pPr>
            <a:r>
              <a:rPr lang="en-US" sz="850" b="1" spc="150" kern="0" dirty="0">
                <a:solidFill>
                  <a:srgbClr val="00C9A7"/>
                </a:solidFill>
                <a:latin typeface="Calibri" pitchFamily="34" charset="0"/>
                <a:ea typeface="Calibri" pitchFamily="34" charset="-122"/>
                <a:cs typeface="Calibri" pitchFamily="34" charset="-120"/>
              </a:rPr>
              <a:t>OAAD AGENTIC ORCHESTRATION FABRIC</a:t>
            </a:r>
            <a:endParaRPr lang="en-US" sz="850" dirty="0"/>
          </a:p>
        </p:txBody>
      </p:sp>
      <p:sp>
        <p:nvSpPr>
          <p:cNvPr id="14" name="Text 12"/>
          <p:cNvSpPr/>
          <p:nvPr/>
        </p:nvSpPr>
        <p:spPr>
          <a:xfrm>
            <a:off x="384048" y="2276856"/>
            <a:ext cx="8321040" cy="201168"/>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Adaptive orchestration above deterministic integration  ·  Institutional knowledge encoding  ·  RAG on enterprise data  ·  Multi-agent decomposition</a:t>
            </a:r>
            <a:endParaRPr lang="en-US" sz="1050" dirty="0"/>
          </a:p>
        </p:txBody>
      </p:sp>
      <p:sp>
        <p:nvSpPr>
          <p:cNvPr id="15" name="Text 13"/>
          <p:cNvSpPr/>
          <p:nvPr/>
        </p:nvSpPr>
        <p:spPr>
          <a:xfrm>
            <a:off x="384048" y="2478024"/>
            <a:ext cx="8321040" cy="201168"/>
          </a:xfrm>
          <a:prstGeom prst="rect">
            <a:avLst/>
          </a:prstGeom>
          <a:noFill/>
          <a:ln/>
        </p:spPr>
        <p:txBody>
          <a:bodyPr wrap="square" lIns="0" tIns="0" rIns="0" bIns="0" rtlCol="0" anchor="ctr"/>
          <a:lstStyle/>
          <a:p>
            <a:pPr indent="0" marL="0">
              <a:buNone/>
            </a:pPr>
            <a:r>
              <a:rPr lang="en-US" sz="850" i="1" dirty="0">
                <a:solidFill>
                  <a:srgbClr val="7D8FA9"/>
                </a:solidFill>
                <a:latin typeface="Calibri" pitchFamily="34" charset="0"/>
                <a:ea typeface="Calibri" pitchFamily="34" charset="-122"/>
                <a:cs typeface="Calibri" pitchFamily="34" charset="-120"/>
              </a:rPr>
              <a:t>Agents route, interpret, coordinate, monitor, and encode. They do not replace the deterministic integration layer beneath them</a:t>
            </a:r>
            <a:endParaRPr lang="en-US" sz="850" dirty="0"/>
          </a:p>
        </p:txBody>
      </p:sp>
      <p:sp>
        <p:nvSpPr>
          <p:cNvPr id="16" name="Shape 14"/>
          <p:cNvSpPr/>
          <p:nvPr/>
        </p:nvSpPr>
        <p:spPr>
          <a:xfrm>
            <a:off x="228600" y="2926080"/>
            <a:ext cx="8686800" cy="713232"/>
          </a:xfrm>
          <a:prstGeom prst="rect">
            <a:avLst/>
          </a:prstGeom>
          <a:solidFill>
            <a:srgbClr val="161D28"/>
          </a:solidFill>
          <a:ln w="12700">
            <a:solidFill>
              <a:srgbClr val="4D9EFF"/>
            </a:solidFill>
            <a:prstDash val="solid"/>
          </a:ln>
        </p:spPr>
      </p:sp>
      <p:sp>
        <p:nvSpPr>
          <p:cNvPr id="17" name="Shape 15"/>
          <p:cNvSpPr/>
          <p:nvPr/>
        </p:nvSpPr>
        <p:spPr>
          <a:xfrm>
            <a:off x="228600" y="2926080"/>
            <a:ext cx="54864" cy="713232"/>
          </a:xfrm>
          <a:prstGeom prst="rect">
            <a:avLst/>
          </a:prstGeom>
          <a:solidFill>
            <a:srgbClr val="4D9EFF"/>
          </a:solidFill>
          <a:ln w="12700">
            <a:solidFill>
              <a:srgbClr val="4D9EFF"/>
            </a:solidFill>
            <a:prstDash val="solid"/>
          </a:ln>
        </p:spPr>
      </p:sp>
      <p:sp>
        <p:nvSpPr>
          <p:cNvPr id="18" name="Text 16"/>
          <p:cNvSpPr/>
          <p:nvPr/>
        </p:nvSpPr>
        <p:spPr>
          <a:xfrm>
            <a:off x="384048" y="2971800"/>
            <a:ext cx="8321040" cy="201168"/>
          </a:xfrm>
          <a:prstGeom prst="rect">
            <a:avLst/>
          </a:prstGeom>
          <a:noFill/>
          <a:ln/>
        </p:spPr>
        <p:txBody>
          <a:bodyPr wrap="square" lIns="0" tIns="0" rIns="0" bIns="0" rtlCol="0" anchor="ctr"/>
          <a:lstStyle/>
          <a:p>
            <a:pPr indent="0" marL="0">
              <a:buNone/>
            </a:pPr>
            <a:r>
              <a:rPr lang="en-US" sz="850" b="1" spc="150" kern="0" dirty="0">
                <a:solidFill>
                  <a:srgbClr val="4D9EFF"/>
                </a:solidFill>
                <a:latin typeface="Calibri" pitchFamily="34" charset="0"/>
                <a:ea typeface="Calibri" pitchFamily="34" charset="-122"/>
                <a:cs typeface="Calibri" pitchFamily="34" charset="-120"/>
              </a:rPr>
              <a:t>DETERMINISTIC INTEGRATION LAYER</a:t>
            </a:r>
            <a:endParaRPr lang="en-US" sz="850" dirty="0"/>
          </a:p>
        </p:txBody>
      </p:sp>
      <p:sp>
        <p:nvSpPr>
          <p:cNvPr id="19" name="Text 17"/>
          <p:cNvSpPr/>
          <p:nvPr/>
        </p:nvSpPr>
        <p:spPr>
          <a:xfrm>
            <a:off x="384048" y="3172968"/>
            <a:ext cx="8321040" cy="201168"/>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API gateway  ·  Event bus (Kafka/NATS)  ·  Identity broker (Keycloak)  ·  Schema registry  ·  OPA policy enforcement  ·  OpenTelemetry observability</a:t>
            </a:r>
            <a:endParaRPr lang="en-US" sz="1050" dirty="0"/>
          </a:p>
        </p:txBody>
      </p:sp>
      <p:sp>
        <p:nvSpPr>
          <p:cNvPr id="20" name="Text 18"/>
          <p:cNvSpPr/>
          <p:nvPr/>
        </p:nvSpPr>
        <p:spPr>
          <a:xfrm>
            <a:off x="384048" y="3374136"/>
            <a:ext cx="8321040" cy="201168"/>
          </a:xfrm>
          <a:prstGeom prst="rect">
            <a:avLst/>
          </a:prstGeom>
          <a:noFill/>
          <a:ln/>
        </p:spPr>
        <p:txBody>
          <a:bodyPr wrap="square" lIns="0" tIns="0" rIns="0" bIns="0" rtlCol="0" anchor="ctr"/>
          <a:lstStyle/>
          <a:p>
            <a:pPr indent="0" marL="0">
              <a:buNone/>
            </a:pPr>
            <a:r>
              <a:rPr lang="en-US" sz="850" i="1" dirty="0">
                <a:solidFill>
                  <a:srgbClr val="7D8FA9"/>
                </a:solidFill>
                <a:latin typeface="Calibri" pitchFamily="34" charset="0"/>
                <a:ea typeface="Calibri" pitchFamily="34" charset="-122"/>
                <a:cs typeface="Calibri" pitchFamily="34" charset="-120"/>
              </a:rPr>
              <a:t>Transaction integrity, latency guarantees, rollback semantics, audit contracts. Not replaced by agents; governed alongside them</a:t>
            </a:r>
            <a:endParaRPr lang="en-US" sz="850" dirty="0"/>
          </a:p>
        </p:txBody>
      </p:sp>
      <p:sp>
        <p:nvSpPr>
          <p:cNvPr id="21" name="Shape 19"/>
          <p:cNvSpPr/>
          <p:nvPr/>
        </p:nvSpPr>
        <p:spPr>
          <a:xfrm>
            <a:off x="228600" y="3694176"/>
            <a:ext cx="8686800" cy="713232"/>
          </a:xfrm>
          <a:prstGeom prst="rect">
            <a:avLst/>
          </a:prstGeom>
          <a:solidFill>
            <a:srgbClr val="161D28"/>
          </a:solidFill>
          <a:ln w="12700">
            <a:solidFill>
              <a:srgbClr val="A371F7"/>
            </a:solidFill>
            <a:prstDash val="solid"/>
          </a:ln>
        </p:spPr>
      </p:sp>
      <p:sp>
        <p:nvSpPr>
          <p:cNvPr id="22" name="Shape 20"/>
          <p:cNvSpPr/>
          <p:nvPr/>
        </p:nvSpPr>
        <p:spPr>
          <a:xfrm>
            <a:off x="228600" y="3694176"/>
            <a:ext cx="54864" cy="713232"/>
          </a:xfrm>
          <a:prstGeom prst="rect">
            <a:avLst/>
          </a:prstGeom>
          <a:solidFill>
            <a:srgbClr val="A371F7"/>
          </a:solidFill>
          <a:ln w="12700">
            <a:solidFill>
              <a:srgbClr val="A371F7"/>
            </a:solidFill>
            <a:prstDash val="solid"/>
          </a:ln>
        </p:spPr>
      </p:sp>
      <p:sp>
        <p:nvSpPr>
          <p:cNvPr id="23" name="Text 21"/>
          <p:cNvSpPr/>
          <p:nvPr/>
        </p:nvSpPr>
        <p:spPr>
          <a:xfrm>
            <a:off x="384048" y="3739896"/>
            <a:ext cx="8321040" cy="201168"/>
          </a:xfrm>
          <a:prstGeom prst="rect">
            <a:avLst/>
          </a:prstGeom>
          <a:noFill/>
          <a:ln/>
        </p:spPr>
        <p:txBody>
          <a:bodyPr wrap="square" lIns="0" tIns="0" rIns="0" bIns="0" rtlCol="0" anchor="ctr"/>
          <a:lstStyle/>
          <a:p>
            <a:pPr indent="0" marL="0">
              <a:buNone/>
            </a:pPr>
            <a:r>
              <a:rPr lang="en-US" sz="850" b="1" spc="150" kern="0" dirty="0">
                <a:solidFill>
                  <a:srgbClr val="A371F7"/>
                </a:solidFill>
                <a:latin typeface="Calibri" pitchFamily="34" charset="0"/>
                <a:ea typeface="Calibri" pitchFamily="34" charset="-122"/>
                <a:cs typeface="Calibri" pitchFamily="34" charset="-120"/>
              </a:rPr>
              <a:t>DEVSECOPS GOVERNANCE &amp; OBSERVABILITY LAYER</a:t>
            </a:r>
            <a:endParaRPr lang="en-US" sz="850" dirty="0"/>
          </a:p>
        </p:txBody>
      </p:sp>
      <p:sp>
        <p:nvSpPr>
          <p:cNvPr id="24" name="Text 22"/>
          <p:cNvSpPr/>
          <p:nvPr/>
        </p:nvSpPr>
        <p:spPr>
          <a:xfrm>
            <a:off x="384048" y="3941064"/>
            <a:ext cx="8321040" cy="201168"/>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Agent identity &amp; delegated authority  ·  Prompt CI/CD  ·  HITL checkpoints  ·  SIEM/GRC integration  ·  LLM-native observability  ·  Audit trails</a:t>
            </a:r>
            <a:endParaRPr lang="en-US" sz="1050" dirty="0"/>
          </a:p>
        </p:txBody>
      </p:sp>
      <p:sp>
        <p:nvSpPr>
          <p:cNvPr id="25" name="Text 23"/>
          <p:cNvSpPr/>
          <p:nvPr/>
        </p:nvSpPr>
        <p:spPr>
          <a:xfrm>
            <a:off x="384048" y="4142232"/>
            <a:ext cx="8321040" cy="201168"/>
          </a:xfrm>
          <a:prstGeom prst="rect">
            <a:avLst/>
          </a:prstGeom>
          <a:noFill/>
          <a:ln/>
        </p:spPr>
        <p:txBody>
          <a:bodyPr wrap="square" lIns="0" tIns="0" rIns="0" bIns="0" rtlCol="0" anchor="ctr"/>
          <a:lstStyle/>
          <a:p>
            <a:pPr indent="0" marL="0">
              <a:buNone/>
            </a:pPr>
            <a:r>
              <a:rPr lang="en-US" sz="850" i="1" dirty="0">
                <a:solidFill>
                  <a:srgbClr val="7D8FA9"/>
                </a:solidFill>
                <a:latin typeface="Calibri" pitchFamily="34" charset="0"/>
                <a:ea typeface="Calibri" pitchFamily="34" charset="-122"/>
                <a:cs typeface="Calibri" pitchFamily="34" charset="-120"/>
              </a:rPr>
              <a:t>Every agent action is attributable, versioned, and auditable, integrated with enterprise IAM, PAM, and GRC from day one</a:t>
            </a:r>
            <a:endParaRPr lang="en-US" sz="850" dirty="0"/>
          </a:p>
        </p:txBody>
      </p:sp>
      <p:sp>
        <p:nvSpPr>
          <p:cNvPr id="26" name="Shape 24"/>
          <p:cNvSpPr/>
          <p:nvPr/>
        </p:nvSpPr>
        <p:spPr>
          <a:xfrm>
            <a:off x="228600" y="4462272"/>
            <a:ext cx="8686800" cy="380000"/>
          </a:xfrm>
          <a:prstGeom prst="rect">
            <a:avLst/>
          </a:prstGeom>
          <a:solidFill>
            <a:srgbClr val="161D28"/>
          </a:solidFill>
          <a:ln w="12700">
            <a:solidFill>
              <a:srgbClr val="7D8FA9"/>
            </a:solidFill>
            <a:prstDash val="solid"/>
          </a:ln>
        </p:spPr>
      </p:sp>
      <p:sp>
        <p:nvSpPr>
          <p:cNvPr id="27" name="Shape 25"/>
          <p:cNvSpPr/>
          <p:nvPr/>
        </p:nvSpPr>
        <p:spPr>
          <a:xfrm>
            <a:off x="228600" y="4462272"/>
            <a:ext cx="54864" cy="380000"/>
          </a:xfrm>
          <a:prstGeom prst="rect">
            <a:avLst/>
          </a:prstGeom>
          <a:solidFill>
            <a:srgbClr val="7D8FA9"/>
          </a:solidFill>
          <a:ln w="12700">
            <a:solidFill>
              <a:srgbClr val="7D8FA9"/>
            </a:solidFill>
            <a:prstDash val="solid"/>
          </a:ln>
        </p:spPr>
      </p:sp>
      <p:sp>
        <p:nvSpPr>
          <p:cNvPr id="28" name="Text 26"/>
          <p:cNvSpPr/>
          <p:nvPr/>
        </p:nvSpPr>
        <p:spPr>
          <a:xfrm>
            <a:off x="384048" y="4480000"/>
            <a:ext cx="8321040" cy="201168"/>
          </a:xfrm>
          <a:prstGeom prst="rect">
            <a:avLst/>
          </a:prstGeom>
          <a:noFill/>
          <a:ln/>
        </p:spPr>
        <p:txBody>
          <a:bodyPr wrap="square" lIns="0" tIns="0" rIns="0" bIns="0" rtlCol="0" anchor="ctr"/>
          <a:lstStyle/>
          <a:p>
            <a:pPr indent="0" marL="0">
              <a:buNone/>
            </a:pPr>
            <a:r>
              <a:rPr lang="en-US" sz="850" b="1" spc="150" kern="0" dirty="0">
                <a:solidFill>
                  <a:srgbClr val="7D8FA9"/>
                </a:solidFill>
                <a:latin typeface="Calibri" pitchFamily="34" charset="0"/>
                <a:ea typeface="Calibri" pitchFamily="34" charset="-122"/>
                <a:cs typeface="Calibri" pitchFamily="34" charset="-120"/>
              </a:rPr>
              <a:t>INFRASTRUCTURE LAYER</a:t>
            </a:r>
            <a:endParaRPr lang="en-US" sz="850" dirty="0"/>
          </a:p>
        </p:txBody>
      </p:sp>
      <p:sp>
        <p:nvSpPr>
          <p:cNvPr id="29" name="Text 27"/>
          <p:cNvSpPr/>
          <p:nvPr/>
        </p:nvSpPr>
        <p:spPr>
          <a:xfrm>
            <a:off x="384048" y="4640000"/>
            <a:ext cx="8321040" cy="201168"/>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Kubernetes  ·  OSS model serving (Llama, Mistral, Qwen)  ·  Vector stores  ·  Data platform  ·  DevSecOps toolchain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A371F7"/>
          </a:solidFill>
          <a:ln w="12700">
            <a:solidFill>
              <a:srgbClr val="A371F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A371F7"/>
                </a:solidFill>
                <a:latin typeface="Calibri" pitchFamily="34" charset="0"/>
                <a:ea typeface="Calibri" pitchFamily="34" charset="-122"/>
                <a:cs typeface="Calibri" pitchFamily="34" charset="-120"/>
              </a:rPr>
              <a:t>AGENT AUTHORITY MODEL</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Governance Requires a Precise Authority Taxonomy</a:t>
            </a:r>
            <a:endParaRPr lang="en-US" sz="3000" dirty="0"/>
          </a:p>
        </p:txBody>
      </p:sp>
      <p:sp>
        <p:nvSpPr>
          <p:cNvPr id="6" name="Text 4"/>
          <p:cNvSpPr/>
          <p:nvPr/>
        </p:nvSpPr>
        <p:spPr>
          <a:xfrm>
            <a:off x="365760" y="1234440"/>
            <a:ext cx="8412480" cy="420624"/>
          </a:xfrm>
          <a:prstGeom prst="rect">
            <a:avLst/>
          </a:prstGeom>
          <a:noFill/>
          <a:ln/>
        </p:spPr>
        <p:txBody>
          <a:bodyPr wrap="square" lIns="0" tIns="0" rIns="0" bIns="0" rtlCol="0" anchor="ctr"/>
          <a:lstStyle/>
          <a:p>
            <a:pPr indent="0" marL="0">
              <a:buNone/>
            </a:pPr>
            <a:r>
              <a:rPr lang="en-US" sz="1150" i="1" dirty="0">
                <a:solidFill>
                  <a:srgbClr val="7D8FA9"/>
                </a:solidFill>
                <a:latin typeface="Calibri" pitchFamily="34" charset="0"/>
                <a:ea typeface="Calibri" pitchFamily="34" charset="-122"/>
                <a:cs typeface="Calibri" pitchFamily="34" charset="-120"/>
              </a:rPr>
              <a:t>Without separating these dimensions, OAAD reproduces the governance collapse it criticizes in vendor platforms. Each dimension requires its own control, audit, and policy surface.</a:t>
            </a:r>
            <a:endParaRPr lang="en-US" sz="1150" dirty="0"/>
          </a:p>
        </p:txBody>
      </p:sp>
      <p:sp>
        <p:nvSpPr>
          <p:cNvPr id="7" name="Shape 5"/>
          <p:cNvSpPr/>
          <p:nvPr/>
        </p:nvSpPr>
        <p:spPr>
          <a:xfrm>
            <a:off x="256032" y="1847088"/>
            <a:ext cx="4206240" cy="640080"/>
          </a:xfrm>
          <a:prstGeom prst="rect">
            <a:avLst/>
          </a:prstGeom>
          <a:solidFill>
            <a:srgbClr val="161D28"/>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56032" y="1847088"/>
            <a:ext cx="45720" cy="640080"/>
          </a:xfrm>
          <a:prstGeom prst="rect">
            <a:avLst/>
          </a:prstGeom>
          <a:solidFill>
            <a:srgbClr val="A371F7"/>
          </a:solidFill>
          <a:ln w="12700">
            <a:solidFill>
              <a:srgbClr val="A371F7"/>
            </a:solidFill>
            <a:prstDash val="solid"/>
          </a:ln>
        </p:spPr>
      </p:sp>
      <p:sp>
        <p:nvSpPr>
          <p:cNvPr id="9" name="Text 7"/>
          <p:cNvSpPr/>
          <p:nvPr/>
        </p:nvSpPr>
        <p:spPr>
          <a:xfrm>
            <a:off x="420624" y="1892808"/>
            <a:ext cx="3840480" cy="237744"/>
          </a:xfrm>
          <a:prstGeom prst="rect">
            <a:avLst/>
          </a:prstGeom>
          <a:noFill/>
          <a:ln/>
        </p:spPr>
        <p:txBody>
          <a:bodyPr wrap="square" lIns="0" tIns="0" rIns="0" bIns="0" rtlCol="0" anchor="ctr"/>
          <a:lstStyle/>
          <a:p>
            <a:pPr indent="0" marL="0">
              <a:buNone/>
            </a:pPr>
            <a:r>
              <a:rPr lang="en-US" sz="1150" b="1" dirty="0">
                <a:solidFill>
                  <a:srgbClr val="A371F7"/>
                </a:solidFill>
                <a:latin typeface="Calibri" pitchFamily="34" charset="0"/>
                <a:ea typeface="Calibri" pitchFamily="34" charset="-122"/>
                <a:cs typeface="Calibri" pitchFamily="34" charset="-120"/>
              </a:rPr>
              <a:t>Agent Identity</a:t>
            </a:r>
            <a:endParaRPr lang="en-US" sz="1150" dirty="0"/>
          </a:p>
        </p:txBody>
      </p:sp>
      <p:sp>
        <p:nvSpPr>
          <p:cNvPr id="10" name="Text 8"/>
          <p:cNvSpPr/>
          <p:nvPr/>
        </p:nvSpPr>
        <p:spPr>
          <a:xfrm>
            <a:off x="420624" y="2139696"/>
            <a:ext cx="3840480" cy="310896"/>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What the agent IS: unique identity, persona, version, scope, and owner</a:t>
            </a:r>
            <a:endParaRPr lang="en-US" sz="1000" dirty="0"/>
          </a:p>
        </p:txBody>
      </p:sp>
      <p:sp>
        <p:nvSpPr>
          <p:cNvPr id="11" name="Shape 9"/>
          <p:cNvSpPr/>
          <p:nvPr/>
        </p:nvSpPr>
        <p:spPr>
          <a:xfrm>
            <a:off x="256032" y="2542032"/>
            <a:ext cx="4206240" cy="640080"/>
          </a:xfrm>
          <a:prstGeom prst="rect">
            <a:avLst/>
          </a:prstGeom>
          <a:solidFill>
            <a:srgbClr val="161D28"/>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12" name="Shape 10"/>
          <p:cNvSpPr/>
          <p:nvPr/>
        </p:nvSpPr>
        <p:spPr>
          <a:xfrm>
            <a:off x="256032" y="2542032"/>
            <a:ext cx="45720" cy="640080"/>
          </a:xfrm>
          <a:prstGeom prst="rect">
            <a:avLst/>
          </a:prstGeom>
          <a:solidFill>
            <a:srgbClr val="4D9EFF"/>
          </a:solidFill>
          <a:ln w="12700">
            <a:solidFill>
              <a:srgbClr val="4D9EFF"/>
            </a:solidFill>
            <a:prstDash val="solid"/>
          </a:ln>
        </p:spPr>
      </p:sp>
      <p:sp>
        <p:nvSpPr>
          <p:cNvPr id="13" name="Text 11"/>
          <p:cNvSpPr/>
          <p:nvPr/>
        </p:nvSpPr>
        <p:spPr>
          <a:xfrm>
            <a:off x="420624" y="2587752"/>
            <a:ext cx="3840480" cy="237744"/>
          </a:xfrm>
          <a:prstGeom prst="rect">
            <a:avLst/>
          </a:prstGeom>
          <a:noFill/>
          <a:ln/>
        </p:spPr>
        <p:txBody>
          <a:bodyPr wrap="square" lIns="0" tIns="0" rIns="0" bIns="0" rtlCol="0" anchor="ctr"/>
          <a:lstStyle/>
          <a:p>
            <a:pPr indent="0" marL="0">
              <a:buNone/>
            </a:pPr>
            <a:r>
              <a:rPr lang="en-US" sz="1150" b="1" dirty="0">
                <a:solidFill>
                  <a:srgbClr val="4D9EFF"/>
                </a:solidFill>
                <a:latin typeface="Calibri" pitchFamily="34" charset="0"/>
                <a:ea typeface="Calibri" pitchFamily="34" charset="-122"/>
                <a:cs typeface="Calibri" pitchFamily="34" charset="-120"/>
              </a:rPr>
              <a:t>Operator Identity</a:t>
            </a:r>
            <a:endParaRPr lang="en-US" sz="1150" dirty="0"/>
          </a:p>
        </p:txBody>
      </p:sp>
      <p:sp>
        <p:nvSpPr>
          <p:cNvPr id="14" name="Text 12"/>
          <p:cNvSpPr/>
          <p:nvPr/>
        </p:nvSpPr>
        <p:spPr>
          <a:xfrm>
            <a:off x="420624" y="2834640"/>
            <a:ext cx="3840480" cy="310896"/>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WHO invoked or owns the agent: human or system principal that bears accountability</a:t>
            </a:r>
            <a:endParaRPr lang="en-US" sz="1000" dirty="0"/>
          </a:p>
        </p:txBody>
      </p:sp>
      <p:sp>
        <p:nvSpPr>
          <p:cNvPr id="15" name="Shape 13"/>
          <p:cNvSpPr/>
          <p:nvPr/>
        </p:nvSpPr>
        <p:spPr>
          <a:xfrm>
            <a:off x="256032" y="3236976"/>
            <a:ext cx="4206240" cy="640080"/>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16" name="Shape 14"/>
          <p:cNvSpPr/>
          <p:nvPr/>
        </p:nvSpPr>
        <p:spPr>
          <a:xfrm>
            <a:off x="256032" y="3236976"/>
            <a:ext cx="45720" cy="640080"/>
          </a:xfrm>
          <a:prstGeom prst="rect">
            <a:avLst/>
          </a:prstGeom>
          <a:solidFill>
            <a:srgbClr val="00C9A7"/>
          </a:solidFill>
          <a:ln w="12700">
            <a:solidFill>
              <a:srgbClr val="00C9A7"/>
            </a:solidFill>
            <a:prstDash val="solid"/>
          </a:ln>
        </p:spPr>
      </p:sp>
      <p:sp>
        <p:nvSpPr>
          <p:cNvPr id="17" name="Text 15"/>
          <p:cNvSpPr/>
          <p:nvPr/>
        </p:nvSpPr>
        <p:spPr>
          <a:xfrm>
            <a:off x="420624" y="3282696"/>
            <a:ext cx="3840480" cy="237744"/>
          </a:xfrm>
          <a:prstGeom prst="rect">
            <a:avLst/>
          </a:prstGeom>
          <a:noFill/>
          <a:ln/>
        </p:spPr>
        <p:txBody>
          <a:bodyPr wrap="square" lIns="0" tIns="0" rIns="0" bIns="0" rtlCol="0" anchor="ctr"/>
          <a:lstStyle/>
          <a:p>
            <a:pPr indent="0" marL="0">
              <a:buNone/>
            </a:pPr>
            <a:r>
              <a:rPr lang="en-US" sz="1150" b="1" dirty="0">
                <a:solidFill>
                  <a:srgbClr val="00C9A7"/>
                </a:solidFill>
                <a:latin typeface="Calibri" pitchFamily="34" charset="0"/>
                <a:ea typeface="Calibri" pitchFamily="34" charset="-122"/>
                <a:cs typeface="Calibri" pitchFamily="34" charset="-120"/>
              </a:rPr>
              <a:t>Delegated Authority</a:t>
            </a:r>
            <a:endParaRPr lang="en-US" sz="1150" dirty="0"/>
          </a:p>
        </p:txBody>
      </p:sp>
      <p:sp>
        <p:nvSpPr>
          <p:cNvPr id="18" name="Text 16"/>
          <p:cNvSpPr/>
          <p:nvPr/>
        </p:nvSpPr>
        <p:spPr>
          <a:xfrm>
            <a:off x="420624" y="3529584"/>
            <a:ext cx="3840480" cy="310896"/>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WHAT the agent may do: explicit grant of permitted actions, bounded and time-limited</a:t>
            </a:r>
            <a:endParaRPr lang="en-US" sz="1000" dirty="0"/>
          </a:p>
        </p:txBody>
      </p:sp>
      <p:sp>
        <p:nvSpPr>
          <p:cNvPr id="19" name="Shape 17"/>
          <p:cNvSpPr/>
          <p:nvPr/>
        </p:nvSpPr>
        <p:spPr>
          <a:xfrm>
            <a:off x="256032" y="3931920"/>
            <a:ext cx="4206240" cy="640080"/>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20" name="Shape 18"/>
          <p:cNvSpPr/>
          <p:nvPr/>
        </p:nvSpPr>
        <p:spPr>
          <a:xfrm>
            <a:off x="256032" y="3931920"/>
            <a:ext cx="45720" cy="640080"/>
          </a:xfrm>
          <a:prstGeom prst="rect">
            <a:avLst/>
          </a:prstGeom>
          <a:solidFill>
            <a:srgbClr val="00C9A7"/>
          </a:solidFill>
          <a:ln w="12700">
            <a:solidFill>
              <a:srgbClr val="00C9A7"/>
            </a:solidFill>
            <a:prstDash val="solid"/>
          </a:ln>
        </p:spPr>
      </p:sp>
      <p:sp>
        <p:nvSpPr>
          <p:cNvPr id="21" name="Text 19"/>
          <p:cNvSpPr/>
          <p:nvPr/>
        </p:nvSpPr>
        <p:spPr>
          <a:xfrm>
            <a:off x="420624" y="3977640"/>
            <a:ext cx="3840480" cy="237744"/>
          </a:xfrm>
          <a:prstGeom prst="rect">
            <a:avLst/>
          </a:prstGeom>
          <a:noFill/>
          <a:ln/>
        </p:spPr>
        <p:txBody>
          <a:bodyPr wrap="square" lIns="0" tIns="0" rIns="0" bIns="0" rtlCol="0" anchor="ctr"/>
          <a:lstStyle/>
          <a:p>
            <a:pPr indent="0" marL="0">
              <a:buNone/>
            </a:pPr>
            <a:r>
              <a:rPr lang="en-US" sz="1150" b="1" dirty="0">
                <a:solidFill>
                  <a:srgbClr val="00C9A7"/>
                </a:solidFill>
                <a:latin typeface="Calibri" pitchFamily="34" charset="0"/>
                <a:ea typeface="Calibri" pitchFamily="34" charset="-122"/>
                <a:cs typeface="Calibri" pitchFamily="34" charset="-120"/>
              </a:rPr>
              <a:t>Tool Authority</a:t>
            </a:r>
            <a:endParaRPr lang="en-US" sz="1150" dirty="0"/>
          </a:p>
        </p:txBody>
      </p:sp>
      <p:sp>
        <p:nvSpPr>
          <p:cNvPr id="22" name="Text 20"/>
          <p:cNvSpPr/>
          <p:nvPr/>
        </p:nvSpPr>
        <p:spPr>
          <a:xfrm>
            <a:off x="420624" y="4224528"/>
            <a:ext cx="3840480" cy="310896"/>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WHAT each connected system permits: per-system capability grants, not assumed from identity</a:t>
            </a:r>
            <a:endParaRPr lang="en-US" sz="1000" dirty="0"/>
          </a:p>
        </p:txBody>
      </p:sp>
      <p:sp>
        <p:nvSpPr>
          <p:cNvPr id="23" name="Shape 21"/>
          <p:cNvSpPr/>
          <p:nvPr/>
        </p:nvSpPr>
        <p:spPr>
          <a:xfrm>
            <a:off x="4617720" y="1847088"/>
            <a:ext cx="4206240" cy="640080"/>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24" name="Shape 22"/>
          <p:cNvSpPr/>
          <p:nvPr/>
        </p:nvSpPr>
        <p:spPr>
          <a:xfrm>
            <a:off x="4617720" y="1847088"/>
            <a:ext cx="45720" cy="640080"/>
          </a:xfrm>
          <a:prstGeom prst="rect">
            <a:avLst/>
          </a:prstGeom>
          <a:solidFill>
            <a:srgbClr val="E3B341"/>
          </a:solidFill>
          <a:ln w="12700">
            <a:solidFill>
              <a:srgbClr val="E3B341"/>
            </a:solidFill>
            <a:prstDash val="solid"/>
          </a:ln>
        </p:spPr>
      </p:sp>
      <p:sp>
        <p:nvSpPr>
          <p:cNvPr id="25" name="Text 23"/>
          <p:cNvSpPr/>
          <p:nvPr/>
        </p:nvSpPr>
        <p:spPr>
          <a:xfrm>
            <a:off x="4782312" y="1892808"/>
            <a:ext cx="3840480" cy="237744"/>
          </a:xfrm>
          <a:prstGeom prst="rect">
            <a:avLst/>
          </a:prstGeom>
          <a:noFill/>
          <a:ln/>
        </p:spPr>
        <p:txBody>
          <a:bodyPr wrap="square" lIns="0" tIns="0" rIns="0" bIns="0" rtlCol="0" anchor="ctr"/>
          <a:lstStyle/>
          <a:p>
            <a:pPr indent="0" marL="0">
              <a:buNone/>
            </a:pPr>
            <a:r>
              <a:rPr lang="en-US" sz="1150" b="1" dirty="0">
                <a:solidFill>
                  <a:srgbClr val="E3B341"/>
                </a:solidFill>
                <a:latin typeface="Calibri" pitchFamily="34" charset="0"/>
                <a:ea typeface="Calibri" pitchFamily="34" charset="-122"/>
                <a:cs typeface="Calibri" pitchFamily="34" charset="-120"/>
              </a:rPr>
              <a:t>Data Authority</a:t>
            </a:r>
            <a:endParaRPr lang="en-US" sz="1150" dirty="0"/>
          </a:p>
        </p:txBody>
      </p:sp>
      <p:sp>
        <p:nvSpPr>
          <p:cNvPr id="26" name="Text 24"/>
          <p:cNvSpPr/>
          <p:nvPr/>
        </p:nvSpPr>
        <p:spPr>
          <a:xfrm>
            <a:off x="4782312" y="2139696"/>
            <a:ext cx="3840480" cy="310896"/>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WHAT data the agent may retrieve, infer from, or act on: governed by data classification</a:t>
            </a:r>
            <a:endParaRPr lang="en-US" sz="1000" dirty="0"/>
          </a:p>
        </p:txBody>
      </p:sp>
      <p:sp>
        <p:nvSpPr>
          <p:cNvPr id="27" name="Shape 25"/>
          <p:cNvSpPr/>
          <p:nvPr/>
        </p:nvSpPr>
        <p:spPr>
          <a:xfrm>
            <a:off x="4617720" y="2542032"/>
            <a:ext cx="4206240" cy="640080"/>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28" name="Shape 26"/>
          <p:cNvSpPr/>
          <p:nvPr/>
        </p:nvSpPr>
        <p:spPr>
          <a:xfrm>
            <a:off x="4617720" y="2542032"/>
            <a:ext cx="45720" cy="640080"/>
          </a:xfrm>
          <a:prstGeom prst="rect">
            <a:avLst/>
          </a:prstGeom>
          <a:solidFill>
            <a:srgbClr val="E3B341"/>
          </a:solidFill>
          <a:ln w="12700">
            <a:solidFill>
              <a:srgbClr val="E3B341"/>
            </a:solidFill>
            <a:prstDash val="solid"/>
          </a:ln>
        </p:spPr>
      </p:sp>
      <p:sp>
        <p:nvSpPr>
          <p:cNvPr id="29" name="Text 27"/>
          <p:cNvSpPr/>
          <p:nvPr/>
        </p:nvSpPr>
        <p:spPr>
          <a:xfrm>
            <a:off x="4782312" y="2587752"/>
            <a:ext cx="3840480" cy="237744"/>
          </a:xfrm>
          <a:prstGeom prst="rect">
            <a:avLst/>
          </a:prstGeom>
          <a:noFill/>
          <a:ln/>
        </p:spPr>
        <p:txBody>
          <a:bodyPr wrap="square" lIns="0" tIns="0" rIns="0" bIns="0" rtlCol="0" anchor="ctr"/>
          <a:lstStyle/>
          <a:p>
            <a:pPr indent="0" marL="0">
              <a:buNone/>
            </a:pPr>
            <a:r>
              <a:rPr lang="en-US" sz="1150" b="1" dirty="0">
                <a:solidFill>
                  <a:srgbClr val="E3B341"/>
                </a:solidFill>
                <a:latin typeface="Calibri" pitchFamily="34" charset="0"/>
                <a:ea typeface="Calibri" pitchFamily="34" charset="-122"/>
                <a:cs typeface="Calibri" pitchFamily="34" charset="-120"/>
              </a:rPr>
              <a:t>Execution Authority</a:t>
            </a:r>
            <a:endParaRPr lang="en-US" sz="1150" dirty="0"/>
          </a:p>
        </p:txBody>
      </p:sp>
      <p:sp>
        <p:nvSpPr>
          <p:cNvPr id="30" name="Text 28"/>
          <p:cNvSpPr/>
          <p:nvPr/>
        </p:nvSpPr>
        <p:spPr>
          <a:xfrm>
            <a:off x="4782312" y="2834640"/>
            <a:ext cx="3840480" cy="310896"/>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WHAT actions it may perform autonomously vs. those requiring HITL escalation</a:t>
            </a:r>
            <a:endParaRPr lang="en-US" sz="1000" dirty="0"/>
          </a:p>
        </p:txBody>
      </p:sp>
      <p:sp>
        <p:nvSpPr>
          <p:cNvPr id="31" name="Shape 29"/>
          <p:cNvSpPr/>
          <p:nvPr/>
        </p:nvSpPr>
        <p:spPr>
          <a:xfrm>
            <a:off x="4617720" y="3236976"/>
            <a:ext cx="4206240" cy="640080"/>
          </a:xfrm>
          <a:prstGeom prst="rect">
            <a:avLst/>
          </a:prstGeom>
          <a:solidFill>
            <a:srgbClr val="161D28"/>
          </a:solidFill>
          <a:ln w="12700">
            <a:solidFill>
              <a:srgbClr val="7D8FA9"/>
            </a:solidFill>
            <a:prstDash val="solid"/>
          </a:ln>
          <a:effectLst>
            <a:outerShdw sx="100000" sy="100000" kx="0" ky="0" algn="bl" rotWithShape="0" blurRad="101600" dist="38100" dir="8100000">
              <a:srgbClr val="000000">
                <a:alpha val="22000"/>
              </a:srgbClr>
            </a:outerShdw>
          </a:effectLst>
        </p:spPr>
      </p:sp>
      <p:sp>
        <p:nvSpPr>
          <p:cNvPr id="32" name="Shape 30"/>
          <p:cNvSpPr/>
          <p:nvPr/>
        </p:nvSpPr>
        <p:spPr>
          <a:xfrm>
            <a:off x="4617720" y="3236976"/>
            <a:ext cx="45720" cy="640080"/>
          </a:xfrm>
          <a:prstGeom prst="rect">
            <a:avLst/>
          </a:prstGeom>
          <a:solidFill>
            <a:srgbClr val="7D8FA9"/>
          </a:solidFill>
          <a:ln w="12700">
            <a:solidFill>
              <a:srgbClr val="7D8FA9"/>
            </a:solidFill>
            <a:prstDash val="solid"/>
          </a:ln>
        </p:spPr>
      </p:sp>
      <p:sp>
        <p:nvSpPr>
          <p:cNvPr id="33" name="Text 31"/>
          <p:cNvSpPr/>
          <p:nvPr/>
        </p:nvSpPr>
        <p:spPr>
          <a:xfrm>
            <a:off x="4782312" y="3282696"/>
            <a:ext cx="3840480" cy="237744"/>
          </a:xfrm>
          <a:prstGeom prst="rect">
            <a:avLst/>
          </a:prstGeom>
          <a:noFill/>
          <a:ln/>
        </p:spPr>
        <p:txBody>
          <a:bodyPr wrap="square" lIns="0" tIns="0" rIns="0" bIns="0" rtlCol="0" anchor="ctr"/>
          <a:lstStyle/>
          <a:p>
            <a:pPr indent="0" marL="0">
              <a:buNone/>
            </a:pPr>
            <a:r>
              <a:rPr lang="en-US" sz="1150" b="1" dirty="0">
                <a:solidFill>
                  <a:srgbClr val="7D8FA9"/>
                </a:solidFill>
                <a:latin typeface="Calibri" pitchFamily="34" charset="0"/>
                <a:ea typeface="Calibri" pitchFamily="34" charset="-122"/>
                <a:cs typeface="Calibri" pitchFamily="34" charset="-120"/>
              </a:rPr>
              <a:t>Persona</a:t>
            </a:r>
            <a:endParaRPr lang="en-US" sz="1150" dirty="0"/>
          </a:p>
        </p:txBody>
      </p:sp>
      <p:sp>
        <p:nvSpPr>
          <p:cNvPr id="34" name="Text 32"/>
          <p:cNvSpPr/>
          <p:nvPr/>
        </p:nvSpPr>
        <p:spPr>
          <a:xfrm>
            <a:off x="4782312" y="3529584"/>
            <a:ext cx="3840480" cy="310896"/>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HOW the agent communicates: communication profile, tone, disclosure posture</a:t>
            </a:r>
            <a:endParaRPr lang="en-US" sz="1000" dirty="0"/>
          </a:p>
        </p:txBody>
      </p:sp>
      <p:sp>
        <p:nvSpPr>
          <p:cNvPr id="35" name="Shape 33"/>
          <p:cNvSpPr/>
          <p:nvPr/>
        </p:nvSpPr>
        <p:spPr>
          <a:xfrm>
            <a:off x="4617720" y="3931920"/>
            <a:ext cx="4206240" cy="640080"/>
          </a:xfrm>
          <a:prstGeom prst="rect">
            <a:avLst/>
          </a:prstGeom>
          <a:solidFill>
            <a:srgbClr val="161D28"/>
          </a:solidFill>
          <a:ln w="12700">
            <a:solidFill>
              <a:srgbClr val="F85149"/>
            </a:solidFill>
            <a:prstDash val="solid"/>
          </a:ln>
          <a:effectLst>
            <a:outerShdw sx="100000" sy="100000" kx="0" ky="0" algn="bl" rotWithShape="0" blurRad="101600" dist="38100" dir="8100000">
              <a:srgbClr val="000000">
                <a:alpha val="22000"/>
              </a:srgbClr>
            </a:outerShdw>
          </a:effectLst>
        </p:spPr>
      </p:sp>
      <p:sp>
        <p:nvSpPr>
          <p:cNvPr id="36" name="Shape 34"/>
          <p:cNvSpPr/>
          <p:nvPr/>
        </p:nvSpPr>
        <p:spPr>
          <a:xfrm>
            <a:off x="4617720" y="3931920"/>
            <a:ext cx="45720" cy="640080"/>
          </a:xfrm>
          <a:prstGeom prst="rect">
            <a:avLst/>
          </a:prstGeom>
          <a:solidFill>
            <a:srgbClr val="F85149"/>
          </a:solidFill>
          <a:ln w="12700">
            <a:solidFill>
              <a:srgbClr val="F85149"/>
            </a:solidFill>
            <a:prstDash val="solid"/>
          </a:ln>
        </p:spPr>
      </p:sp>
      <p:sp>
        <p:nvSpPr>
          <p:cNvPr id="37" name="Text 35"/>
          <p:cNvSpPr/>
          <p:nvPr/>
        </p:nvSpPr>
        <p:spPr>
          <a:xfrm>
            <a:off x="4782312" y="3977640"/>
            <a:ext cx="3840480" cy="237744"/>
          </a:xfrm>
          <a:prstGeom prst="rect">
            <a:avLst/>
          </a:prstGeom>
          <a:noFill/>
          <a:ln/>
        </p:spPr>
        <p:txBody>
          <a:bodyPr wrap="square" lIns="0" tIns="0" rIns="0" bIns="0" rtlCol="0" anchor="ctr"/>
          <a:lstStyle/>
          <a:p>
            <a:pPr indent="0" marL="0">
              <a:buNone/>
            </a:pPr>
            <a:r>
              <a:rPr lang="en-US" sz="1150" b="1" dirty="0">
                <a:solidFill>
                  <a:srgbClr val="F85149"/>
                </a:solidFill>
                <a:latin typeface="Calibri" pitchFamily="34" charset="0"/>
                <a:ea typeface="Calibri" pitchFamily="34" charset="-122"/>
                <a:cs typeface="Calibri" pitchFamily="34" charset="-120"/>
              </a:rPr>
              <a:t>Audit Attribution</a:t>
            </a:r>
            <a:endParaRPr lang="en-US" sz="1150" dirty="0"/>
          </a:p>
        </p:txBody>
      </p:sp>
      <p:sp>
        <p:nvSpPr>
          <p:cNvPr id="38" name="Text 36"/>
          <p:cNvSpPr/>
          <p:nvPr/>
        </p:nvSpPr>
        <p:spPr>
          <a:xfrm>
            <a:off x="4782312" y="4224528"/>
            <a:ext cx="3840480" cy="310896"/>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HOW responsibility is traced: immutable log linking every action to agent + operator + grant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00C9A7"/>
          </a:solidFill>
          <a:ln w="12700">
            <a:solidFill>
              <a:srgbClr val="00C9A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00C9A7"/>
                </a:solidFill>
                <a:latin typeface="Calibri" pitchFamily="34" charset="0"/>
                <a:ea typeface="Calibri" pitchFamily="34" charset="-122"/>
                <a:cs typeface="Calibri" pitchFamily="34" charset="-120"/>
              </a:rPr>
              <a:t>OAAD ECONOMICS</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Replace License Rent With Platform Investment</a:t>
            </a:r>
            <a:endParaRPr lang="en-US" sz="3000" dirty="0"/>
          </a:p>
        </p:txBody>
      </p:sp>
      <p:sp>
        <p:nvSpPr>
          <p:cNvPr id="6" name="Text 4"/>
          <p:cNvSpPr/>
          <p:nvPr/>
        </p:nvSpPr>
        <p:spPr>
          <a:xfrm>
            <a:off x="365760" y="1234440"/>
            <a:ext cx="8412480" cy="475488"/>
          </a:xfrm>
          <a:prstGeom prst="rect">
            <a:avLst/>
          </a:prstGeom>
          <a:noFill/>
          <a:ln/>
        </p:spPr>
        <p:txBody>
          <a:bodyPr wrap="square" lIns="0" tIns="0" rIns="0" bIns="0" rtlCol="0" anchor="ctr"/>
          <a:lstStyle/>
          <a:p>
            <a:pPr indent="0" marL="0">
              <a:buNone/>
            </a:pPr>
            <a:r>
              <a:rPr lang="en-US" sz="1200" i="1" dirty="0">
                <a:solidFill>
                  <a:srgbClr val="7D8FA9"/>
                </a:solidFill>
                <a:latin typeface="Calibri" pitchFamily="34" charset="0"/>
                <a:ea typeface="Calibri" pitchFamily="34" charset="-122"/>
                <a:cs typeface="Calibri" pitchFamily="34" charset="-120"/>
              </a:rPr>
              <a:t>The OAAD case is not "free OSS replaces paid COTS." The credible version: OAAD trades recurring vendor rent for owned platform engineering capacity and a compounding institutional intelligence asset.</a:t>
            </a:r>
            <a:endParaRPr lang="en-US" sz="1200" dirty="0"/>
          </a:p>
        </p:txBody>
      </p:sp>
      <p:sp>
        <p:nvSpPr>
          <p:cNvPr id="7" name="Shape 5"/>
          <p:cNvSpPr/>
          <p:nvPr/>
        </p:nvSpPr>
        <p:spPr>
          <a:xfrm>
            <a:off x="228600" y="1810512"/>
            <a:ext cx="2560320" cy="256032"/>
          </a:xfrm>
          <a:prstGeom prst="rect">
            <a:avLst/>
          </a:prstGeom>
          <a:solidFill>
            <a:srgbClr val="1C2433"/>
          </a:solidFill>
          <a:ln w="12700">
            <a:solidFill>
              <a:srgbClr val="243044"/>
            </a:solidFill>
            <a:prstDash val="solid"/>
          </a:ln>
        </p:spPr>
      </p:sp>
      <p:sp>
        <p:nvSpPr>
          <p:cNvPr id="8" name="Text 6"/>
          <p:cNvSpPr/>
          <p:nvPr/>
        </p:nvSpPr>
        <p:spPr>
          <a:xfrm>
            <a:off x="320040" y="1856232"/>
            <a:ext cx="2468880" cy="182880"/>
          </a:xfrm>
          <a:prstGeom prst="rect">
            <a:avLst/>
          </a:prstGeom>
          <a:noFill/>
          <a:ln/>
        </p:spPr>
        <p:txBody>
          <a:bodyPr wrap="square" lIns="0" tIns="0" rIns="0" bIns="0" rtlCol="0" anchor="ctr"/>
          <a:lstStyle/>
          <a:p>
            <a:pPr indent="0" marL="0">
              <a:buNone/>
            </a:pPr>
            <a:r>
              <a:rPr lang="en-US" sz="800" b="1" spc="100" kern="0" dirty="0">
                <a:solidFill>
                  <a:srgbClr val="7D8FA9"/>
                </a:solidFill>
                <a:latin typeface="Calibri" pitchFamily="34" charset="0"/>
                <a:ea typeface="Calibri" pitchFamily="34" charset="-122"/>
                <a:cs typeface="Calibri" pitchFamily="34" charset="-120"/>
              </a:rPr>
              <a:t>COST BUCKET</a:t>
            </a:r>
            <a:endParaRPr lang="en-US" sz="800" dirty="0"/>
          </a:p>
        </p:txBody>
      </p:sp>
      <p:sp>
        <p:nvSpPr>
          <p:cNvPr id="9" name="Shape 7"/>
          <p:cNvSpPr/>
          <p:nvPr/>
        </p:nvSpPr>
        <p:spPr>
          <a:xfrm>
            <a:off x="2862072" y="1810512"/>
            <a:ext cx="2560320" cy="256032"/>
          </a:xfrm>
          <a:prstGeom prst="rect">
            <a:avLst/>
          </a:prstGeom>
          <a:solidFill>
            <a:srgbClr val="1C2433"/>
          </a:solidFill>
          <a:ln w="12700">
            <a:solidFill>
              <a:srgbClr val="243044"/>
            </a:solidFill>
            <a:prstDash val="solid"/>
          </a:ln>
        </p:spPr>
      </p:sp>
      <p:sp>
        <p:nvSpPr>
          <p:cNvPr id="10" name="Text 8"/>
          <p:cNvSpPr/>
          <p:nvPr/>
        </p:nvSpPr>
        <p:spPr>
          <a:xfrm>
            <a:off x="2953512" y="1856232"/>
            <a:ext cx="2468880" cy="182880"/>
          </a:xfrm>
          <a:prstGeom prst="rect">
            <a:avLst/>
          </a:prstGeom>
          <a:noFill/>
          <a:ln/>
        </p:spPr>
        <p:txBody>
          <a:bodyPr wrap="square" lIns="0" tIns="0" rIns="0" bIns="0" rtlCol="0" anchor="ctr"/>
          <a:lstStyle/>
          <a:p>
            <a:pPr indent="0" marL="0">
              <a:buNone/>
            </a:pPr>
            <a:r>
              <a:rPr lang="en-US" sz="800" b="1" spc="100" kern="0" dirty="0">
                <a:solidFill>
                  <a:srgbClr val="7D8FA9"/>
                </a:solidFill>
                <a:latin typeface="Calibri" pitchFamily="34" charset="0"/>
                <a:ea typeface="Calibri" pitchFamily="34" charset="-122"/>
                <a:cs typeface="Calibri" pitchFamily="34" charset="-120"/>
              </a:rPr>
              <a:t>COTS MODEL</a:t>
            </a:r>
            <a:endParaRPr lang="en-US" sz="800" dirty="0"/>
          </a:p>
        </p:txBody>
      </p:sp>
      <p:sp>
        <p:nvSpPr>
          <p:cNvPr id="11" name="Shape 9"/>
          <p:cNvSpPr/>
          <p:nvPr/>
        </p:nvSpPr>
        <p:spPr>
          <a:xfrm>
            <a:off x="5495544" y="1810512"/>
            <a:ext cx="3401568" cy="256032"/>
          </a:xfrm>
          <a:prstGeom prst="rect">
            <a:avLst/>
          </a:prstGeom>
          <a:solidFill>
            <a:srgbClr val="1C2433"/>
          </a:solidFill>
          <a:ln w="12700">
            <a:solidFill>
              <a:srgbClr val="243044"/>
            </a:solidFill>
            <a:prstDash val="solid"/>
          </a:ln>
        </p:spPr>
      </p:sp>
      <p:sp>
        <p:nvSpPr>
          <p:cNvPr id="12" name="Text 10"/>
          <p:cNvSpPr/>
          <p:nvPr/>
        </p:nvSpPr>
        <p:spPr>
          <a:xfrm>
            <a:off x="5586984" y="1856232"/>
            <a:ext cx="3310128" cy="182880"/>
          </a:xfrm>
          <a:prstGeom prst="rect">
            <a:avLst/>
          </a:prstGeom>
          <a:noFill/>
          <a:ln/>
        </p:spPr>
        <p:txBody>
          <a:bodyPr wrap="square" lIns="0" tIns="0" rIns="0" bIns="0" rtlCol="0" anchor="ctr"/>
          <a:lstStyle/>
          <a:p>
            <a:pPr indent="0" marL="0">
              <a:buNone/>
            </a:pPr>
            <a:r>
              <a:rPr lang="en-US" sz="800" b="1" spc="100" kern="0" dirty="0">
                <a:solidFill>
                  <a:srgbClr val="7D8FA9"/>
                </a:solidFill>
                <a:latin typeface="Calibri" pitchFamily="34" charset="0"/>
                <a:ea typeface="Calibri" pitchFamily="34" charset="-122"/>
                <a:cs typeface="Calibri" pitchFamily="34" charset="-120"/>
              </a:rPr>
              <a:t>OAAD MODEL</a:t>
            </a:r>
            <a:endParaRPr lang="en-US" sz="800" dirty="0"/>
          </a:p>
        </p:txBody>
      </p:sp>
      <p:sp>
        <p:nvSpPr>
          <p:cNvPr id="13" name="Shape 11"/>
          <p:cNvSpPr/>
          <p:nvPr/>
        </p:nvSpPr>
        <p:spPr>
          <a:xfrm>
            <a:off x="228600" y="2103120"/>
            <a:ext cx="2560320" cy="292608"/>
          </a:xfrm>
          <a:prstGeom prst="rect">
            <a:avLst/>
          </a:prstGeom>
          <a:solidFill>
            <a:srgbClr val="161D28"/>
          </a:solidFill>
          <a:ln w="12700">
            <a:solidFill>
              <a:srgbClr val="243044"/>
            </a:solidFill>
            <a:prstDash val="solid"/>
          </a:ln>
        </p:spPr>
      </p:sp>
      <p:sp>
        <p:nvSpPr>
          <p:cNvPr id="14" name="Shape 12"/>
          <p:cNvSpPr/>
          <p:nvPr/>
        </p:nvSpPr>
        <p:spPr>
          <a:xfrm>
            <a:off x="2862072" y="2103120"/>
            <a:ext cx="2560320" cy="292608"/>
          </a:xfrm>
          <a:prstGeom prst="rect">
            <a:avLst/>
          </a:prstGeom>
          <a:solidFill>
            <a:srgbClr val="161D28"/>
          </a:solidFill>
          <a:ln w="12700">
            <a:solidFill>
              <a:srgbClr val="243044"/>
            </a:solidFill>
            <a:prstDash val="solid"/>
          </a:ln>
        </p:spPr>
      </p:sp>
      <p:sp>
        <p:nvSpPr>
          <p:cNvPr id="15" name="Shape 13"/>
          <p:cNvSpPr/>
          <p:nvPr/>
        </p:nvSpPr>
        <p:spPr>
          <a:xfrm>
            <a:off x="5495544" y="2103120"/>
            <a:ext cx="3401568" cy="292608"/>
          </a:xfrm>
          <a:prstGeom prst="rect">
            <a:avLst/>
          </a:prstGeom>
          <a:solidFill>
            <a:srgbClr val="161D28"/>
          </a:solidFill>
          <a:ln w="12700">
            <a:solidFill>
              <a:srgbClr val="243044"/>
            </a:solidFill>
            <a:prstDash val="solid"/>
          </a:ln>
        </p:spPr>
      </p:sp>
      <p:sp>
        <p:nvSpPr>
          <p:cNvPr id="16" name="Text 14"/>
          <p:cNvSpPr/>
          <p:nvPr/>
        </p:nvSpPr>
        <p:spPr>
          <a:xfrm>
            <a:off x="320040" y="2176272"/>
            <a:ext cx="2377440" cy="164592"/>
          </a:xfrm>
          <a:prstGeom prst="rect">
            <a:avLst/>
          </a:prstGeom>
          <a:noFill/>
          <a:ln/>
        </p:spPr>
        <p:txBody>
          <a:bodyPr wrap="square" lIns="0" tIns="0" rIns="0" bIns="0" rtlCol="0" anchor="ctr"/>
          <a:lstStyle/>
          <a:p>
            <a:pPr indent="0" marL="0">
              <a:buNone/>
            </a:pPr>
            <a:r>
              <a:rPr lang="en-US" sz="950" b="1" dirty="0">
                <a:solidFill>
                  <a:srgbClr val="7D8FA9"/>
                </a:solidFill>
                <a:latin typeface="Calibri" pitchFamily="34" charset="0"/>
                <a:ea typeface="Calibri" pitchFamily="34" charset="-122"/>
                <a:cs typeface="Calibri" pitchFamily="34" charset="-120"/>
              </a:rPr>
              <a:t>Software license</a:t>
            </a:r>
            <a:endParaRPr lang="en-US" sz="950" dirty="0"/>
          </a:p>
        </p:txBody>
      </p:sp>
      <p:sp>
        <p:nvSpPr>
          <p:cNvPr id="17" name="Text 15"/>
          <p:cNvSpPr/>
          <p:nvPr/>
        </p:nvSpPr>
        <p:spPr>
          <a:xfrm>
            <a:off x="2953512" y="2176272"/>
            <a:ext cx="2377440" cy="164592"/>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High: perpetual or subscription</a:t>
            </a:r>
            <a:endParaRPr lang="en-US" sz="950" dirty="0"/>
          </a:p>
        </p:txBody>
      </p:sp>
      <p:sp>
        <p:nvSpPr>
          <p:cNvPr id="18" name="Text 16"/>
          <p:cNvSpPr/>
          <p:nvPr/>
        </p:nvSpPr>
        <p:spPr>
          <a:xfrm>
            <a:off x="5586984" y="2176272"/>
            <a:ext cx="3218688" cy="164592"/>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Zero: OSS is free</a:t>
            </a:r>
            <a:endParaRPr lang="en-US" sz="950" dirty="0"/>
          </a:p>
        </p:txBody>
      </p:sp>
      <p:sp>
        <p:nvSpPr>
          <p:cNvPr id="19" name="Shape 17"/>
          <p:cNvSpPr/>
          <p:nvPr/>
        </p:nvSpPr>
        <p:spPr>
          <a:xfrm>
            <a:off x="228600" y="2414016"/>
            <a:ext cx="2560320" cy="292608"/>
          </a:xfrm>
          <a:prstGeom prst="rect">
            <a:avLst/>
          </a:prstGeom>
          <a:solidFill>
            <a:srgbClr val="131920"/>
          </a:solidFill>
          <a:ln w="12700">
            <a:solidFill>
              <a:srgbClr val="243044"/>
            </a:solidFill>
            <a:prstDash val="solid"/>
          </a:ln>
        </p:spPr>
      </p:sp>
      <p:sp>
        <p:nvSpPr>
          <p:cNvPr id="20" name="Shape 18"/>
          <p:cNvSpPr/>
          <p:nvPr/>
        </p:nvSpPr>
        <p:spPr>
          <a:xfrm>
            <a:off x="2862072" y="2414016"/>
            <a:ext cx="2560320" cy="292608"/>
          </a:xfrm>
          <a:prstGeom prst="rect">
            <a:avLst/>
          </a:prstGeom>
          <a:solidFill>
            <a:srgbClr val="131920"/>
          </a:solidFill>
          <a:ln w="12700">
            <a:solidFill>
              <a:srgbClr val="243044"/>
            </a:solidFill>
            <a:prstDash val="solid"/>
          </a:ln>
        </p:spPr>
      </p:sp>
      <p:sp>
        <p:nvSpPr>
          <p:cNvPr id="21" name="Shape 19"/>
          <p:cNvSpPr/>
          <p:nvPr/>
        </p:nvSpPr>
        <p:spPr>
          <a:xfrm>
            <a:off x="5495544" y="2414016"/>
            <a:ext cx="3401568" cy="292608"/>
          </a:xfrm>
          <a:prstGeom prst="rect">
            <a:avLst/>
          </a:prstGeom>
          <a:solidFill>
            <a:srgbClr val="131920"/>
          </a:solidFill>
          <a:ln w="12700">
            <a:solidFill>
              <a:srgbClr val="243044"/>
            </a:solidFill>
            <a:prstDash val="solid"/>
          </a:ln>
        </p:spPr>
      </p:sp>
      <p:sp>
        <p:nvSpPr>
          <p:cNvPr id="22" name="Text 20"/>
          <p:cNvSpPr/>
          <p:nvPr/>
        </p:nvSpPr>
        <p:spPr>
          <a:xfrm>
            <a:off x="320040" y="2487168"/>
            <a:ext cx="2377440" cy="164592"/>
          </a:xfrm>
          <a:prstGeom prst="rect">
            <a:avLst/>
          </a:prstGeom>
          <a:noFill/>
          <a:ln/>
        </p:spPr>
        <p:txBody>
          <a:bodyPr wrap="square" lIns="0" tIns="0" rIns="0" bIns="0" rtlCol="0" anchor="ctr"/>
          <a:lstStyle/>
          <a:p>
            <a:pPr indent="0" marL="0">
              <a:buNone/>
            </a:pPr>
            <a:r>
              <a:rPr lang="en-US" sz="950" b="1" dirty="0">
                <a:solidFill>
                  <a:srgbClr val="7D8FA9"/>
                </a:solidFill>
                <a:latin typeface="Calibri" pitchFamily="34" charset="0"/>
                <a:ea typeface="Calibri" pitchFamily="34" charset="-122"/>
                <a:cs typeface="Calibri" pitchFamily="34" charset="-120"/>
              </a:rPr>
              <a:t>Professional services</a:t>
            </a:r>
            <a:endParaRPr lang="en-US" sz="950" dirty="0"/>
          </a:p>
        </p:txBody>
      </p:sp>
      <p:sp>
        <p:nvSpPr>
          <p:cNvPr id="23" name="Text 21"/>
          <p:cNvSpPr/>
          <p:nvPr/>
        </p:nvSpPr>
        <p:spPr>
          <a:xfrm>
            <a:off x="2953512" y="2487168"/>
            <a:ext cx="2377440" cy="164592"/>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High: vendor PS army</a:t>
            </a:r>
            <a:endParaRPr lang="en-US" sz="950" dirty="0"/>
          </a:p>
        </p:txBody>
      </p:sp>
      <p:sp>
        <p:nvSpPr>
          <p:cNvPr id="24" name="Text 22"/>
          <p:cNvSpPr/>
          <p:nvPr/>
        </p:nvSpPr>
        <p:spPr>
          <a:xfrm>
            <a:off x="5586984" y="2487168"/>
            <a:ext cx="3218688" cy="164592"/>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Moderate: platform engineering team</a:t>
            </a:r>
            <a:endParaRPr lang="en-US" sz="950" dirty="0"/>
          </a:p>
        </p:txBody>
      </p:sp>
      <p:sp>
        <p:nvSpPr>
          <p:cNvPr id="25" name="Shape 23"/>
          <p:cNvSpPr/>
          <p:nvPr/>
        </p:nvSpPr>
        <p:spPr>
          <a:xfrm>
            <a:off x="228600" y="2724912"/>
            <a:ext cx="2560320" cy="292608"/>
          </a:xfrm>
          <a:prstGeom prst="rect">
            <a:avLst/>
          </a:prstGeom>
          <a:solidFill>
            <a:srgbClr val="161D28"/>
          </a:solidFill>
          <a:ln w="12700">
            <a:solidFill>
              <a:srgbClr val="243044"/>
            </a:solidFill>
            <a:prstDash val="solid"/>
          </a:ln>
        </p:spPr>
      </p:sp>
      <p:sp>
        <p:nvSpPr>
          <p:cNvPr id="26" name="Shape 24"/>
          <p:cNvSpPr/>
          <p:nvPr/>
        </p:nvSpPr>
        <p:spPr>
          <a:xfrm>
            <a:off x="2862072" y="2724912"/>
            <a:ext cx="2560320" cy="292608"/>
          </a:xfrm>
          <a:prstGeom prst="rect">
            <a:avLst/>
          </a:prstGeom>
          <a:solidFill>
            <a:srgbClr val="161D28"/>
          </a:solidFill>
          <a:ln w="12700">
            <a:solidFill>
              <a:srgbClr val="243044"/>
            </a:solidFill>
            <a:prstDash val="solid"/>
          </a:ln>
        </p:spPr>
      </p:sp>
      <p:sp>
        <p:nvSpPr>
          <p:cNvPr id="27" name="Shape 25"/>
          <p:cNvSpPr/>
          <p:nvPr/>
        </p:nvSpPr>
        <p:spPr>
          <a:xfrm>
            <a:off x="5495544" y="2724912"/>
            <a:ext cx="3401568" cy="292608"/>
          </a:xfrm>
          <a:prstGeom prst="rect">
            <a:avLst/>
          </a:prstGeom>
          <a:solidFill>
            <a:srgbClr val="161D28"/>
          </a:solidFill>
          <a:ln w="12700">
            <a:solidFill>
              <a:srgbClr val="243044"/>
            </a:solidFill>
            <a:prstDash val="solid"/>
          </a:ln>
        </p:spPr>
      </p:sp>
      <p:sp>
        <p:nvSpPr>
          <p:cNvPr id="28" name="Text 26"/>
          <p:cNvSpPr/>
          <p:nvPr/>
        </p:nvSpPr>
        <p:spPr>
          <a:xfrm>
            <a:off x="320040" y="2798064"/>
            <a:ext cx="2377440" cy="164592"/>
          </a:xfrm>
          <a:prstGeom prst="rect">
            <a:avLst/>
          </a:prstGeom>
          <a:noFill/>
          <a:ln/>
        </p:spPr>
        <p:txBody>
          <a:bodyPr wrap="square" lIns="0" tIns="0" rIns="0" bIns="0" rtlCol="0" anchor="ctr"/>
          <a:lstStyle/>
          <a:p>
            <a:pPr indent="0" marL="0">
              <a:buNone/>
            </a:pPr>
            <a:r>
              <a:rPr lang="en-US" sz="950" b="1" dirty="0">
                <a:solidFill>
                  <a:srgbClr val="7D8FA9"/>
                </a:solidFill>
                <a:latin typeface="Calibri" pitchFamily="34" charset="0"/>
                <a:ea typeface="Calibri" pitchFamily="34" charset="-122"/>
                <a:cs typeface="Calibri" pitchFamily="34" charset="-120"/>
              </a:rPr>
              <a:t>Integration engineering</a:t>
            </a:r>
            <a:endParaRPr lang="en-US" sz="950" dirty="0"/>
          </a:p>
        </p:txBody>
      </p:sp>
      <p:sp>
        <p:nvSpPr>
          <p:cNvPr id="29" name="Text 27"/>
          <p:cNvSpPr/>
          <p:nvPr/>
        </p:nvSpPr>
        <p:spPr>
          <a:xfrm>
            <a:off x="2953512" y="2798064"/>
            <a:ext cx="2377440" cy="164592"/>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Moderate: vendor bus + connectors</a:t>
            </a:r>
            <a:endParaRPr lang="en-US" sz="950" dirty="0"/>
          </a:p>
        </p:txBody>
      </p:sp>
      <p:sp>
        <p:nvSpPr>
          <p:cNvPr id="30" name="Text 28"/>
          <p:cNvSpPr/>
          <p:nvPr/>
        </p:nvSpPr>
        <p:spPr>
          <a:xfrm>
            <a:off x="5586984" y="2798064"/>
            <a:ext cx="3218688" cy="164592"/>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Moderate: OSS toolchain + agent layer</a:t>
            </a:r>
            <a:endParaRPr lang="en-US" sz="950" dirty="0"/>
          </a:p>
        </p:txBody>
      </p:sp>
      <p:sp>
        <p:nvSpPr>
          <p:cNvPr id="31" name="Shape 29"/>
          <p:cNvSpPr/>
          <p:nvPr/>
        </p:nvSpPr>
        <p:spPr>
          <a:xfrm>
            <a:off x="228600" y="3035808"/>
            <a:ext cx="2560320" cy="292608"/>
          </a:xfrm>
          <a:prstGeom prst="rect">
            <a:avLst/>
          </a:prstGeom>
          <a:solidFill>
            <a:srgbClr val="131920"/>
          </a:solidFill>
          <a:ln w="12700">
            <a:solidFill>
              <a:srgbClr val="243044"/>
            </a:solidFill>
            <a:prstDash val="solid"/>
          </a:ln>
        </p:spPr>
      </p:sp>
      <p:sp>
        <p:nvSpPr>
          <p:cNvPr id="32" name="Shape 30"/>
          <p:cNvSpPr/>
          <p:nvPr/>
        </p:nvSpPr>
        <p:spPr>
          <a:xfrm>
            <a:off x="2862072" y="3035808"/>
            <a:ext cx="2560320" cy="292608"/>
          </a:xfrm>
          <a:prstGeom prst="rect">
            <a:avLst/>
          </a:prstGeom>
          <a:solidFill>
            <a:srgbClr val="131920"/>
          </a:solidFill>
          <a:ln w="12700">
            <a:solidFill>
              <a:srgbClr val="243044"/>
            </a:solidFill>
            <a:prstDash val="solid"/>
          </a:ln>
        </p:spPr>
      </p:sp>
      <p:sp>
        <p:nvSpPr>
          <p:cNvPr id="33" name="Shape 31"/>
          <p:cNvSpPr/>
          <p:nvPr/>
        </p:nvSpPr>
        <p:spPr>
          <a:xfrm>
            <a:off x="5495544" y="3035808"/>
            <a:ext cx="3401568" cy="292608"/>
          </a:xfrm>
          <a:prstGeom prst="rect">
            <a:avLst/>
          </a:prstGeom>
          <a:solidFill>
            <a:srgbClr val="131920"/>
          </a:solidFill>
          <a:ln w="12700">
            <a:solidFill>
              <a:srgbClr val="243044"/>
            </a:solidFill>
            <a:prstDash val="solid"/>
          </a:ln>
        </p:spPr>
      </p:sp>
      <p:sp>
        <p:nvSpPr>
          <p:cNvPr id="34" name="Text 32"/>
          <p:cNvSpPr/>
          <p:nvPr/>
        </p:nvSpPr>
        <p:spPr>
          <a:xfrm>
            <a:off x="320040" y="3108960"/>
            <a:ext cx="2377440" cy="164592"/>
          </a:xfrm>
          <a:prstGeom prst="rect">
            <a:avLst/>
          </a:prstGeom>
          <a:noFill/>
          <a:ln/>
        </p:spPr>
        <p:txBody>
          <a:bodyPr wrap="square" lIns="0" tIns="0" rIns="0" bIns="0" rtlCol="0" anchor="ctr"/>
          <a:lstStyle/>
          <a:p>
            <a:pPr indent="0" marL="0">
              <a:buNone/>
            </a:pPr>
            <a:r>
              <a:rPr lang="en-US" sz="950" b="1" dirty="0">
                <a:solidFill>
                  <a:srgbClr val="7D8FA9"/>
                </a:solidFill>
                <a:latin typeface="Calibri" pitchFamily="34" charset="0"/>
                <a:ea typeface="Calibri" pitchFamily="34" charset="-122"/>
                <a:cs typeface="Calibri" pitchFamily="34" charset="-120"/>
              </a:rPr>
              <a:t>Admin/config workforce</a:t>
            </a:r>
            <a:endParaRPr lang="en-US" sz="950" dirty="0"/>
          </a:p>
        </p:txBody>
      </p:sp>
      <p:sp>
        <p:nvSpPr>
          <p:cNvPr id="35" name="Text 33"/>
          <p:cNvSpPr/>
          <p:nvPr/>
        </p:nvSpPr>
        <p:spPr>
          <a:xfrm>
            <a:off x="2953512" y="3108960"/>
            <a:ext cx="2377440" cy="164592"/>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High: vendor-specialist headcount</a:t>
            </a:r>
            <a:endParaRPr lang="en-US" sz="950" dirty="0"/>
          </a:p>
        </p:txBody>
      </p:sp>
      <p:sp>
        <p:nvSpPr>
          <p:cNvPr id="36" name="Text 34"/>
          <p:cNvSpPr/>
          <p:nvPr/>
        </p:nvSpPr>
        <p:spPr>
          <a:xfrm>
            <a:off x="5586984" y="3108960"/>
            <a:ext cx="3218688" cy="164592"/>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Lower: platform engineers + agent architects</a:t>
            </a:r>
            <a:endParaRPr lang="en-US" sz="950" dirty="0"/>
          </a:p>
        </p:txBody>
      </p:sp>
      <p:sp>
        <p:nvSpPr>
          <p:cNvPr id="37" name="Shape 35"/>
          <p:cNvSpPr/>
          <p:nvPr/>
        </p:nvSpPr>
        <p:spPr>
          <a:xfrm>
            <a:off x="228600" y="3346704"/>
            <a:ext cx="2560320" cy="292608"/>
          </a:xfrm>
          <a:prstGeom prst="rect">
            <a:avLst/>
          </a:prstGeom>
          <a:solidFill>
            <a:srgbClr val="161D28"/>
          </a:solidFill>
          <a:ln w="12700">
            <a:solidFill>
              <a:srgbClr val="243044"/>
            </a:solidFill>
            <a:prstDash val="solid"/>
          </a:ln>
        </p:spPr>
      </p:sp>
      <p:sp>
        <p:nvSpPr>
          <p:cNvPr id="38" name="Shape 36"/>
          <p:cNvSpPr/>
          <p:nvPr/>
        </p:nvSpPr>
        <p:spPr>
          <a:xfrm>
            <a:off x="2862072" y="3346704"/>
            <a:ext cx="2560320" cy="292608"/>
          </a:xfrm>
          <a:prstGeom prst="rect">
            <a:avLst/>
          </a:prstGeom>
          <a:solidFill>
            <a:srgbClr val="161D28"/>
          </a:solidFill>
          <a:ln w="12700">
            <a:solidFill>
              <a:srgbClr val="243044"/>
            </a:solidFill>
            <a:prstDash val="solid"/>
          </a:ln>
        </p:spPr>
      </p:sp>
      <p:sp>
        <p:nvSpPr>
          <p:cNvPr id="39" name="Shape 37"/>
          <p:cNvSpPr/>
          <p:nvPr/>
        </p:nvSpPr>
        <p:spPr>
          <a:xfrm>
            <a:off x="5495544" y="3346704"/>
            <a:ext cx="3401568" cy="292608"/>
          </a:xfrm>
          <a:prstGeom prst="rect">
            <a:avLst/>
          </a:prstGeom>
          <a:solidFill>
            <a:srgbClr val="161D28"/>
          </a:solidFill>
          <a:ln w="12700">
            <a:solidFill>
              <a:srgbClr val="243044"/>
            </a:solidFill>
            <a:prstDash val="solid"/>
          </a:ln>
        </p:spPr>
      </p:sp>
      <p:sp>
        <p:nvSpPr>
          <p:cNvPr id="40" name="Text 38"/>
          <p:cNvSpPr/>
          <p:nvPr/>
        </p:nvSpPr>
        <p:spPr>
          <a:xfrm>
            <a:off x="320040" y="3419856"/>
            <a:ext cx="2377440" cy="164592"/>
          </a:xfrm>
          <a:prstGeom prst="rect">
            <a:avLst/>
          </a:prstGeom>
          <a:noFill/>
          <a:ln/>
        </p:spPr>
        <p:txBody>
          <a:bodyPr wrap="square" lIns="0" tIns="0" rIns="0" bIns="0" rtlCol="0" anchor="ctr"/>
          <a:lstStyle/>
          <a:p>
            <a:pPr indent="0" marL="0">
              <a:buNone/>
            </a:pPr>
            <a:r>
              <a:rPr lang="en-US" sz="950" b="1" dirty="0">
                <a:solidFill>
                  <a:srgbClr val="7D8FA9"/>
                </a:solidFill>
                <a:latin typeface="Calibri" pitchFamily="34" charset="0"/>
                <a:ea typeface="Calibri" pitchFamily="34" charset="-122"/>
                <a:cs typeface="Calibri" pitchFamily="34" charset="-120"/>
              </a:rPr>
              <a:t>AI/model costs</a:t>
            </a:r>
            <a:endParaRPr lang="en-US" sz="950" dirty="0"/>
          </a:p>
        </p:txBody>
      </p:sp>
      <p:sp>
        <p:nvSpPr>
          <p:cNvPr id="41" name="Text 39"/>
          <p:cNvSpPr/>
          <p:nvPr/>
        </p:nvSpPr>
        <p:spPr>
          <a:xfrm>
            <a:off x="2953512" y="3419856"/>
            <a:ext cx="2377440" cy="164592"/>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Bundled in license (opaque)</a:t>
            </a:r>
            <a:endParaRPr lang="en-US" sz="950" dirty="0"/>
          </a:p>
        </p:txBody>
      </p:sp>
      <p:sp>
        <p:nvSpPr>
          <p:cNvPr id="42" name="Text 40"/>
          <p:cNvSpPr/>
          <p:nvPr/>
        </p:nvSpPr>
        <p:spPr>
          <a:xfrm>
            <a:off x="5586984" y="3419856"/>
            <a:ext cx="3218688" cy="164592"/>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Explicit: OSS model hosting + inference</a:t>
            </a:r>
            <a:endParaRPr lang="en-US" sz="950" dirty="0"/>
          </a:p>
        </p:txBody>
      </p:sp>
      <p:sp>
        <p:nvSpPr>
          <p:cNvPr id="43" name="Shape 41"/>
          <p:cNvSpPr/>
          <p:nvPr/>
        </p:nvSpPr>
        <p:spPr>
          <a:xfrm>
            <a:off x="228600" y="3657600"/>
            <a:ext cx="2560320" cy="292608"/>
          </a:xfrm>
          <a:prstGeom prst="rect">
            <a:avLst/>
          </a:prstGeom>
          <a:solidFill>
            <a:srgbClr val="131920"/>
          </a:solidFill>
          <a:ln w="12700">
            <a:solidFill>
              <a:srgbClr val="243044"/>
            </a:solidFill>
            <a:prstDash val="solid"/>
          </a:ln>
        </p:spPr>
      </p:sp>
      <p:sp>
        <p:nvSpPr>
          <p:cNvPr id="44" name="Shape 42"/>
          <p:cNvSpPr/>
          <p:nvPr/>
        </p:nvSpPr>
        <p:spPr>
          <a:xfrm>
            <a:off x="2862072" y="3657600"/>
            <a:ext cx="2560320" cy="292608"/>
          </a:xfrm>
          <a:prstGeom prst="rect">
            <a:avLst/>
          </a:prstGeom>
          <a:solidFill>
            <a:srgbClr val="131920"/>
          </a:solidFill>
          <a:ln w="12700">
            <a:solidFill>
              <a:srgbClr val="243044"/>
            </a:solidFill>
            <a:prstDash val="solid"/>
          </a:ln>
        </p:spPr>
      </p:sp>
      <p:sp>
        <p:nvSpPr>
          <p:cNvPr id="45" name="Shape 43"/>
          <p:cNvSpPr/>
          <p:nvPr/>
        </p:nvSpPr>
        <p:spPr>
          <a:xfrm>
            <a:off x="5495544" y="3657600"/>
            <a:ext cx="3401568" cy="292608"/>
          </a:xfrm>
          <a:prstGeom prst="rect">
            <a:avLst/>
          </a:prstGeom>
          <a:solidFill>
            <a:srgbClr val="131920"/>
          </a:solidFill>
          <a:ln w="12700">
            <a:solidFill>
              <a:srgbClr val="243044"/>
            </a:solidFill>
            <a:prstDash val="solid"/>
          </a:ln>
        </p:spPr>
      </p:sp>
      <p:sp>
        <p:nvSpPr>
          <p:cNvPr id="46" name="Text 44"/>
          <p:cNvSpPr/>
          <p:nvPr/>
        </p:nvSpPr>
        <p:spPr>
          <a:xfrm>
            <a:off x="320040" y="3730752"/>
            <a:ext cx="2377440" cy="164592"/>
          </a:xfrm>
          <a:prstGeom prst="rect">
            <a:avLst/>
          </a:prstGeom>
          <a:noFill/>
          <a:ln/>
        </p:spPr>
        <p:txBody>
          <a:bodyPr wrap="square" lIns="0" tIns="0" rIns="0" bIns="0" rtlCol="0" anchor="ctr"/>
          <a:lstStyle/>
          <a:p>
            <a:pPr indent="0" marL="0">
              <a:buNone/>
            </a:pPr>
            <a:r>
              <a:rPr lang="en-US" sz="950" b="1" dirty="0">
                <a:solidFill>
                  <a:srgbClr val="7D8FA9"/>
                </a:solidFill>
                <a:latin typeface="Calibri" pitchFamily="34" charset="0"/>
                <a:ea typeface="Calibri" pitchFamily="34" charset="-122"/>
                <a:cs typeface="Calibri" pitchFamily="34" charset="-120"/>
              </a:rPr>
              <a:t>Security accreditation</a:t>
            </a:r>
            <a:endParaRPr lang="en-US" sz="950" dirty="0"/>
          </a:p>
        </p:txBody>
      </p:sp>
      <p:sp>
        <p:nvSpPr>
          <p:cNvPr id="47" name="Text 45"/>
          <p:cNvSpPr/>
          <p:nvPr/>
        </p:nvSpPr>
        <p:spPr>
          <a:xfrm>
            <a:off x="2953512" y="3730752"/>
            <a:ext cx="2377440" cy="164592"/>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Vendor-certified (absorbed)</a:t>
            </a:r>
            <a:endParaRPr lang="en-US" sz="950" dirty="0"/>
          </a:p>
        </p:txBody>
      </p:sp>
      <p:sp>
        <p:nvSpPr>
          <p:cNvPr id="48" name="Text 46"/>
          <p:cNvSpPr/>
          <p:nvPr/>
        </p:nvSpPr>
        <p:spPr>
          <a:xfrm>
            <a:off x="5586984" y="3730752"/>
            <a:ext cx="3218688" cy="164592"/>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Enterprise-owned: first-class OAAD discipline</a:t>
            </a:r>
            <a:endParaRPr lang="en-US" sz="950" dirty="0"/>
          </a:p>
        </p:txBody>
      </p:sp>
      <p:sp>
        <p:nvSpPr>
          <p:cNvPr id="49" name="Shape 47"/>
          <p:cNvSpPr/>
          <p:nvPr/>
        </p:nvSpPr>
        <p:spPr>
          <a:xfrm>
            <a:off x="228600" y="3968496"/>
            <a:ext cx="2560320" cy="292608"/>
          </a:xfrm>
          <a:prstGeom prst="rect">
            <a:avLst/>
          </a:prstGeom>
          <a:solidFill>
            <a:srgbClr val="161D28"/>
          </a:solidFill>
          <a:ln w="12700">
            <a:solidFill>
              <a:srgbClr val="243044"/>
            </a:solidFill>
            <a:prstDash val="solid"/>
          </a:ln>
        </p:spPr>
      </p:sp>
      <p:sp>
        <p:nvSpPr>
          <p:cNvPr id="50" name="Shape 48"/>
          <p:cNvSpPr/>
          <p:nvPr/>
        </p:nvSpPr>
        <p:spPr>
          <a:xfrm>
            <a:off x="2862072" y="3968496"/>
            <a:ext cx="2560320" cy="292608"/>
          </a:xfrm>
          <a:prstGeom prst="rect">
            <a:avLst/>
          </a:prstGeom>
          <a:solidFill>
            <a:srgbClr val="161D28"/>
          </a:solidFill>
          <a:ln w="12700">
            <a:solidFill>
              <a:srgbClr val="243044"/>
            </a:solidFill>
            <a:prstDash val="solid"/>
          </a:ln>
        </p:spPr>
      </p:sp>
      <p:sp>
        <p:nvSpPr>
          <p:cNvPr id="51" name="Shape 49"/>
          <p:cNvSpPr/>
          <p:nvPr/>
        </p:nvSpPr>
        <p:spPr>
          <a:xfrm>
            <a:off x="5495544" y="3968496"/>
            <a:ext cx="3401568" cy="292608"/>
          </a:xfrm>
          <a:prstGeom prst="rect">
            <a:avLst/>
          </a:prstGeom>
          <a:solidFill>
            <a:srgbClr val="161D28"/>
          </a:solidFill>
          <a:ln w="12700">
            <a:solidFill>
              <a:srgbClr val="243044"/>
            </a:solidFill>
            <a:prstDash val="solid"/>
          </a:ln>
        </p:spPr>
      </p:sp>
      <p:sp>
        <p:nvSpPr>
          <p:cNvPr id="52" name="Text 50"/>
          <p:cNvSpPr/>
          <p:nvPr/>
        </p:nvSpPr>
        <p:spPr>
          <a:xfrm>
            <a:off x="320040" y="4041648"/>
            <a:ext cx="2377440" cy="164592"/>
          </a:xfrm>
          <a:prstGeom prst="rect">
            <a:avLst/>
          </a:prstGeom>
          <a:noFill/>
          <a:ln/>
        </p:spPr>
        <p:txBody>
          <a:bodyPr wrap="square" lIns="0" tIns="0" rIns="0" bIns="0" rtlCol="0" anchor="ctr"/>
          <a:lstStyle/>
          <a:p>
            <a:pPr indent="0" marL="0">
              <a:buNone/>
            </a:pPr>
            <a:r>
              <a:rPr lang="en-US" sz="950" b="1" dirty="0">
                <a:solidFill>
                  <a:srgbClr val="7D8FA9"/>
                </a:solidFill>
                <a:latin typeface="Calibri" pitchFamily="34" charset="0"/>
                <a:ea typeface="Calibri" pitchFamily="34" charset="-122"/>
                <a:cs typeface="Calibri" pitchFamily="34" charset="-120"/>
              </a:rPr>
              <a:t>Migration + change mgmt</a:t>
            </a:r>
            <a:endParaRPr lang="en-US" sz="950" dirty="0"/>
          </a:p>
        </p:txBody>
      </p:sp>
      <p:sp>
        <p:nvSpPr>
          <p:cNvPr id="53" name="Text 51"/>
          <p:cNvSpPr/>
          <p:nvPr/>
        </p:nvSpPr>
        <p:spPr>
          <a:xfrm>
            <a:off x="2953512" y="4041648"/>
            <a:ext cx="2377440" cy="164592"/>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Per-upgrade cycle (ongoing)</a:t>
            </a:r>
            <a:endParaRPr lang="en-US" sz="950" dirty="0"/>
          </a:p>
        </p:txBody>
      </p:sp>
      <p:sp>
        <p:nvSpPr>
          <p:cNvPr id="54" name="Text 52"/>
          <p:cNvSpPr/>
          <p:nvPr/>
        </p:nvSpPr>
        <p:spPr>
          <a:xfrm>
            <a:off x="5586984" y="4041648"/>
            <a:ext cx="3218688" cy="164592"/>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One-time per domain + continuous DevSecOps</a:t>
            </a:r>
            <a:endParaRPr lang="en-US" sz="950" dirty="0"/>
          </a:p>
        </p:txBody>
      </p:sp>
      <p:sp>
        <p:nvSpPr>
          <p:cNvPr id="55" name="Shape 53"/>
          <p:cNvSpPr/>
          <p:nvPr/>
        </p:nvSpPr>
        <p:spPr>
          <a:xfrm>
            <a:off x="228600" y="4279392"/>
            <a:ext cx="2560320" cy="292608"/>
          </a:xfrm>
          <a:prstGeom prst="rect">
            <a:avLst/>
          </a:prstGeom>
          <a:solidFill>
            <a:srgbClr val="131920"/>
          </a:solidFill>
          <a:ln w="12700">
            <a:solidFill>
              <a:srgbClr val="243044"/>
            </a:solidFill>
            <a:prstDash val="solid"/>
          </a:ln>
        </p:spPr>
      </p:sp>
      <p:sp>
        <p:nvSpPr>
          <p:cNvPr id="56" name="Shape 54"/>
          <p:cNvSpPr/>
          <p:nvPr/>
        </p:nvSpPr>
        <p:spPr>
          <a:xfrm>
            <a:off x="2862072" y="4279392"/>
            <a:ext cx="2560320" cy="292608"/>
          </a:xfrm>
          <a:prstGeom prst="rect">
            <a:avLst/>
          </a:prstGeom>
          <a:solidFill>
            <a:srgbClr val="131920"/>
          </a:solidFill>
          <a:ln w="12700">
            <a:solidFill>
              <a:srgbClr val="243044"/>
            </a:solidFill>
            <a:prstDash val="solid"/>
          </a:ln>
        </p:spPr>
      </p:sp>
      <p:sp>
        <p:nvSpPr>
          <p:cNvPr id="57" name="Shape 55"/>
          <p:cNvSpPr/>
          <p:nvPr/>
        </p:nvSpPr>
        <p:spPr>
          <a:xfrm>
            <a:off x="5495544" y="4279392"/>
            <a:ext cx="3401568" cy="292608"/>
          </a:xfrm>
          <a:prstGeom prst="rect">
            <a:avLst/>
          </a:prstGeom>
          <a:solidFill>
            <a:srgbClr val="131920"/>
          </a:solidFill>
          <a:ln w="12700">
            <a:solidFill>
              <a:srgbClr val="243044"/>
            </a:solidFill>
            <a:prstDash val="solid"/>
          </a:ln>
        </p:spPr>
      </p:sp>
      <p:sp>
        <p:nvSpPr>
          <p:cNvPr id="58" name="Text 56"/>
          <p:cNvSpPr/>
          <p:nvPr/>
        </p:nvSpPr>
        <p:spPr>
          <a:xfrm>
            <a:off x="320040" y="4352544"/>
            <a:ext cx="2377440" cy="164592"/>
          </a:xfrm>
          <a:prstGeom prst="rect">
            <a:avLst/>
          </a:prstGeom>
          <a:noFill/>
          <a:ln/>
        </p:spPr>
        <p:txBody>
          <a:bodyPr wrap="square" lIns="0" tIns="0" rIns="0" bIns="0" rtlCol="0" anchor="ctr"/>
          <a:lstStyle/>
          <a:p>
            <a:pPr indent="0" marL="0">
              <a:buNone/>
            </a:pPr>
            <a:r>
              <a:rPr lang="en-US" sz="950" b="1" dirty="0">
                <a:solidFill>
                  <a:srgbClr val="7D8FA9"/>
                </a:solidFill>
                <a:latin typeface="Calibri" pitchFamily="34" charset="0"/>
                <a:ea typeface="Calibri" pitchFamily="34" charset="-122"/>
                <a:cs typeface="Calibri" pitchFamily="34" charset="-120"/>
              </a:rPr>
              <a:t>Institutional intelligence</a:t>
            </a:r>
            <a:endParaRPr lang="en-US" sz="950" dirty="0"/>
          </a:p>
        </p:txBody>
      </p:sp>
      <p:sp>
        <p:nvSpPr>
          <p:cNvPr id="59" name="Text 57"/>
          <p:cNvSpPr/>
          <p:nvPr/>
        </p:nvSpPr>
        <p:spPr>
          <a:xfrm>
            <a:off x="2953512" y="4352544"/>
            <a:ext cx="2377440" cy="164592"/>
          </a:xfrm>
          <a:prstGeom prst="rect">
            <a:avLst/>
          </a:prstGeom>
          <a:noFill/>
          <a:ln/>
        </p:spPr>
        <p:txBody>
          <a:bodyPr wrap="square" lIns="0" tIns="0" rIns="0" bIns="0" rtlCol="0" anchor="ctr"/>
          <a:lstStyle/>
          <a:p>
            <a:pPr indent="0" marL="0">
              <a:buNone/>
            </a:pPr>
            <a:r>
              <a:rPr lang="en-US" sz="950" dirty="0">
                <a:solidFill>
                  <a:srgbClr val="F85149"/>
                </a:solidFill>
                <a:latin typeface="Calibri" pitchFamily="34" charset="0"/>
                <a:ea typeface="Calibri" pitchFamily="34" charset="-122"/>
                <a:cs typeface="Calibri" pitchFamily="34" charset="-120"/>
              </a:rPr>
              <a:t>Accrues to vendor</a:t>
            </a:r>
            <a:endParaRPr lang="en-US" sz="950" dirty="0"/>
          </a:p>
        </p:txBody>
      </p:sp>
      <p:sp>
        <p:nvSpPr>
          <p:cNvPr id="60" name="Text 58"/>
          <p:cNvSpPr/>
          <p:nvPr/>
        </p:nvSpPr>
        <p:spPr>
          <a:xfrm>
            <a:off x="5586984" y="4352544"/>
            <a:ext cx="3218688" cy="164592"/>
          </a:xfrm>
          <a:prstGeom prst="rect">
            <a:avLst/>
          </a:prstGeom>
          <a:noFill/>
          <a:ln/>
        </p:spPr>
        <p:txBody>
          <a:bodyPr wrap="square" lIns="0" tIns="0" rIns="0" bIns="0"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Accrues to enterprise; compounds over time</a:t>
            </a:r>
            <a:endParaRPr lang="en-US" sz="950" dirty="0"/>
          </a:p>
        </p:txBody>
      </p:sp>
      <p:sp>
        <p:nvSpPr>
          <p:cNvPr id="61" name="Text 59"/>
          <p:cNvSpPr/>
          <p:nvPr/>
        </p:nvSpPr>
        <p:spPr>
          <a:xfrm>
            <a:off x="256032" y="4585000"/>
            <a:ext cx="8631936" cy="285000"/>
          </a:xfrm>
          <a:prstGeom prst="rect">
            <a:avLst/>
          </a:prstGeom>
          <a:noFill/>
          <a:ln/>
        </p:spPr>
        <p:txBody>
          <a:bodyPr wrap="square" lIns="0" tIns="0" rIns="0" bIns="0" rtlCol="0" anchor="ctr"/>
          <a:lstStyle/>
          <a:p>
            <a:pPr indent="0" marL="0">
              <a:buNone/>
            </a:pPr>
            <a:r>
              <a:rPr lang="en-US" sz="800" i="1" dirty="0">
                <a:solidFill>
                  <a:srgbClr val="3D4F63"/>
                </a:solidFill>
                <a:latin typeface="Calibri" pitchFamily="34" charset="0"/>
                <a:ea typeface="Calibri" pitchFamily="34" charset="-122"/>
                <a:cs typeface="Calibri" pitchFamily="34" charset="-120"/>
              </a:rPr>
              <a:t>Assumptions note: 60-80% license reduction and 10x velocity are directional targets. Full business case requires baseline COTS spend by domain, engineering headcount, model hosting costs, migration reserves, and break-even window, all developed in Phase 0 discovery.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4D9EFF"/>
          </a:solidFill>
          <a:ln w="12700">
            <a:solidFill>
              <a:srgbClr val="4D9EFF"/>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4D9EFF"/>
                </a:solidFill>
                <a:latin typeface="Calibri" pitchFamily="34" charset="0"/>
                <a:ea typeface="Calibri" pitchFamily="34" charset="-122"/>
                <a:cs typeface="Calibri" pitchFamily="34" charset="-120"/>
              </a:rPr>
              <a:t>OAAD OPERATING MODEL</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Who Owns It, Runs It, Fixes It at 2am.</a:t>
            </a:r>
            <a:endParaRPr lang="en-US" sz="3000" dirty="0"/>
          </a:p>
        </p:txBody>
      </p:sp>
      <p:sp>
        <p:nvSpPr>
          <p:cNvPr id="6" name="Text 4"/>
          <p:cNvSpPr/>
          <p:nvPr/>
        </p:nvSpPr>
        <p:spPr>
          <a:xfrm>
            <a:off x="365760" y="1234440"/>
            <a:ext cx="8412480" cy="384048"/>
          </a:xfrm>
          <a:prstGeom prst="rect">
            <a:avLst/>
          </a:prstGeom>
          <a:noFill/>
          <a:ln/>
        </p:spPr>
        <p:txBody>
          <a:bodyPr wrap="square" lIns="0" tIns="0" rIns="0" bIns="0" rtlCol="0" anchor="ctr"/>
          <a:lstStyle/>
          <a:p>
            <a:pPr indent="0" marL="0">
              <a:buNone/>
            </a:pPr>
            <a:r>
              <a:rPr lang="en-US" sz="1200" i="1" dirty="0">
                <a:solidFill>
                  <a:srgbClr val="7D8FA9"/>
                </a:solidFill>
                <a:latin typeface="Calibri" pitchFamily="34" charset="0"/>
                <a:ea typeface="Calibri" pitchFamily="34" charset="-122"/>
                <a:cs typeface="Calibri" pitchFamily="34" charset="-120"/>
              </a:rPr>
              <a:t>"Platform team plus agents" describes a direction. An operating model names owners, escalation paths, and accountability. Executives need that chain before they will fund a platform.</a:t>
            </a:r>
            <a:endParaRPr lang="en-US" sz="1200" dirty="0"/>
          </a:p>
        </p:txBody>
      </p:sp>
      <p:sp>
        <p:nvSpPr>
          <p:cNvPr id="7" name="Shape 5"/>
          <p:cNvSpPr/>
          <p:nvPr/>
        </p:nvSpPr>
        <p:spPr>
          <a:xfrm>
            <a:off x="256032" y="1755648"/>
            <a:ext cx="4206240" cy="1481328"/>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56032" y="1755648"/>
            <a:ext cx="4206240" cy="45720"/>
          </a:xfrm>
          <a:prstGeom prst="rect">
            <a:avLst/>
          </a:prstGeom>
          <a:solidFill>
            <a:srgbClr val="00C9A7"/>
          </a:solidFill>
          <a:ln w="12700">
            <a:solidFill>
              <a:srgbClr val="00C9A7"/>
            </a:solidFill>
            <a:prstDash val="solid"/>
          </a:ln>
        </p:spPr>
      </p:sp>
      <p:sp>
        <p:nvSpPr>
          <p:cNvPr id="9" name="Shape 7"/>
          <p:cNvSpPr/>
          <p:nvPr/>
        </p:nvSpPr>
        <p:spPr>
          <a:xfrm>
            <a:off x="420624" y="1865376"/>
            <a:ext cx="685800" cy="256032"/>
          </a:xfrm>
          <a:prstGeom prst="rect">
            <a:avLst/>
          </a:prstGeom>
          <a:solidFill>
            <a:srgbClr val="00C9A7"/>
          </a:solidFill>
          <a:ln w="12700">
            <a:solidFill>
              <a:srgbClr val="00C9A7"/>
            </a:solidFill>
            <a:prstDash val="solid"/>
          </a:ln>
        </p:spPr>
      </p:sp>
      <p:sp>
        <p:nvSpPr>
          <p:cNvPr id="10" name="Text 8"/>
          <p:cNvSpPr/>
          <p:nvPr/>
        </p:nvSpPr>
        <p:spPr>
          <a:xfrm>
            <a:off x="420624" y="1865376"/>
            <a:ext cx="685800" cy="256032"/>
          </a:xfrm>
          <a:prstGeom prst="rect">
            <a:avLst/>
          </a:prstGeom>
          <a:noFill/>
          <a:ln/>
        </p:spPr>
        <p:txBody>
          <a:bodyPr wrap="square" lIns="0" tIns="0" rIns="0" bIns="0" rtlCol="0" anchor="ctr"/>
          <a:lstStyle/>
          <a:p>
            <a:pPr algn="ctr" indent="0" marL="0">
              <a:buNone/>
            </a:pPr>
            <a:r>
              <a:rPr lang="en-US" sz="900" b="1" dirty="0">
                <a:solidFill>
                  <a:srgbClr val="0A0E14"/>
                </a:solidFill>
                <a:latin typeface="Calibri" pitchFamily="34" charset="0"/>
                <a:ea typeface="Calibri" pitchFamily="34" charset="-122"/>
                <a:cs typeface="Calibri" pitchFamily="34" charset="-120"/>
              </a:rPr>
              <a:t>TIER 0</a:t>
            </a:r>
            <a:endParaRPr lang="en-US" sz="900" dirty="0"/>
          </a:p>
        </p:txBody>
      </p:sp>
      <p:sp>
        <p:nvSpPr>
          <p:cNvPr id="11" name="Text 9"/>
          <p:cNvSpPr/>
          <p:nvPr/>
        </p:nvSpPr>
        <p:spPr>
          <a:xfrm>
            <a:off x="1216152" y="1883664"/>
            <a:ext cx="3063240" cy="237744"/>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Self-Healing Automation</a:t>
            </a:r>
            <a:endParaRPr lang="en-US" sz="1200" dirty="0"/>
          </a:p>
        </p:txBody>
      </p:sp>
      <p:sp>
        <p:nvSpPr>
          <p:cNvPr id="12" name="Text 10"/>
          <p:cNvSpPr/>
          <p:nvPr/>
        </p:nvSpPr>
        <p:spPr>
          <a:xfrm>
            <a:off x="420624" y="2212848"/>
            <a:ext cx="3858768" cy="96012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Agents execute automated runbooks for known failure modes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Self-healing ops: restart, rebalance, reroute, alert</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OSS monitoring stack triggers remediation</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No human involvement for Tier 0 events</a:t>
            </a:r>
            <a:endParaRPr lang="en-US" sz="1000" dirty="0"/>
          </a:p>
        </p:txBody>
      </p:sp>
      <p:sp>
        <p:nvSpPr>
          <p:cNvPr id="13" name="Shape 11"/>
          <p:cNvSpPr/>
          <p:nvPr/>
        </p:nvSpPr>
        <p:spPr>
          <a:xfrm>
            <a:off x="4718304" y="1755648"/>
            <a:ext cx="4206240" cy="1481328"/>
          </a:xfrm>
          <a:prstGeom prst="rect">
            <a:avLst/>
          </a:prstGeom>
          <a:solidFill>
            <a:srgbClr val="161D28"/>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14" name="Shape 12"/>
          <p:cNvSpPr/>
          <p:nvPr/>
        </p:nvSpPr>
        <p:spPr>
          <a:xfrm>
            <a:off x="4718304" y="1755648"/>
            <a:ext cx="4206240" cy="45720"/>
          </a:xfrm>
          <a:prstGeom prst="rect">
            <a:avLst/>
          </a:prstGeom>
          <a:solidFill>
            <a:srgbClr val="4D9EFF"/>
          </a:solidFill>
          <a:ln w="12700">
            <a:solidFill>
              <a:srgbClr val="4D9EFF"/>
            </a:solidFill>
            <a:prstDash val="solid"/>
          </a:ln>
        </p:spPr>
      </p:sp>
      <p:sp>
        <p:nvSpPr>
          <p:cNvPr id="15" name="Shape 13"/>
          <p:cNvSpPr/>
          <p:nvPr/>
        </p:nvSpPr>
        <p:spPr>
          <a:xfrm>
            <a:off x="4882896" y="1865376"/>
            <a:ext cx="685800" cy="256032"/>
          </a:xfrm>
          <a:prstGeom prst="rect">
            <a:avLst/>
          </a:prstGeom>
          <a:solidFill>
            <a:srgbClr val="4D9EFF"/>
          </a:solidFill>
          <a:ln w="12700">
            <a:solidFill>
              <a:srgbClr val="4D9EFF"/>
            </a:solidFill>
            <a:prstDash val="solid"/>
          </a:ln>
        </p:spPr>
      </p:sp>
      <p:sp>
        <p:nvSpPr>
          <p:cNvPr id="16" name="Text 14"/>
          <p:cNvSpPr/>
          <p:nvPr/>
        </p:nvSpPr>
        <p:spPr>
          <a:xfrm>
            <a:off x="4882896" y="1865376"/>
            <a:ext cx="685800" cy="256032"/>
          </a:xfrm>
          <a:prstGeom prst="rect">
            <a:avLst/>
          </a:prstGeom>
          <a:noFill/>
          <a:ln/>
        </p:spPr>
        <p:txBody>
          <a:bodyPr wrap="square" lIns="0" tIns="0" rIns="0" bIns="0" rtlCol="0" anchor="ctr"/>
          <a:lstStyle/>
          <a:p>
            <a:pPr algn="ctr" indent="0" marL="0">
              <a:buNone/>
            </a:pPr>
            <a:r>
              <a:rPr lang="en-US" sz="900" b="1" dirty="0">
                <a:solidFill>
                  <a:srgbClr val="0A0E14"/>
                </a:solidFill>
                <a:latin typeface="Calibri" pitchFamily="34" charset="0"/>
                <a:ea typeface="Calibri" pitchFamily="34" charset="-122"/>
                <a:cs typeface="Calibri" pitchFamily="34" charset="-120"/>
              </a:rPr>
              <a:t>TIER 1</a:t>
            </a:r>
            <a:endParaRPr lang="en-US" sz="900" dirty="0"/>
          </a:p>
        </p:txBody>
      </p:sp>
      <p:sp>
        <p:nvSpPr>
          <p:cNvPr id="17" name="Text 15"/>
          <p:cNvSpPr/>
          <p:nvPr/>
        </p:nvSpPr>
        <p:spPr>
          <a:xfrm>
            <a:off x="5678424" y="1883664"/>
            <a:ext cx="3063240" cy="237744"/>
          </a:xfrm>
          <a:prstGeom prst="rect">
            <a:avLst/>
          </a:prstGeom>
          <a:noFill/>
          <a:ln/>
        </p:spPr>
        <p:txBody>
          <a:bodyPr wrap="square" lIns="0" tIns="0" rIns="0" bIns="0" rtlCol="0" anchor="ctr"/>
          <a:lstStyle/>
          <a:p>
            <a:pPr indent="0" marL="0">
              <a:buNone/>
            </a:pPr>
            <a:r>
              <a:rPr lang="en-US" sz="1200" b="1" dirty="0">
                <a:solidFill>
                  <a:srgbClr val="4D9EFF"/>
                </a:solidFill>
                <a:latin typeface="Calibri" pitchFamily="34" charset="0"/>
                <a:ea typeface="Calibri" pitchFamily="34" charset="-122"/>
                <a:cs typeface="Calibri" pitchFamily="34" charset="-120"/>
              </a:rPr>
              <a:t>Platform Support Desk</a:t>
            </a:r>
            <a:endParaRPr lang="en-US" sz="1200" dirty="0"/>
          </a:p>
        </p:txBody>
      </p:sp>
      <p:sp>
        <p:nvSpPr>
          <p:cNvPr id="18" name="Text 16"/>
          <p:cNvSpPr/>
          <p:nvPr/>
        </p:nvSpPr>
        <p:spPr>
          <a:xfrm>
            <a:off x="4882896" y="2212848"/>
            <a:ext cx="3858768" cy="96012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First human escalation for agent and OSS system issues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Covers incident triage, access requests, anomalies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Staffed by platform-trained operators with runbook authority</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SLA: 15-min acknowledgement, 2-hour P1 resolution</a:t>
            </a:r>
            <a:endParaRPr lang="en-US" sz="1000" dirty="0"/>
          </a:p>
        </p:txBody>
      </p:sp>
      <p:sp>
        <p:nvSpPr>
          <p:cNvPr id="19" name="Shape 17"/>
          <p:cNvSpPr/>
          <p:nvPr/>
        </p:nvSpPr>
        <p:spPr>
          <a:xfrm>
            <a:off x="256032" y="3328416"/>
            <a:ext cx="4206240" cy="1481328"/>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20" name="Shape 18"/>
          <p:cNvSpPr/>
          <p:nvPr/>
        </p:nvSpPr>
        <p:spPr>
          <a:xfrm>
            <a:off x="256032" y="3328416"/>
            <a:ext cx="4206240" cy="45720"/>
          </a:xfrm>
          <a:prstGeom prst="rect">
            <a:avLst/>
          </a:prstGeom>
          <a:solidFill>
            <a:srgbClr val="E3B341"/>
          </a:solidFill>
          <a:ln w="12700">
            <a:solidFill>
              <a:srgbClr val="E3B341"/>
            </a:solidFill>
            <a:prstDash val="solid"/>
          </a:ln>
        </p:spPr>
      </p:sp>
      <p:sp>
        <p:nvSpPr>
          <p:cNvPr id="21" name="Shape 19"/>
          <p:cNvSpPr/>
          <p:nvPr/>
        </p:nvSpPr>
        <p:spPr>
          <a:xfrm>
            <a:off x="420624" y="3438144"/>
            <a:ext cx="685800" cy="256032"/>
          </a:xfrm>
          <a:prstGeom prst="rect">
            <a:avLst/>
          </a:prstGeom>
          <a:solidFill>
            <a:srgbClr val="E3B341"/>
          </a:solidFill>
          <a:ln w="12700">
            <a:solidFill>
              <a:srgbClr val="E3B341"/>
            </a:solidFill>
            <a:prstDash val="solid"/>
          </a:ln>
        </p:spPr>
      </p:sp>
      <p:sp>
        <p:nvSpPr>
          <p:cNvPr id="22" name="Text 20"/>
          <p:cNvSpPr/>
          <p:nvPr/>
        </p:nvSpPr>
        <p:spPr>
          <a:xfrm>
            <a:off x="420624" y="3438144"/>
            <a:ext cx="685800" cy="256032"/>
          </a:xfrm>
          <a:prstGeom prst="rect">
            <a:avLst/>
          </a:prstGeom>
          <a:noFill/>
          <a:ln/>
        </p:spPr>
        <p:txBody>
          <a:bodyPr wrap="square" lIns="0" tIns="0" rIns="0" bIns="0" rtlCol="0" anchor="ctr"/>
          <a:lstStyle/>
          <a:p>
            <a:pPr algn="ctr" indent="0" marL="0">
              <a:buNone/>
            </a:pPr>
            <a:r>
              <a:rPr lang="en-US" sz="900" b="1" dirty="0">
                <a:solidFill>
                  <a:srgbClr val="0A0E14"/>
                </a:solidFill>
                <a:latin typeface="Calibri" pitchFamily="34" charset="0"/>
                <a:ea typeface="Calibri" pitchFamily="34" charset="-122"/>
                <a:cs typeface="Calibri" pitchFamily="34" charset="-120"/>
              </a:rPr>
              <a:t>TIER 2</a:t>
            </a:r>
            <a:endParaRPr lang="en-US" sz="900" dirty="0"/>
          </a:p>
        </p:txBody>
      </p:sp>
      <p:sp>
        <p:nvSpPr>
          <p:cNvPr id="23" name="Text 21"/>
          <p:cNvSpPr/>
          <p:nvPr/>
        </p:nvSpPr>
        <p:spPr>
          <a:xfrm>
            <a:off x="1216152" y="3456432"/>
            <a:ext cx="3063240" cy="237744"/>
          </a:xfrm>
          <a:prstGeom prst="rect">
            <a:avLst/>
          </a:prstGeom>
          <a:noFill/>
          <a:ln/>
        </p:spPr>
        <p:txBody>
          <a:bodyPr wrap="square" lIns="0" tIns="0" rIns="0" bIns="0" rtlCol="0" anchor="ctr"/>
          <a:lstStyle/>
          <a:p>
            <a:pPr indent="0" marL="0">
              <a:buNone/>
            </a:pPr>
            <a:r>
              <a:rPr lang="en-US" sz="1200" b="1" dirty="0">
                <a:solidFill>
                  <a:srgbClr val="E3B341"/>
                </a:solidFill>
                <a:latin typeface="Calibri" pitchFamily="34" charset="0"/>
                <a:ea typeface="Calibri" pitchFamily="34" charset="-122"/>
                <a:cs typeface="Calibri" pitchFamily="34" charset="-120"/>
              </a:rPr>
              <a:t>Domain Platform Engineers</a:t>
            </a:r>
            <a:endParaRPr lang="en-US" sz="1200" dirty="0"/>
          </a:p>
        </p:txBody>
      </p:sp>
      <p:sp>
        <p:nvSpPr>
          <p:cNvPr id="24" name="Text 22"/>
          <p:cNvSpPr/>
          <p:nvPr/>
        </p:nvSpPr>
        <p:spPr>
          <a:xfrm>
            <a:off x="420624" y="3785616"/>
            <a:ext cx="3858768" cy="96012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Deep technical owners per OSS domain</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Handle complex incidents, agent failures, OSS upgrades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Own agent lifecycle: versioning, eval, promotion, deprecation</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SLA: 4-hour P1 response, same-day P2</a:t>
            </a:r>
            <a:endParaRPr lang="en-US" sz="1000" dirty="0"/>
          </a:p>
        </p:txBody>
      </p:sp>
      <p:sp>
        <p:nvSpPr>
          <p:cNvPr id="25" name="Shape 23"/>
          <p:cNvSpPr/>
          <p:nvPr/>
        </p:nvSpPr>
        <p:spPr>
          <a:xfrm>
            <a:off x="4718304" y="3328416"/>
            <a:ext cx="4206240" cy="1481328"/>
          </a:xfrm>
          <a:prstGeom prst="rect">
            <a:avLst/>
          </a:prstGeom>
          <a:solidFill>
            <a:srgbClr val="161D28"/>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26" name="Shape 24"/>
          <p:cNvSpPr/>
          <p:nvPr/>
        </p:nvSpPr>
        <p:spPr>
          <a:xfrm>
            <a:off x="4718304" y="3328416"/>
            <a:ext cx="4206240" cy="45720"/>
          </a:xfrm>
          <a:prstGeom prst="rect">
            <a:avLst/>
          </a:prstGeom>
          <a:solidFill>
            <a:srgbClr val="A371F7"/>
          </a:solidFill>
          <a:ln w="12700">
            <a:solidFill>
              <a:srgbClr val="A371F7"/>
            </a:solidFill>
            <a:prstDash val="solid"/>
          </a:ln>
        </p:spPr>
      </p:sp>
      <p:sp>
        <p:nvSpPr>
          <p:cNvPr id="27" name="Shape 25"/>
          <p:cNvSpPr/>
          <p:nvPr/>
        </p:nvSpPr>
        <p:spPr>
          <a:xfrm>
            <a:off x="4882896" y="3438144"/>
            <a:ext cx="685800" cy="256032"/>
          </a:xfrm>
          <a:prstGeom prst="rect">
            <a:avLst/>
          </a:prstGeom>
          <a:solidFill>
            <a:srgbClr val="A371F7"/>
          </a:solidFill>
          <a:ln w="12700">
            <a:solidFill>
              <a:srgbClr val="A371F7"/>
            </a:solidFill>
            <a:prstDash val="solid"/>
          </a:ln>
        </p:spPr>
      </p:sp>
      <p:sp>
        <p:nvSpPr>
          <p:cNvPr id="28" name="Text 26"/>
          <p:cNvSpPr/>
          <p:nvPr/>
        </p:nvSpPr>
        <p:spPr>
          <a:xfrm>
            <a:off x="4882896" y="3438144"/>
            <a:ext cx="685800" cy="256032"/>
          </a:xfrm>
          <a:prstGeom prst="rect">
            <a:avLst/>
          </a:prstGeom>
          <a:noFill/>
          <a:ln/>
        </p:spPr>
        <p:txBody>
          <a:bodyPr wrap="square" lIns="0" tIns="0" rIns="0" bIns="0" rtlCol="0" anchor="ctr"/>
          <a:lstStyle/>
          <a:p>
            <a:pPr algn="ctr" indent="0" marL="0">
              <a:buNone/>
            </a:pPr>
            <a:r>
              <a:rPr lang="en-US" sz="900" b="1" dirty="0">
                <a:solidFill>
                  <a:srgbClr val="0A0E14"/>
                </a:solidFill>
                <a:latin typeface="Calibri" pitchFamily="34" charset="0"/>
                <a:ea typeface="Calibri" pitchFamily="34" charset="-122"/>
                <a:cs typeface="Calibri" pitchFamily="34" charset="-120"/>
              </a:rPr>
              <a:t>TIER 3</a:t>
            </a:r>
            <a:endParaRPr lang="en-US" sz="900" dirty="0"/>
          </a:p>
        </p:txBody>
      </p:sp>
      <p:sp>
        <p:nvSpPr>
          <p:cNvPr id="29" name="Text 27"/>
          <p:cNvSpPr/>
          <p:nvPr/>
        </p:nvSpPr>
        <p:spPr>
          <a:xfrm>
            <a:off x="5678424" y="3456432"/>
            <a:ext cx="3063240" cy="237744"/>
          </a:xfrm>
          <a:prstGeom prst="rect">
            <a:avLst/>
          </a:prstGeom>
          <a:noFill/>
          <a:ln/>
        </p:spPr>
        <p:txBody>
          <a:bodyPr wrap="square" lIns="0" tIns="0" rIns="0" bIns="0" rtlCol="0" anchor="ctr"/>
          <a:lstStyle/>
          <a:p>
            <a:pPr indent="0" marL="0">
              <a:buNone/>
            </a:pPr>
            <a:r>
              <a:rPr lang="en-US" sz="1200" b="1" dirty="0">
                <a:solidFill>
                  <a:srgbClr val="A371F7"/>
                </a:solidFill>
                <a:latin typeface="Calibri" pitchFamily="34" charset="0"/>
                <a:ea typeface="Calibri" pitchFamily="34" charset="-122"/>
                <a:cs typeface="Calibri" pitchFamily="34" charset="-120"/>
              </a:rPr>
              <a:t>OSS &amp; Model Specialists</a:t>
            </a:r>
            <a:endParaRPr lang="en-US" sz="1200" dirty="0"/>
          </a:p>
        </p:txBody>
      </p:sp>
      <p:sp>
        <p:nvSpPr>
          <p:cNvPr id="30" name="Text 28"/>
          <p:cNvSpPr/>
          <p:nvPr/>
        </p:nvSpPr>
        <p:spPr>
          <a:xfrm>
            <a:off x="4882896" y="3785616"/>
            <a:ext cx="3858768" cy="96012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OSS maintainer channels and commercial support contracts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Model incident: rollback, disablement, version reversion</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Security incident: SOC/SIEM/GRC escalation, CISO accountability</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Architecture review for high-stakes agent deployments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E3B341"/>
          </a:solidFill>
          <a:ln w="12700">
            <a:solidFill>
              <a:srgbClr val="E3B341"/>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E3B341"/>
                </a:solidFill>
                <a:latin typeface="Calibri" pitchFamily="34" charset="0"/>
                <a:ea typeface="Calibri" pitchFamily="34" charset="-122"/>
                <a:cs typeface="Calibri" pitchFamily="34" charset="-120"/>
              </a:rPr>
              <a:t>OSS LIFECYCLE GOVERNANCE</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Ownership Is a Discipline</a:t>
            </a:r>
            <a:endParaRPr lang="en-US" sz="3000" dirty="0"/>
          </a:p>
        </p:txBody>
      </p:sp>
      <p:sp>
        <p:nvSpPr>
          <p:cNvPr id="6" name="Text 4"/>
          <p:cNvSpPr/>
          <p:nvPr/>
        </p:nvSpPr>
        <p:spPr>
          <a:xfrm>
            <a:off x="365760" y="1234440"/>
            <a:ext cx="8412480" cy="475488"/>
          </a:xfrm>
          <a:prstGeom prst="rect">
            <a:avLst/>
          </a:prstGeom>
          <a:noFill/>
          <a:ln/>
        </p:spPr>
        <p:txBody>
          <a:bodyPr wrap="square" lIns="0" tIns="0" rIns="0" bIns="0" rtlCol="0" anchor="ctr"/>
          <a:lstStyle/>
          <a:p>
            <a:pPr indent="0" marL="0">
              <a:buNone/>
            </a:pPr>
            <a:r>
              <a:rPr lang="en-US" sz="1200" i="1" dirty="0">
                <a:solidFill>
                  <a:srgbClr val="7D8FA9"/>
                </a:solidFill>
                <a:latin typeface="Calibri" pitchFamily="34" charset="0"/>
                <a:ea typeface="Calibri" pitchFamily="34" charset="-122"/>
                <a:cs typeface="Calibri" pitchFamily="34" charset="-120"/>
              </a:rPr>
              <a:t>When OAAD replaces COTS, the enterprise inherits responsibilities the vendor previously absorbed. Stated correctly, this is not a liability. It is the mechanism by which the enterprise builds an unreplicable capability moat.</a:t>
            </a:r>
            <a:endParaRPr lang="en-US" sz="1200" dirty="0"/>
          </a:p>
        </p:txBody>
      </p:sp>
      <p:sp>
        <p:nvSpPr>
          <p:cNvPr id="7" name="Shape 5"/>
          <p:cNvSpPr/>
          <p:nvPr/>
        </p:nvSpPr>
        <p:spPr>
          <a:xfrm>
            <a:off x="256032" y="1874520"/>
            <a:ext cx="4206240" cy="1444752"/>
          </a:xfrm>
          <a:prstGeom prst="rect">
            <a:avLst/>
          </a:prstGeom>
          <a:solidFill>
            <a:srgbClr val="161D28"/>
          </a:solidFill>
          <a:ln w="12700">
            <a:solidFill>
              <a:srgbClr val="F85149"/>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56032" y="1874520"/>
            <a:ext cx="4206240" cy="45720"/>
          </a:xfrm>
          <a:prstGeom prst="rect">
            <a:avLst/>
          </a:prstGeom>
          <a:solidFill>
            <a:srgbClr val="F85149"/>
          </a:solidFill>
          <a:ln w="12700">
            <a:solidFill>
              <a:srgbClr val="F85149"/>
            </a:solidFill>
            <a:prstDash val="solid"/>
          </a:ln>
        </p:spPr>
      </p:sp>
      <p:sp>
        <p:nvSpPr>
          <p:cNvPr id="9" name="Text 7"/>
          <p:cNvSpPr/>
          <p:nvPr/>
        </p:nvSpPr>
        <p:spPr>
          <a:xfrm>
            <a:off x="438912" y="1984248"/>
            <a:ext cx="3840480" cy="274320"/>
          </a:xfrm>
          <a:prstGeom prst="rect">
            <a:avLst/>
          </a:prstGeom>
          <a:noFill/>
          <a:ln/>
        </p:spPr>
        <p:txBody>
          <a:bodyPr wrap="square" lIns="0" tIns="0" rIns="0" bIns="0" rtlCol="0" anchor="ctr"/>
          <a:lstStyle/>
          <a:p>
            <a:pPr indent="0" marL="0">
              <a:buNone/>
            </a:pPr>
            <a:r>
              <a:rPr lang="en-US" sz="1200" b="1" dirty="0">
                <a:solidFill>
                  <a:srgbClr val="F85149"/>
                </a:solidFill>
                <a:latin typeface="Calibri" pitchFamily="34" charset="0"/>
                <a:ea typeface="Calibri" pitchFamily="34" charset="-122"/>
                <a:cs typeface="Calibri" pitchFamily="34" charset="-120"/>
              </a:rPr>
              <a:t>Patch &amp; Vulnerability Management</a:t>
            </a:r>
            <a:endParaRPr lang="en-US" sz="1200" dirty="0"/>
          </a:p>
        </p:txBody>
      </p:sp>
      <p:sp>
        <p:nvSpPr>
          <p:cNvPr id="10" name="Text 8"/>
          <p:cNvSpPr/>
          <p:nvPr/>
        </p:nvSpPr>
        <p:spPr>
          <a:xfrm>
            <a:off x="438912" y="2331720"/>
            <a:ext cx="3840480" cy="91440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CVE monitoring across all OSS components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Automated dependency scanning in CI/CD pipeline</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SBOM generation and container provenance tracking</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Patch SLA: critical 24hr, high 7 days, medium 30 days</a:t>
            </a:r>
            <a:endParaRPr lang="en-US" sz="1000" dirty="0"/>
          </a:p>
        </p:txBody>
      </p:sp>
      <p:sp>
        <p:nvSpPr>
          <p:cNvPr id="11" name="Shape 9"/>
          <p:cNvSpPr/>
          <p:nvPr/>
        </p:nvSpPr>
        <p:spPr>
          <a:xfrm>
            <a:off x="4718304" y="1874520"/>
            <a:ext cx="4206240" cy="1444752"/>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12" name="Shape 10"/>
          <p:cNvSpPr/>
          <p:nvPr/>
        </p:nvSpPr>
        <p:spPr>
          <a:xfrm>
            <a:off x="4718304" y="1874520"/>
            <a:ext cx="4206240" cy="45720"/>
          </a:xfrm>
          <a:prstGeom prst="rect">
            <a:avLst/>
          </a:prstGeom>
          <a:solidFill>
            <a:srgbClr val="E3B341"/>
          </a:solidFill>
          <a:ln w="12700">
            <a:solidFill>
              <a:srgbClr val="E3B341"/>
            </a:solidFill>
            <a:prstDash val="solid"/>
          </a:ln>
        </p:spPr>
      </p:sp>
      <p:sp>
        <p:nvSpPr>
          <p:cNvPr id="13" name="Text 11"/>
          <p:cNvSpPr/>
          <p:nvPr/>
        </p:nvSpPr>
        <p:spPr>
          <a:xfrm>
            <a:off x="4901184" y="1984248"/>
            <a:ext cx="3840480" cy="274320"/>
          </a:xfrm>
          <a:prstGeom prst="rect">
            <a:avLst/>
          </a:prstGeom>
          <a:noFill/>
          <a:ln/>
        </p:spPr>
        <p:txBody>
          <a:bodyPr wrap="square" lIns="0" tIns="0" rIns="0" bIns="0" rtlCol="0" anchor="ctr"/>
          <a:lstStyle/>
          <a:p>
            <a:pPr indent="0" marL="0">
              <a:buNone/>
            </a:pPr>
            <a:r>
              <a:rPr lang="en-US" sz="1200" b="1" dirty="0">
                <a:solidFill>
                  <a:srgbClr val="E3B341"/>
                </a:solidFill>
                <a:latin typeface="Calibri" pitchFamily="34" charset="0"/>
                <a:ea typeface="Calibri" pitchFamily="34" charset="-122"/>
                <a:cs typeface="Calibri" pitchFamily="34" charset="-120"/>
              </a:rPr>
              <a:t>License &amp; Supply Chain Compliance</a:t>
            </a:r>
            <a:endParaRPr lang="en-US" sz="1200" dirty="0"/>
          </a:p>
        </p:txBody>
      </p:sp>
      <p:sp>
        <p:nvSpPr>
          <p:cNvPr id="14" name="Text 12"/>
          <p:cNvSpPr/>
          <p:nvPr/>
        </p:nvSpPr>
        <p:spPr>
          <a:xfrm>
            <a:off x="4901184" y="2331720"/>
            <a:ext cx="3840480" cy="91440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OSS license inventory and compatibility matrix</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Code-signing and provenance for all platform artifacts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Maintainer health monitoring (bus factor, activity, forks)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Fork strategy playbook for abandoned critical components</a:t>
            </a:r>
            <a:endParaRPr lang="en-US" sz="1000" dirty="0"/>
          </a:p>
        </p:txBody>
      </p:sp>
      <p:sp>
        <p:nvSpPr>
          <p:cNvPr id="15" name="Shape 13"/>
          <p:cNvSpPr/>
          <p:nvPr/>
        </p:nvSpPr>
        <p:spPr>
          <a:xfrm>
            <a:off x="256032" y="3410712"/>
            <a:ext cx="4206240" cy="1444752"/>
          </a:xfrm>
          <a:prstGeom prst="rect">
            <a:avLst/>
          </a:prstGeom>
          <a:solidFill>
            <a:srgbClr val="161D28"/>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16" name="Shape 14"/>
          <p:cNvSpPr/>
          <p:nvPr/>
        </p:nvSpPr>
        <p:spPr>
          <a:xfrm>
            <a:off x="256032" y="3410712"/>
            <a:ext cx="4206240" cy="45720"/>
          </a:xfrm>
          <a:prstGeom prst="rect">
            <a:avLst/>
          </a:prstGeom>
          <a:solidFill>
            <a:srgbClr val="4D9EFF"/>
          </a:solidFill>
          <a:ln w="12700">
            <a:solidFill>
              <a:srgbClr val="4D9EFF"/>
            </a:solidFill>
            <a:prstDash val="solid"/>
          </a:ln>
        </p:spPr>
      </p:sp>
      <p:sp>
        <p:nvSpPr>
          <p:cNvPr id="17" name="Text 15"/>
          <p:cNvSpPr/>
          <p:nvPr/>
        </p:nvSpPr>
        <p:spPr>
          <a:xfrm>
            <a:off x="438912" y="3520440"/>
            <a:ext cx="3840480" cy="274320"/>
          </a:xfrm>
          <a:prstGeom prst="rect">
            <a:avLst/>
          </a:prstGeom>
          <a:noFill/>
          <a:ln/>
        </p:spPr>
        <p:txBody>
          <a:bodyPr wrap="square" lIns="0" tIns="0" rIns="0" bIns="0" rtlCol="0" anchor="ctr"/>
          <a:lstStyle/>
          <a:p>
            <a:pPr indent="0" marL="0">
              <a:buNone/>
            </a:pPr>
            <a:r>
              <a:rPr lang="en-US" sz="1200" b="1" dirty="0">
                <a:solidFill>
                  <a:srgbClr val="4D9EFF"/>
                </a:solidFill>
                <a:latin typeface="Calibri" pitchFamily="34" charset="0"/>
                <a:ea typeface="Calibri" pitchFamily="34" charset="-122"/>
                <a:cs typeface="Calibri" pitchFamily="34" charset="-120"/>
              </a:rPr>
              <a:t>Upgrade &amp; Migration Choreography</a:t>
            </a:r>
            <a:endParaRPr lang="en-US" sz="1200" dirty="0"/>
          </a:p>
        </p:txBody>
      </p:sp>
      <p:sp>
        <p:nvSpPr>
          <p:cNvPr id="18" name="Text 16"/>
          <p:cNvSpPr/>
          <p:nvPr/>
        </p:nvSpPr>
        <p:spPr>
          <a:xfrm>
            <a:off x="438912" y="3867912"/>
            <a:ext cx="3840480" cy="91440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Version upgrade runway: never more than 2 major releases behind</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Automated regression test suite gating every OSS upgrade</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Data migration playbooks per OSS domain</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Backup, disaster recovery, and RTO/RPO per capability</a:t>
            </a:r>
            <a:endParaRPr lang="en-US" sz="1000" dirty="0"/>
          </a:p>
        </p:txBody>
      </p:sp>
      <p:sp>
        <p:nvSpPr>
          <p:cNvPr id="19" name="Shape 17"/>
          <p:cNvSpPr/>
          <p:nvPr/>
        </p:nvSpPr>
        <p:spPr>
          <a:xfrm>
            <a:off x="4718304" y="3410712"/>
            <a:ext cx="4206240" cy="1444752"/>
          </a:xfrm>
          <a:prstGeom prst="rect">
            <a:avLst/>
          </a:prstGeom>
          <a:solidFill>
            <a:srgbClr val="161D28"/>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20" name="Shape 18"/>
          <p:cNvSpPr/>
          <p:nvPr/>
        </p:nvSpPr>
        <p:spPr>
          <a:xfrm>
            <a:off x="4718304" y="3410712"/>
            <a:ext cx="4206240" cy="45720"/>
          </a:xfrm>
          <a:prstGeom prst="rect">
            <a:avLst/>
          </a:prstGeom>
          <a:solidFill>
            <a:srgbClr val="A371F7"/>
          </a:solidFill>
          <a:ln w="12700">
            <a:solidFill>
              <a:srgbClr val="A371F7"/>
            </a:solidFill>
            <a:prstDash val="solid"/>
          </a:ln>
        </p:spPr>
      </p:sp>
      <p:sp>
        <p:nvSpPr>
          <p:cNvPr id="21" name="Text 19"/>
          <p:cNvSpPr/>
          <p:nvPr/>
        </p:nvSpPr>
        <p:spPr>
          <a:xfrm>
            <a:off x="4901184" y="3520440"/>
            <a:ext cx="3840480" cy="274320"/>
          </a:xfrm>
          <a:prstGeom prst="rect">
            <a:avLst/>
          </a:prstGeom>
          <a:noFill/>
          <a:ln/>
        </p:spPr>
        <p:txBody>
          <a:bodyPr wrap="square" lIns="0" tIns="0" rIns="0" bIns="0" rtlCol="0" anchor="ctr"/>
          <a:lstStyle/>
          <a:p>
            <a:pPr indent="0" marL="0">
              <a:buNone/>
            </a:pPr>
            <a:r>
              <a:rPr lang="en-US" sz="1200" b="1" dirty="0">
                <a:solidFill>
                  <a:srgbClr val="A371F7"/>
                </a:solidFill>
                <a:latin typeface="Calibri" pitchFamily="34" charset="0"/>
                <a:ea typeface="Calibri" pitchFamily="34" charset="-122"/>
                <a:cs typeface="Calibri" pitchFamily="34" charset="-120"/>
              </a:rPr>
              <a:t>Agent Model Governance</a:t>
            </a:r>
            <a:endParaRPr lang="en-US" sz="1200" dirty="0"/>
          </a:p>
        </p:txBody>
      </p:sp>
      <p:sp>
        <p:nvSpPr>
          <p:cNvPr id="22" name="Text 20"/>
          <p:cNvSpPr/>
          <p:nvPr/>
        </p:nvSpPr>
        <p:spPr>
          <a:xfrm>
            <a:off x="4901184" y="3867912"/>
            <a:ext cx="3840480" cy="91440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Model version pinning with explicit upgrade gates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Prompt regression testing before any model version change</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Model risk assessment for each new agent capability</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Rollback and disablement runbooks for model incidents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F85149"/>
          </a:solidFill>
          <a:ln w="12700">
            <a:solidFill>
              <a:srgbClr val="F85149"/>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F85149"/>
                </a:solidFill>
                <a:latin typeface="Calibri" pitchFamily="34" charset="0"/>
                <a:ea typeface="Calibri" pitchFamily="34" charset="-122"/>
                <a:cs typeface="Calibri" pitchFamily="34" charset="-120"/>
              </a:rPr>
              <a:t>OAAD RISK MODEL</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Four Risks. Four Mitigations.</a:t>
            </a:r>
            <a:endParaRPr lang="en-US" sz="3000" dirty="0"/>
          </a:p>
        </p:txBody>
      </p:sp>
      <p:sp>
        <p:nvSpPr>
          <p:cNvPr id="6" name="Text 4"/>
          <p:cNvSpPr/>
          <p:nvPr/>
        </p:nvSpPr>
        <p:spPr>
          <a:xfrm>
            <a:off x="365760" y="1234440"/>
            <a:ext cx="8412480" cy="475488"/>
          </a:xfrm>
          <a:prstGeom prst="rect">
            <a:avLst/>
          </a:prstGeom>
          <a:noFill/>
          <a:ln/>
        </p:spPr>
        <p:txBody>
          <a:bodyPr wrap="square" lIns="0" tIns="0" rIns="0" bIns="0" rtlCol="0" anchor="ctr"/>
          <a:lstStyle/>
          <a:p>
            <a:pPr indent="0" marL="0">
              <a:buNone/>
            </a:pPr>
            <a:r>
              <a:rPr lang="en-US" sz="1200" i="1" dirty="0">
                <a:solidFill>
                  <a:srgbClr val="7D8FA9"/>
                </a:solidFill>
                <a:latin typeface="Calibri" pitchFamily="34" charset="0"/>
                <a:ea typeface="Calibri" pitchFamily="34" charset="-122"/>
                <a:cs typeface="Calibri" pitchFamily="34" charset="-120"/>
              </a:rPr>
              <a:t>Ownership creates control, but it also creates responsibility. OAAD wins only if the enterprise is willing to become a serious platform operator. These are the four risks that require architectural responses, not just policies.</a:t>
            </a:r>
            <a:endParaRPr lang="en-US" sz="1200" dirty="0"/>
          </a:p>
        </p:txBody>
      </p:sp>
      <p:sp>
        <p:nvSpPr>
          <p:cNvPr id="7" name="Shape 5"/>
          <p:cNvSpPr/>
          <p:nvPr/>
        </p:nvSpPr>
        <p:spPr>
          <a:xfrm>
            <a:off x="256032" y="1883664"/>
            <a:ext cx="8631936" cy="621792"/>
          </a:xfrm>
          <a:prstGeom prst="rect">
            <a:avLst/>
          </a:prstGeom>
          <a:solidFill>
            <a:srgbClr val="161D28"/>
          </a:solidFill>
          <a:ln w="12700">
            <a:solidFill>
              <a:srgbClr val="F85149"/>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56032" y="1883664"/>
            <a:ext cx="54864" cy="621792"/>
          </a:xfrm>
          <a:prstGeom prst="rect">
            <a:avLst/>
          </a:prstGeom>
          <a:solidFill>
            <a:srgbClr val="F85149"/>
          </a:solidFill>
          <a:ln w="12700">
            <a:solidFill>
              <a:srgbClr val="F85149"/>
            </a:solidFill>
            <a:prstDash val="solid"/>
          </a:ln>
        </p:spPr>
      </p:sp>
      <p:sp>
        <p:nvSpPr>
          <p:cNvPr id="9" name="Text 7"/>
          <p:cNvSpPr/>
          <p:nvPr/>
        </p:nvSpPr>
        <p:spPr>
          <a:xfrm>
            <a:off x="402336" y="1920240"/>
            <a:ext cx="2377440" cy="219456"/>
          </a:xfrm>
          <a:prstGeom prst="rect">
            <a:avLst/>
          </a:prstGeom>
          <a:noFill/>
          <a:ln/>
        </p:spPr>
        <p:txBody>
          <a:bodyPr wrap="square" lIns="0" tIns="0" rIns="0" bIns="0" rtlCol="0" anchor="ctr"/>
          <a:lstStyle/>
          <a:p>
            <a:pPr indent="0" marL="0">
              <a:buNone/>
            </a:pPr>
            <a:r>
              <a:rPr lang="en-US" sz="1200" b="1" dirty="0">
                <a:solidFill>
                  <a:srgbClr val="F85149"/>
                </a:solidFill>
                <a:latin typeface="Calibri" pitchFamily="34" charset="0"/>
                <a:ea typeface="Calibri" pitchFamily="34" charset="-122"/>
                <a:cs typeface="Calibri" pitchFamily="34" charset="-120"/>
              </a:rPr>
              <a:t>OSS Supply Chain &amp; Lifecycle</a:t>
            </a:r>
            <a:endParaRPr lang="en-US" sz="1200" dirty="0"/>
          </a:p>
        </p:txBody>
      </p:sp>
      <p:sp>
        <p:nvSpPr>
          <p:cNvPr id="10" name="Text 8"/>
          <p:cNvSpPr/>
          <p:nvPr/>
        </p:nvSpPr>
        <p:spPr>
          <a:xfrm>
            <a:off x="402336" y="2157984"/>
            <a:ext cx="2377440" cy="274320"/>
          </a:xfrm>
          <a:prstGeom prst="rect">
            <a:avLst/>
          </a:prstGeom>
          <a:noFill/>
          <a:ln/>
        </p:spPr>
        <p:txBody>
          <a:bodyPr wrap="square" lIns="0" tIns="0" rIns="0" bIns="0" rtlCol="0" anchor="ctr"/>
          <a:lstStyle/>
          <a:p>
            <a:pPr indent="0" marL="0">
              <a:buNone/>
            </a:pPr>
            <a:r>
              <a:rPr lang="en-US" sz="950" dirty="0">
                <a:solidFill>
                  <a:srgbClr val="3D4F63"/>
                </a:solidFill>
                <a:latin typeface="Calibri" pitchFamily="34" charset="0"/>
                <a:ea typeface="Calibri" pitchFamily="34" charset="-122"/>
                <a:cs typeface="Calibri" pitchFamily="34" charset="-120"/>
              </a:rPr>
              <a:t>Maintainer abandonment, CVE exposure, license drift, upgrade debt</a:t>
            </a:r>
            <a:endParaRPr lang="en-US" sz="950" dirty="0"/>
          </a:p>
        </p:txBody>
      </p:sp>
      <p:sp>
        <p:nvSpPr>
          <p:cNvPr id="11" name="Shape 9"/>
          <p:cNvSpPr/>
          <p:nvPr/>
        </p:nvSpPr>
        <p:spPr>
          <a:xfrm>
            <a:off x="2871216" y="1975104"/>
            <a:ext cx="18288" cy="438912"/>
          </a:xfrm>
          <a:prstGeom prst="rect">
            <a:avLst/>
          </a:prstGeom>
          <a:solidFill>
            <a:srgbClr val="243044"/>
          </a:solidFill>
          <a:ln w="12700">
            <a:solidFill>
              <a:srgbClr val="243044"/>
            </a:solidFill>
            <a:prstDash val="solid"/>
          </a:ln>
        </p:spPr>
      </p:sp>
      <p:sp>
        <p:nvSpPr>
          <p:cNvPr id="12" name="Text 10"/>
          <p:cNvSpPr/>
          <p:nvPr/>
        </p:nvSpPr>
        <p:spPr>
          <a:xfrm>
            <a:off x="2980944" y="1920240"/>
            <a:ext cx="914400" cy="182880"/>
          </a:xfrm>
          <a:prstGeom prst="rect">
            <a:avLst/>
          </a:prstGeom>
          <a:noFill/>
          <a:ln/>
        </p:spPr>
        <p:txBody>
          <a:bodyPr wrap="square" lIns="0" tIns="0" rIns="0" bIns="0" rtlCol="0" anchor="ctr"/>
          <a:lstStyle/>
          <a:p>
            <a:pPr indent="0" marL="0">
              <a:buNone/>
            </a:pPr>
            <a:r>
              <a:rPr lang="en-US" sz="800" b="1" spc="100" kern="0" dirty="0">
                <a:solidFill>
                  <a:srgbClr val="7D8FA9"/>
                </a:solidFill>
                <a:latin typeface="Calibri" pitchFamily="34" charset="0"/>
                <a:ea typeface="Calibri" pitchFamily="34" charset="-122"/>
                <a:cs typeface="Calibri" pitchFamily="34" charset="-120"/>
              </a:rPr>
              <a:t>MITIGATION:</a:t>
            </a:r>
            <a:endParaRPr lang="en-US" sz="800" dirty="0"/>
          </a:p>
        </p:txBody>
      </p:sp>
      <p:sp>
        <p:nvSpPr>
          <p:cNvPr id="13" name="Text 11"/>
          <p:cNvSpPr/>
          <p:nvPr/>
        </p:nvSpPr>
        <p:spPr>
          <a:xfrm>
            <a:off x="2980944" y="2103120"/>
            <a:ext cx="5760720" cy="347472"/>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OSS lifecycle governance as first-class platform discipline (see Slide 13)</a:t>
            </a:r>
            <a:endParaRPr lang="en-US" sz="1050" dirty="0"/>
          </a:p>
        </p:txBody>
      </p:sp>
      <p:sp>
        <p:nvSpPr>
          <p:cNvPr id="14" name="Shape 12"/>
          <p:cNvSpPr/>
          <p:nvPr/>
        </p:nvSpPr>
        <p:spPr>
          <a:xfrm>
            <a:off x="256032" y="2569464"/>
            <a:ext cx="8631936" cy="621792"/>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15" name="Shape 13"/>
          <p:cNvSpPr/>
          <p:nvPr/>
        </p:nvSpPr>
        <p:spPr>
          <a:xfrm>
            <a:off x="256032" y="2569464"/>
            <a:ext cx="54864" cy="621792"/>
          </a:xfrm>
          <a:prstGeom prst="rect">
            <a:avLst/>
          </a:prstGeom>
          <a:solidFill>
            <a:srgbClr val="E3B341"/>
          </a:solidFill>
          <a:ln w="12700">
            <a:solidFill>
              <a:srgbClr val="E3B341"/>
            </a:solidFill>
            <a:prstDash val="solid"/>
          </a:ln>
        </p:spPr>
      </p:sp>
      <p:sp>
        <p:nvSpPr>
          <p:cNvPr id="16" name="Text 14"/>
          <p:cNvSpPr/>
          <p:nvPr/>
        </p:nvSpPr>
        <p:spPr>
          <a:xfrm>
            <a:off x="402336" y="2606040"/>
            <a:ext cx="2377440" cy="219456"/>
          </a:xfrm>
          <a:prstGeom prst="rect">
            <a:avLst/>
          </a:prstGeom>
          <a:noFill/>
          <a:ln/>
        </p:spPr>
        <p:txBody>
          <a:bodyPr wrap="square" lIns="0" tIns="0" rIns="0" bIns="0" rtlCol="0" anchor="ctr"/>
          <a:lstStyle/>
          <a:p>
            <a:pPr indent="0" marL="0">
              <a:buNone/>
            </a:pPr>
            <a:r>
              <a:rPr lang="en-US" sz="1200" b="1" dirty="0">
                <a:solidFill>
                  <a:srgbClr val="E3B341"/>
                </a:solidFill>
                <a:latin typeface="Calibri" pitchFamily="34" charset="0"/>
                <a:ea typeface="Calibri" pitchFamily="34" charset="-122"/>
                <a:cs typeface="Calibri" pitchFamily="34" charset="-120"/>
              </a:rPr>
              <a:t>Agent Governance Collapse</a:t>
            </a:r>
            <a:endParaRPr lang="en-US" sz="1200" dirty="0"/>
          </a:p>
        </p:txBody>
      </p:sp>
      <p:sp>
        <p:nvSpPr>
          <p:cNvPr id="17" name="Text 15"/>
          <p:cNvSpPr/>
          <p:nvPr/>
        </p:nvSpPr>
        <p:spPr>
          <a:xfrm>
            <a:off x="402336" y="2843784"/>
            <a:ext cx="2377440" cy="274320"/>
          </a:xfrm>
          <a:prstGeom prst="rect">
            <a:avLst/>
          </a:prstGeom>
          <a:noFill/>
          <a:ln/>
        </p:spPr>
        <p:txBody>
          <a:bodyPr wrap="square" lIns="0" tIns="0" rIns="0" bIns="0" rtlCol="0" anchor="ctr"/>
          <a:lstStyle/>
          <a:p>
            <a:pPr indent="0" marL="0">
              <a:buNone/>
            </a:pPr>
            <a:r>
              <a:rPr lang="en-US" sz="950" dirty="0">
                <a:solidFill>
                  <a:srgbClr val="3D4F63"/>
                </a:solidFill>
                <a:latin typeface="Calibri" pitchFamily="34" charset="0"/>
                <a:ea typeface="Calibri" pitchFamily="34" charset="-122"/>
                <a:cs typeface="Calibri" pitchFamily="34" charset="-120"/>
              </a:rPr>
              <a:t>Agent sprawl, unconstrained authority, audit gap, prompt injection</a:t>
            </a:r>
            <a:endParaRPr lang="en-US" sz="950" dirty="0"/>
          </a:p>
        </p:txBody>
      </p:sp>
      <p:sp>
        <p:nvSpPr>
          <p:cNvPr id="18" name="Shape 16"/>
          <p:cNvSpPr/>
          <p:nvPr/>
        </p:nvSpPr>
        <p:spPr>
          <a:xfrm>
            <a:off x="2871216" y="2660904"/>
            <a:ext cx="18288" cy="438912"/>
          </a:xfrm>
          <a:prstGeom prst="rect">
            <a:avLst/>
          </a:prstGeom>
          <a:solidFill>
            <a:srgbClr val="243044"/>
          </a:solidFill>
          <a:ln w="12700">
            <a:solidFill>
              <a:srgbClr val="243044"/>
            </a:solidFill>
            <a:prstDash val="solid"/>
          </a:ln>
        </p:spPr>
      </p:sp>
      <p:sp>
        <p:nvSpPr>
          <p:cNvPr id="19" name="Text 17"/>
          <p:cNvSpPr/>
          <p:nvPr/>
        </p:nvSpPr>
        <p:spPr>
          <a:xfrm>
            <a:off x="2980944" y="2606040"/>
            <a:ext cx="914400" cy="182880"/>
          </a:xfrm>
          <a:prstGeom prst="rect">
            <a:avLst/>
          </a:prstGeom>
          <a:noFill/>
          <a:ln/>
        </p:spPr>
        <p:txBody>
          <a:bodyPr wrap="square" lIns="0" tIns="0" rIns="0" bIns="0" rtlCol="0" anchor="ctr"/>
          <a:lstStyle/>
          <a:p>
            <a:pPr indent="0" marL="0">
              <a:buNone/>
            </a:pPr>
            <a:r>
              <a:rPr lang="en-US" sz="800" b="1" spc="100" kern="0" dirty="0">
                <a:solidFill>
                  <a:srgbClr val="7D8FA9"/>
                </a:solidFill>
                <a:latin typeface="Calibri" pitchFamily="34" charset="0"/>
                <a:ea typeface="Calibri" pitchFamily="34" charset="-122"/>
                <a:cs typeface="Calibri" pitchFamily="34" charset="-120"/>
              </a:rPr>
              <a:t>MITIGATION:</a:t>
            </a:r>
            <a:endParaRPr lang="en-US" sz="800" dirty="0"/>
          </a:p>
        </p:txBody>
      </p:sp>
      <p:sp>
        <p:nvSpPr>
          <p:cNvPr id="20" name="Text 18"/>
          <p:cNvSpPr/>
          <p:nvPr/>
        </p:nvSpPr>
        <p:spPr>
          <a:xfrm>
            <a:off x="2980944" y="2788920"/>
            <a:ext cx="5760720" cy="347472"/>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Agent authority taxonomy enforced at platform level; no agent to production without governance gate</a:t>
            </a:r>
            <a:endParaRPr lang="en-US" sz="1050" dirty="0"/>
          </a:p>
        </p:txBody>
      </p:sp>
      <p:sp>
        <p:nvSpPr>
          <p:cNvPr id="21" name="Shape 19"/>
          <p:cNvSpPr/>
          <p:nvPr/>
        </p:nvSpPr>
        <p:spPr>
          <a:xfrm>
            <a:off x="256032" y="3255264"/>
            <a:ext cx="8631936" cy="621792"/>
          </a:xfrm>
          <a:prstGeom prst="rect">
            <a:avLst/>
          </a:prstGeom>
          <a:solidFill>
            <a:srgbClr val="161D28"/>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22" name="Shape 20"/>
          <p:cNvSpPr/>
          <p:nvPr/>
        </p:nvSpPr>
        <p:spPr>
          <a:xfrm>
            <a:off x="256032" y="3255264"/>
            <a:ext cx="54864" cy="621792"/>
          </a:xfrm>
          <a:prstGeom prst="rect">
            <a:avLst/>
          </a:prstGeom>
          <a:solidFill>
            <a:srgbClr val="4D9EFF"/>
          </a:solidFill>
          <a:ln w="12700">
            <a:solidFill>
              <a:srgbClr val="4D9EFF"/>
            </a:solidFill>
            <a:prstDash val="solid"/>
          </a:ln>
        </p:spPr>
      </p:sp>
      <p:sp>
        <p:nvSpPr>
          <p:cNvPr id="23" name="Text 21"/>
          <p:cNvSpPr/>
          <p:nvPr/>
        </p:nvSpPr>
        <p:spPr>
          <a:xfrm>
            <a:off x="402336" y="3291840"/>
            <a:ext cx="2377440" cy="219456"/>
          </a:xfrm>
          <a:prstGeom prst="rect">
            <a:avLst/>
          </a:prstGeom>
          <a:noFill/>
          <a:ln/>
        </p:spPr>
        <p:txBody>
          <a:bodyPr wrap="square" lIns="0" tIns="0" rIns="0" bIns="0" rtlCol="0" anchor="ctr"/>
          <a:lstStyle/>
          <a:p>
            <a:pPr indent="0" marL="0">
              <a:buNone/>
            </a:pPr>
            <a:r>
              <a:rPr lang="en-US" sz="1200" b="1" dirty="0">
                <a:solidFill>
                  <a:srgbClr val="4D9EFF"/>
                </a:solidFill>
                <a:latin typeface="Calibri" pitchFamily="34" charset="0"/>
                <a:ea typeface="Calibri" pitchFamily="34" charset="-122"/>
                <a:cs typeface="Calibri" pitchFamily="34" charset="-120"/>
              </a:rPr>
              <a:t>Support &amp; Accountability Gap</a:t>
            </a:r>
            <a:endParaRPr lang="en-US" sz="1200" dirty="0"/>
          </a:p>
        </p:txBody>
      </p:sp>
      <p:sp>
        <p:nvSpPr>
          <p:cNvPr id="24" name="Text 22"/>
          <p:cNvSpPr/>
          <p:nvPr/>
        </p:nvSpPr>
        <p:spPr>
          <a:xfrm>
            <a:off x="402336" y="3529584"/>
            <a:ext cx="2377440" cy="274320"/>
          </a:xfrm>
          <a:prstGeom prst="rect">
            <a:avLst/>
          </a:prstGeom>
          <a:noFill/>
          <a:ln/>
        </p:spPr>
        <p:txBody>
          <a:bodyPr wrap="square" lIns="0" tIns="0" rIns="0" bIns="0" rtlCol="0" anchor="ctr"/>
          <a:lstStyle/>
          <a:p>
            <a:pPr indent="0" marL="0">
              <a:buNone/>
            </a:pPr>
            <a:r>
              <a:rPr lang="en-US" sz="950" dirty="0">
                <a:solidFill>
                  <a:srgbClr val="3D4F63"/>
                </a:solidFill>
                <a:latin typeface="Calibri" pitchFamily="34" charset="0"/>
                <a:ea typeface="Calibri" pitchFamily="34" charset="-122"/>
                <a:cs typeface="Calibri" pitchFamily="34" charset="-120"/>
              </a:rPr>
              <a:t>"Who do I call when it breaks?" COTS provides this; OAAD must build it</a:t>
            </a:r>
            <a:endParaRPr lang="en-US" sz="950" dirty="0"/>
          </a:p>
        </p:txBody>
      </p:sp>
      <p:sp>
        <p:nvSpPr>
          <p:cNvPr id="25" name="Shape 23"/>
          <p:cNvSpPr/>
          <p:nvPr/>
        </p:nvSpPr>
        <p:spPr>
          <a:xfrm>
            <a:off x="2871216" y="3346704"/>
            <a:ext cx="18288" cy="438912"/>
          </a:xfrm>
          <a:prstGeom prst="rect">
            <a:avLst/>
          </a:prstGeom>
          <a:solidFill>
            <a:srgbClr val="243044"/>
          </a:solidFill>
          <a:ln w="12700">
            <a:solidFill>
              <a:srgbClr val="243044"/>
            </a:solidFill>
            <a:prstDash val="solid"/>
          </a:ln>
        </p:spPr>
      </p:sp>
      <p:sp>
        <p:nvSpPr>
          <p:cNvPr id="26" name="Text 24"/>
          <p:cNvSpPr/>
          <p:nvPr/>
        </p:nvSpPr>
        <p:spPr>
          <a:xfrm>
            <a:off x="2980944" y="3291840"/>
            <a:ext cx="914400" cy="182880"/>
          </a:xfrm>
          <a:prstGeom prst="rect">
            <a:avLst/>
          </a:prstGeom>
          <a:noFill/>
          <a:ln/>
        </p:spPr>
        <p:txBody>
          <a:bodyPr wrap="square" lIns="0" tIns="0" rIns="0" bIns="0" rtlCol="0" anchor="ctr"/>
          <a:lstStyle/>
          <a:p>
            <a:pPr indent="0" marL="0">
              <a:buNone/>
            </a:pPr>
            <a:r>
              <a:rPr lang="en-US" sz="800" b="1" spc="100" kern="0" dirty="0">
                <a:solidFill>
                  <a:srgbClr val="7D8FA9"/>
                </a:solidFill>
                <a:latin typeface="Calibri" pitchFamily="34" charset="0"/>
                <a:ea typeface="Calibri" pitchFamily="34" charset="-122"/>
                <a:cs typeface="Calibri" pitchFamily="34" charset="-120"/>
              </a:rPr>
              <a:t>MITIGATION:</a:t>
            </a:r>
            <a:endParaRPr lang="en-US" sz="800" dirty="0"/>
          </a:p>
        </p:txBody>
      </p:sp>
      <p:sp>
        <p:nvSpPr>
          <p:cNvPr id="27" name="Text 25"/>
          <p:cNvSpPr/>
          <p:nvPr/>
        </p:nvSpPr>
        <p:spPr>
          <a:xfrm>
            <a:off x="2980944" y="3474720"/>
            <a:ext cx="5760720" cy="347472"/>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Tiered operating model with named owners, SLAs, escalation paths, and war-room protocols (see Slide 12)</a:t>
            </a:r>
            <a:endParaRPr lang="en-US" sz="1050" dirty="0"/>
          </a:p>
        </p:txBody>
      </p:sp>
      <p:sp>
        <p:nvSpPr>
          <p:cNvPr id="28" name="Shape 26"/>
          <p:cNvSpPr/>
          <p:nvPr/>
        </p:nvSpPr>
        <p:spPr>
          <a:xfrm>
            <a:off x="256032" y="3941064"/>
            <a:ext cx="8631936" cy="861792"/>
          </a:xfrm>
          <a:prstGeom prst="rect">
            <a:avLst/>
          </a:prstGeom>
          <a:solidFill>
            <a:srgbClr val="161D28"/>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29" name="Shape 27"/>
          <p:cNvSpPr/>
          <p:nvPr/>
        </p:nvSpPr>
        <p:spPr>
          <a:xfrm>
            <a:off x="256032" y="3941064"/>
            <a:ext cx="54864" cy="861792"/>
          </a:xfrm>
          <a:prstGeom prst="rect">
            <a:avLst/>
          </a:prstGeom>
          <a:solidFill>
            <a:srgbClr val="A371F7"/>
          </a:solidFill>
          <a:ln w="12700">
            <a:solidFill>
              <a:srgbClr val="A371F7"/>
            </a:solidFill>
            <a:prstDash val="solid"/>
          </a:ln>
        </p:spPr>
      </p:sp>
      <p:sp>
        <p:nvSpPr>
          <p:cNvPr id="30" name="Text 28"/>
          <p:cNvSpPr/>
          <p:nvPr/>
        </p:nvSpPr>
        <p:spPr>
          <a:xfrm>
            <a:off x="402336" y="3977640"/>
            <a:ext cx="2377440" cy="219456"/>
          </a:xfrm>
          <a:prstGeom prst="rect">
            <a:avLst/>
          </a:prstGeom>
          <a:noFill/>
          <a:ln/>
        </p:spPr>
        <p:txBody>
          <a:bodyPr wrap="square" lIns="0" tIns="0" rIns="0" bIns="0" rtlCol="0" anchor="ctr"/>
          <a:lstStyle/>
          <a:p>
            <a:pPr indent="0" marL="0">
              <a:buNone/>
            </a:pPr>
            <a:r>
              <a:rPr lang="en-US" sz="1200" b="1" dirty="0">
                <a:solidFill>
                  <a:srgbClr val="A371F7"/>
                </a:solidFill>
                <a:latin typeface="Calibri" pitchFamily="34" charset="0"/>
                <a:ea typeface="Calibri" pitchFamily="34" charset="-122"/>
                <a:cs typeface="Calibri" pitchFamily="34" charset="-120"/>
              </a:rPr>
              <a:t>Migration Cost &amp; Org Resistance</a:t>
            </a:r>
            <a:endParaRPr lang="en-US" sz="1200" dirty="0"/>
          </a:p>
        </p:txBody>
      </p:sp>
      <p:sp>
        <p:nvSpPr>
          <p:cNvPr id="31" name="Text 29"/>
          <p:cNvSpPr/>
          <p:nvPr/>
        </p:nvSpPr>
        <p:spPr>
          <a:xfrm>
            <a:off x="402336" y="4215384"/>
            <a:ext cx="2377440" cy="540000"/>
          </a:xfrm>
          <a:prstGeom prst="rect">
            <a:avLst/>
          </a:prstGeom>
          <a:noFill/>
          <a:ln/>
        </p:spPr>
        <p:txBody>
          <a:bodyPr wrap="square" lIns="0" tIns="0" rIns="0" bIns="0" rtlCol="0" anchor="ctr"/>
          <a:lstStyle/>
          <a:p>
            <a:pPr indent="0" marL="0">
              <a:buNone/>
            </a:pPr>
            <a:r>
              <a:rPr lang="en-US" sz="950" dirty="0">
                <a:solidFill>
                  <a:srgbClr val="3D4F63"/>
                </a:solidFill>
                <a:latin typeface="Calibri" pitchFamily="34" charset="0"/>
                <a:ea typeface="Calibri" pitchFamily="34" charset="-122"/>
                <a:cs typeface="Calibri" pitchFamily="34" charset="-120"/>
              </a:rPr>
              <a:t>COTS entanglement runs deep; change management, retraining, and workflow disruption are real</a:t>
            </a:r>
            <a:endParaRPr lang="en-US" sz="950" dirty="0"/>
          </a:p>
        </p:txBody>
      </p:sp>
      <p:sp>
        <p:nvSpPr>
          <p:cNvPr id="32" name="Shape 30"/>
          <p:cNvSpPr/>
          <p:nvPr/>
        </p:nvSpPr>
        <p:spPr>
          <a:xfrm>
            <a:off x="2871216" y="4032504"/>
            <a:ext cx="18288" cy="438912"/>
          </a:xfrm>
          <a:prstGeom prst="rect">
            <a:avLst/>
          </a:prstGeom>
          <a:solidFill>
            <a:srgbClr val="243044"/>
          </a:solidFill>
          <a:ln w="12700">
            <a:solidFill>
              <a:srgbClr val="243044"/>
            </a:solidFill>
            <a:prstDash val="solid"/>
          </a:ln>
        </p:spPr>
      </p:sp>
      <p:sp>
        <p:nvSpPr>
          <p:cNvPr id="33" name="Text 31"/>
          <p:cNvSpPr/>
          <p:nvPr/>
        </p:nvSpPr>
        <p:spPr>
          <a:xfrm>
            <a:off x="2980944" y="3977640"/>
            <a:ext cx="914400" cy="182880"/>
          </a:xfrm>
          <a:prstGeom prst="rect">
            <a:avLst/>
          </a:prstGeom>
          <a:noFill/>
          <a:ln/>
        </p:spPr>
        <p:txBody>
          <a:bodyPr wrap="square" lIns="0" tIns="0" rIns="0" bIns="0" rtlCol="0" anchor="ctr"/>
          <a:lstStyle/>
          <a:p>
            <a:pPr indent="0" marL="0">
              <a:buNone/>
            </a:pPr>
            <a:r>
              <a:rPr lang="en-US" sz="800" b="1" spc="100" kern="0" dirty="0">
                <a:solidFill>
                  <a:srgbClr val="7D8FA9"/>
                </a:solidFill>
                <a:latin typeface="Calibri" pitchFamily="34" charset="0"/>
                <a:ea typeface="Calibri" pitchFamily="34" charset="-122"/>
                <a:cs typeface="Calibri" pitchFamily="34" charset="-120"/>
              </a:rPr>
              <a:t>MITIGATION:</a:t>
            </a:r>
            <a:endParaRPr lang="en-US" sz="800" dirty="0"/>
          </a:p>
        </p:txBody>
      </p:sp>
      <p:sp>
        <p:nvSpPr>
          <p:cNvPr id="34" name="Text 32"/>
          <p:cNvSpPr/>
          <p:nvPr/>
        </p:nvSpPr>
        <p:spPr>
          <a:xfrm>
            <a:off x="2980944" y="4160520"/>
            <a:ext cx="5760720" cy="347472"/>
          </a:xfrm>
          <a:prstGeom prst="rect">
            <a:avLst/>
          </a:prstGeom>
          <a:noFill/>
          <a:ln/>
        </p:spPr>
        <p:txBody>
          <a:bodyPr wrap="square" lIns="0" tIns="0" rIns="0" bIns="0" rtlCol="0" anchor="ctr"/>
          <a:lstStyle/>
          <a:p>
            <a:pPr indent="0" marL="0">
              <a:buNone/>
            </a:pPr>
            <a:r>
              <a:rPr lang="en-US" sz="1050" dirty="0">
                <a:solidFill>
                  <a:srgbClr val="EFF3FA"/>
                </a:solidFill>
                <a:latin typeface="Calibri" pitchFamily="34" charset="0"/>
                <a:ea typeface="Calibri" pitchFamily="34" charset="-122"/>
                <a:cs typeface="Calibri" pitchFamily="34" charset="-120"/>
              </a:rPr>
              <a:t>Start with DevOps/SDLC: lowest COTS entanglement, highest engineering tolerance, measurable outcomes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00C9A7"/>
          </a:solidFill>
          <a:ln w="12700">
            <a:solidFill>
              <a:srgbClr val="00C9A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00C9A7"/>
                </a:solidFill>
                <a:latin typeface="Calibri" pitchFamily="34" charset="0"/>
                <a:ea typeface="Calibri" pitchFamily="34" charset="-122"/>
                <a:cs typeface="Calibri" pitchFamily="34" charset="-120"/>
              </a:rPr>
              <a:t>THE OAAD FABRIC</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What the Agentic Layer Actually Does</a:t>
            </a:r>
            <a:endParaRPr lang="en-US" sz="3000" dirty="0"/>
          </a:p>
        </p:txBody>
      </p:sp>
      <p:sp>
        <p:nvSpPr>
          <p:cNvPr id="6" name="Text 4"/>
          <p:cNvSpPr/>
          <p:nvPr/>
        </p:nvSpPr>
        <p:spPr>
          <a:xfrm>
            <a:off x="365760" y="1234440"/>
            <a:ext cx="8412480" cy="384048"/>
          </a:xfrm>
          <a:prstGeom prst="rect">
            <a:avLst/>
          </a:prstGeom>
          <a:noFill/>
          <a:ln/>
        </p:spPr>
        <p:txBody>
          <a:bodyPr wrap="square" lIns="0" tIns="0" rIns="0" bIns="0" rtlCol="0" anchor="ctr"/>
          <a:lstStyle/>
          <a:p>
            <a:pPr indent="0" marL="0">
              <a:buNone/>
            </a:pPr>
            <a:r>
              <a:rPr lang="en-US" sz="1250" i="1" dirty="0">
                <a:solidFill>
                  <a:srgbClr val="7D8FA9"/>
                </a:solidFill>
                <a:latin typeface="Calibri" pitchFamily="34" charset="0"/>
                <a:ea typeface="Calibri" pitchFamily="34" charset="-122"/>
                <a:cs typeface="Calibri" pitchFamily="34" charset="-120"/>
              </a:rPr>
              <a:t>OAAD agents don't replace OSS systems or the deterministic integration layer. They make the stack enterprise-coherent: adaptive, self-monitoring, and institutionally intelligent.</a:t>
            </a:r>
            <a:endParaRPr lang="en-US" sz="1250" dirty="0"/>
          </a:p>
        </p:txBody>
      </p:sp>
      <p:sp>
        <p:nvSpPr>
          <p:cNvPr id="7" name="Shape 5"/>
          <p:cNvSpPr/>
          <p:nvPr/>
        </p:nvSpPr>
        <p:spPr>
          <a:xfrm>
            <a:off x="256032" y="1737360"/>
            <a:ext cx="4206240" cy="1335024"/>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56032" y="1737360"/>
            <a:ext cx="4206240" cy="45720"/>
          </a:xfrm>
          <a:prstGeom prst="rect">
            <a:avLst/>
          </a:prstGeom>
          <a:solidFill>
            <a:srgbClr val="00C9A7"/>
          </a:solidFill>
          <a:ln w="12700">
            <a:solidFill>
              <a:srgbClr val="00C9A7"/>
            </a:solidFill>
            <a:prstDash val="solid"/>
          </a:ln>
        </p:spPr>
      </p:sp>
      <p:sp>
        <p:nvSpPr>
          <p:cNvPr id="9" name="Text 7"/>
          <p:cNvSpPr/>
          <p:nvPr/>
        </p:nvSpPr>
        <p:spPr>
          <a:xfrm>
            <a:off x="438912" y="1847088"/>
            <a:ext cx="3840480" cy="27432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Adaptive Orchestration</a:t>
            </a:r>
            <a:endParaRPr lang="en-US" sz="1300" dirty="0"/>
          </a:p>
        </p:txBody>
      </p:sp>
      <p:sp>
        <p:nvSpPr>
          <p:cNvPr id="10" name="Text 8"/>
          <p:cNvSpPr/>
          <p:nvPr/>
        </p:nvSpPr>
        <p:spPr>
          <a:xfrm>
            <a:off x="438912" y="2176272"/>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Agents coordinate workflows across OSS systems above deterministic integration primitives. iTop raises an incident; an agent correlates SuiteCRM context, GitLab history, and CMDB state, then routes via Mattermost, without custom middleware, but with deterministic API contracts underneath.</a:t>
            </a:r>
            <a:endParaRPr lang="en-US" sz="1000" dirty="0"/>
          </a:p>
        </p:txBody>
      </p:sp>
      <p:sp>
        <p:nvSpPr>
          <p:cNvPr id="11" name="Shape 9"/>
          <p:cNvSpPr/>
          <p:nvPr/>
        </p:nvSpPr>
        <p:spPr>
          <a:xfrm>
            <a:off x="4645152" y="1737360"/>
            <a:ext cx="4206240" cy="1335024"/>
          </a:xfrm>
          <a:prstGeom prst="rect">
            <a:avLst/>
          </a:prstGeom>
          <a:solidFill>
            <a:srgbClr val="161D28"/>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12" name="Shape 10"/>
          <p:cNvSpPr/>
          <p:nvPr/>
        </p:nvSpPr>
        <p:spPr>
          <a:xfrm>
            <a:off x="4645152" y="1737360"/>
            <a:ext cx="4206240" cy="45720"/>
          </a:xfrm>
          <a:prstGeom prst="rect">
            <a:avLst/>
          </a:prstGeom>
          <a:solidFill>
            <a:srgbClr val="4D9EFF"/>
          </a:solidFill>
          <a:ln w="12700">
            <a:solidFill>
              <a:srgbClr val="4D9EFF"/>
            </a:solidFill>
            <a:prstDash val="solid"/>
          </a:ln>
        </p:spPr>
      </p:sp>
      <p:sp>
        <p:nvSpPr>
          <p:cNvPr id="13" name="Text 11"/>
          <p:cNvSpPr/>
          <p:nvPr/>
        </p:nvSpPr>
        <p:spPr>
          <a:xfrm>
            <a:off x="4828032" y="1847088"/>
            <a:ext cx="3840480" cy="274320"/>
          </a:xfrm>
          <a:prstGeom prst="rect">
            <a:avLst/>
          </a:prstGeom>
          <a:noFill/>
          <a:ln/>
        </p:spPr>
        <p:txBody>
          <a:bodyPr wrap="square" lIns="0" tIns="0" rIns="0" bIns="0" rtlCol="0" anchor="ctr"/>
          <a:lstStyle/>
          <a:p>
            <a:pPr indent="0" marL="0">
              <a:buNone/>
            </a:pPr>
            <a:r>
              <a:rPr lang="en-US" sz="1300" b="1" dirty="0">
                <a:solidFill>
                  <a:srgbClr val="4D9EFF"/>
                </a:solidFill>
                <a:latin typeface="Calibri" pitchFamily="34" charset="0"/>
                <a:ea typeface="Calibri" pitchFamily="34" charset="-122"/>
                <a:cs typeface="Calibri" pitchFamily="34" charset="-120"/>
              </a:rPr>
              <a:t>Operational Intelligence</a:t>
            </a:r>
            <a:endParaRPr lang="en-US" sz="1300" dirty="0"/>
          </a:p>
        </p:txBody>
      </p:sp>
      <p:sp>
        <p:nvSpPr>
          <p:cNvPr id="14" name="Text 12"/>
          <p:cNvSpPr/>
          <p:nvPr/>
        </p:nvSpPr>
        <p:spPr>
          <a:xfrm>
            <a:off x="4828032" y="2176272"/>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Agents handle routine operations the PS army used to perform: monitoring, self-healing, configuration drift detection, capacity alerts, release coordination. The OAAD platform runs itself at steady state, within the boundaries set by Tier 0 runbooks.</a:t>
            </a:r>
            <a:endParaRPr lang="en-US" sz="1000" dirty="0"/>
          </a:p>
        </p:txBody>
      </p:sp>
      <p:sp>
        <p:nvSpPr>
          <p:cNvPr id="15" name="Shape 13"/>
          <p:cNvSpPr/>
          <p:nvPr/>
        </p:nvSpPr>
        <p:spPr>
          <a:xfrm>
            <a:off x="256032" y="3236976"/>
            <a:ext cx="4206240" cy="1335024"/>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16" name="Shape 14"/>
          <p:cNvSpPr/>
          <p:nvPr/>
        </p:nvSpPr>
        <p:spPr>
          <a:xfrm>
            <a:off x="256032" y="3236976"/>
            <a:ext cx="4206240" cy="45720"/>
          </a:xfrm>
          <a:prstGeom prst="rect">
            <a:avLst/>
          </a:prstGeom>
          <a:solidFill>
            <a:srgbClr val="E3B341"/>
          </a:solidFill>
          <a:ln w="12700">
            <a:solidFill>
              <a:srgbClr val="E3B341"/>
            </a:solidFill>
            <a:prstDash val="solid"/>
          </a:ln>
        </p:spPr>
      </p:sp>
      <p:sp>
        <p:nvSpPr>
          <p:cNvPr id="17" name="Text 15"/>
          <p:cNvSpPr/>
          <p:nvPr/>
        </p:nvSpPr>
        <p:spPr>
          <a:xfrm>
            <a:off x="438912" y="3346704"/>
            <a:ext cx="3840480" cy="274320"/>
          </a:xfrm>
          <a:prstGeom prst="rect">
            <a:avLst/>
          </a:prstGeom>
          <a:noFill/>
          <a:ln/>
        </p:spPr>
        <p:txBody>
          <a:bodyPr wrap="square" lIns="0" tIns="0" rIns="0" bIns="0" rtlCol="0" anchor="ctr"/>
          <a:lstStyle/>
          <a:p>
            <a:pPr indent="0" marL="0">
              <a:buNone/>
            </a:pPr>
            <a:r>
              <a:rPr lang="en-US" sz="1300" b="1" dirty="0">
                <a:solidFill>
                  <a:srgbClr val="E3B341"/>
                </a:solidFill>
                <a:latin typeface="Calibri" pitchFamily="34" charset="0"/>
                <a:ea typeface="Calibri" pitchFamily="34" charset="-122"/>
                <a:cs typeface="Calibri" pitchFamily="34" charset="-120"/>
              </a:rPr>
              <a:t>Institutional Knowledge Engine</a:t>
            </a:r>
            <a:endParaRPr lang="en-US" sz="1300" dirty="0"/>
          </a:p>
        </p:txBody>
      </p:sp>
      <p:sp>
        <p:nvSpPr>
          <p:cNvPr id="18" name="Text 16"/>
          <p:cNvSpPr/>
          <p:nvPr/>
        </p:nvSpPr>
        <p:spPr>
          <a:xfrm>
            <a:off x="438912" y="3675888"/>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Every agent workflow encodes how your enterprise actually operates, not a vendor template. Process variants, edge cases, escalation paths, org-specific policies. That knowledge is versioned, owned, and compounds over time. COTS platforms encode knowledge for their next customer. OAAD encodes it for you.</a:t>
            </a:r>
            <a:endParaRPr lang="en-US" sz="1000" dirty="0"/>
          </a:p>
        </p:txBody>
      </p:sp>
      <p:sp>
        <p:nvSpPr>
          <p:cNvPr id="19" name="Shape 17"/>
          <p:cNvSpPr/>
          <p:nvPr/>
        </p:nvSpPr>
        <p:spPr>
          <a:xfrm>
            <a:off x="4645152" y="3236976"/>
            <a:ext cx="4206240" cy="1335024"/>
          </a:xfrm>
          <a:prstGeom prst="rect">
            <a:avLst/>
          </a:prstGeom>
          <a:solidFill>
            <a:srgbClr val="161D28"/>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20" name="Shape 18"/>
          <p:cNvSpPr/>
          <p:nvPr/>
        </p:nvSpPr>
        <p:spPr>
          <a:xfrm>
            <a:off x="4645152" y="3236976"/>
            <a:ext cx="4206240" cy="45720"/>
          </a:xfrm>
          <a:prstGeom prst="rect">
            <a:avLst/>
          </a:prstGeom>
          <a:solidFill>
            <a:srgbClr val="A371F7"/>
          </a:solidFill>
          <a:ln w="12700">
            <a:solidFill>
              <a:srgbClr val="A371F7"/>
            </a:solidFill>
            <a:prstDash val="solid"/>
          </a:ln>
        </p:spPr>
      </p:sp>
      <p:sp>
        <p:nvSpPr>
          <p:cNvPr id="21" name="Text 19"/>
          <p:cNvSpPr/>
          <p:nvPr/>
        </p:nvSpPr>
        <p:spPr>
          <a:xfrm>
            <a:off x="4828032" y="3346704"/>
            <a:ext cx="3840480" cy="274320"/>
          </a:xfrm>
          <a:prstGeom prst="rect">
            <a:avLst/>
          </a:prstGeom>
          <a:noFill/>
          <a:ln/>
        </p:spPr>
        <p:txBody>
          <a:bodyPr wrap="square" lIns="0" tIns="0" rIns="0" bIns="0" rtlCol="0" anchor="ctr"/>
          <a:lstStyle/>
          <a:p>
            <a:pPr indent="0" marL="0">
              <a:buNone/>
            </a:pPr>
            <a:r>
              <a:rPr lang="en-US" sz="1300" b="1" dirty="0">
                <a:solidFill>
                  <a:srgbClr val="A371F7"/>
                </a:solidFill>
                <a:latin typeface="Calibri" pitchFamily="34" charset="0"/>
                <a:ea typeface="Calibri" pitchFamily="34" charset="-122"/>
                <a:cs typeface="Calibri" pitchFamily="34" charset="-120"/>
              </a:rPr>
              <a:t>Continuous Improvement Loop</a:t>
            </a:r>
            <a:endParaRPr lang="en-US" sz="1300" dirty="0"/>
          </a:p>
        </p:txBody>
      </p:sp>
      <p:sp>
        <p:nvSpPr>
          <p:cNvPr id="22" name="Text 20"/>
          <p:cNvSpPr/>
          <p:nvPr/>
        </p:nvSpPr>
        <p:spPr>
          <a:xfrm>
            <a:off x="4828032" y="3675888"/>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OAAD agents observe their own performance against evaluation criteria, flag failure modes, and surface improvement candidates for human review through the promotion gate process. The platform improves with use. Improvement stays inside the enterprise boundary.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A371F7"/>
          </a:solidFill>
          <a:ln w="12700">
            <a:solidFill>
              <a:srgbClr val="A371F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A371F7"/>
                </a:solidFill>
                <a:latin typeface="Calibri" pitchFamily="34" charset="0"/>
                <a:ea typeface="Calibri" pitchFamily="34" charset="-122"/>
                <a:cs typeface="Calibri" pitchFamily="34" charset="-120"/>
              </a:rPr>
              <a:t>OAAD GOVERNANCE</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DevSecOps is the Operative Word</a:t>
            </a:r>
            <a:endParaRPr lang="en-US" sz="3000" dirty="0"/>
          </a:p>
        </p:txBody>
      </p:sp>
      <p:sp>
        <p:nvSpPr>
          <p:cNvPr id="6" name="Text 4"/>
          <p:cNvSpPr/>
          <p:nvPr/>
        </p:nvSpPr>
        <p:spPr>
          <a:xfrm>
            <a:off x="365760" y="1234440"/>
            <a:ext cx="8412480" cy="310896"/>
          </a:xfrm>
          <a:prstGeom prst="rect">
            <a:avLst/>
          </a:prstGeom>
          <a:noFill/>
          <a:ln/>
        </p:spPr>
        <p:txBody>
          <a:bodyPr wrap="square" lIns="0" tIns="0" rIns="0" bIns="0" rtlCol="0" anchor="ctr"/>
          <a:lstStyle/>
          <a:p>
            <a:pPr indent="0" marL="0">
              <a:buNone/>
            </a:pPr>
            <a:r>
              <a:rPr lang="en-US" sz="1300" i="1" dirty="0">
                <a:solidFill>
                  <a:srgbClr val="7D8FA9"/>
                </a:solidFill>
                <a:latin typeface="Calibri" pitchFamily="34" charset="0"/>
                <a:ea typeface="Calibri" pitchFamily="34" charset="-122"/>
                <a:cs typeface="Calibri" pitchFamily="34" charset="-120"/>
              </a:rPr>
              <a:t>Without governance architecture, "self-managed" becomes technical debt with ambition.</a:t>
            </a:r>
            <a:endParaRPr lang="en-US" sz="1300" dirty="0"/>
          </a:p>
        </p:txBody>
      </p:sp>
      <p:sp>
        <p:nvSpPr>
          <p:cNvPr id="7" name="Shape 5"/>
          <p:cNvSpPr/>
          <p:nvPr/>
        </p:nvSpPr>
        <p:spPr>
          <a:xfrm>
            <a:off x="228600" y="1700784"/>
            <a:ext cx="2834640" cy="3127248"/>
          </a:xfrm>
          <a:prstGeom prst="rect">
            <a:avLst/>
          </a:prstGeom>
          <a:solidFill>
            <a:srgbClr val="161D28"/>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28600" y="1700784"/>
            <a:ext cx="2834640" cy="45720"/>
          </a:xfrm>
          <a:prstGeom prst="rect">
            <a:avLst/>
          </a:prstGeom>
          <a:solidFill>
            <a:srgbClr val="A371F7"/>
          </a:solidFill>
          <a:ln w="12700">
            <a:solidFill>
              <a:srgbClr val="A371F7"/>
            </a:solidFill>
            <a:prstDash val="solid"/>
          </a:ln>
        </p:spPr>
      </p:sp>
      <p:sp>
        <p:nvSpPr>
          <p:cNvPr id="9" name="Text 7"/>
          <p:cNvSpPr/>
          <p:nvPr/>
        </p:nvSpPr>
        <p:spPr>
          <a:xfrm>
            <a:off x="393192" y="1828800"/>
            <a:ext cx="2514600" cy="347472"/>
          </a:xfrm>
          <a:prstGeom prst="rect">
            <a:avLst/>
          </a:prstGeom>
          <a:noFill/>
          <a:ln/>
        </p:spPr>
        <p:txBody>
          <a:bodyPr wrap="square" lIns="0" tIns="0" rIns="0" bIns="0" rtlCol="0" anchor="ctr"/>
          <a:lstStyle/>
          <a:p>
            <a:pPr indent="0" marL="0">
              <a:buNone/>
            </a:pPr>
            <a:r>
              <a:rPr lang="en-US" sz="1200" b="1" dirty="0">
                <a:solidFill>
                  <a:srgbClr val="A371F7"/>
                </a:solidFill>
                <a:latin typeface="Calibri" pitchFamily="34" charset="0"/>
                <a:ea typeface="Calibri" pitchFamily="34" charset="-122"/>
                <a:cs typeface="Calibri" pitchFamily="34" charset="-120"/>
              </a:rPr>
              <a:t>Agent Identity &amp; Authority</a:t>
            </a:r>
            <a:endParaRPr lang="en-US" sz="1200" dirty="0"/>
          </a:p>
        </p:txBody>
      </p:sp>
      <p:sp>
        <p:nvSpPr>
          <p:cNvPr id="10" name="Text 8"/>
          <p:cNvSpPr/>
          <p:nvPr/>
        </p:nvSpPr>
        <p:spPr>
          <a:xfrm>
            <a:off x="393192" y="2249424"/>
            <a:ext cx="2514600" cy="2487168"/>
          </a:xfrm>
          <a:prstGeom prst="rect">
            <a:avLst/>
          </a:prstGeom>
          <a:noFill/>
          <a:ln/>
        </p:spPr>
        <p:txBody>
          <a:bodyPr wrap="square" rtlCol="0" anchor="ctr"/>
          <a:lstStyle/>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Every agent: defined identity, persona, version, and scope</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Delegated authority separated from human identity</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Integrated with enterprise IAM, PAM, and OPA</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Agent actions carry immutable audit attribution</a:t>
            </a:r>
            <a:endParaRPr lang="en-US" sz="1100" dirty="0"/>
          </a:p>
        </p:txBody>
      </p:sp>
      <p:sp>
        <p:nvSpPr>
          <p:cNvPr id="11" name="Shape 9"/>
          <p:cNvSpPr/>
          <p:nvPr/>
        </p:nvSpPr>
        <p:spPr>
          <a:xfrm>
            <a:off x="3200400" y="1700784"/>
            <a:ext cx="2834640" cy="3127248"/>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12" name="Shape 10"/>
          <p:cNvSpPr/>
          <p:nvPr/>
        </p:nvSpPr>
        <p:spPr>
          <a:xfrm>
            <a:off x="3200400" y="1700784"/>
            <a:ext cx="2834640" cy="45720"/>
          </a:xfrm>
          <a:prstGeom prst="rect">
            <a:avLst/>
          </a:prstGeom>
          <a:solidFill>
            <a:srgbClr val="00C9A7"/>
          </a:solidFill>
          <a:ln w="12700">
            <a:solidFill>
              <a:srgbClr val="00C9A7"/>
            </a:solidFill>
            <a:prstDash val="solid"/>
          </a:ln>
        </p:spPr>
      </p:sp>
      <p:sp>
        <p:nvSpPr>
          <p:cNvPr id="13" name="Text 11"/>
          <p:cNvSpPr/>
          <p:nvPr/>
        </p:nvSpPr>
        <p:spPr>
          <a:xfrm>
            <a:off x="3364992" y="1828800"/>
            <a:ext cx="2514600" cy="347472"/>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Lifecycle &amp; Version Control</a:t>
            </a:r>
            <a:endParaRPr lang="en-US" sz="1200" dirty="0"/>
          </a:p>
        </p:txBody>
      </p:sp>
      <p:sp>
        <p:nvSpPr>
          <p:cNvPr id="14" name="Text 12"/>
          <p:cNvSpPr/>
          <p:nvPr/>
        </p:nvSpPr>
        <p:spPr>
          <a:xfrm>
            <a:off x="3364992" y="2249424"/>
            <a:ext cx="2514600" cy="2487168"/>
          </a:xfrm>
          <a:prstGeom prst="rect">
            <a:avLst/>
          </a:prstGeom>
          <a:noFill/>
          <a:ln/>
        </p:spPr>
        <p:txBody>
          <a:bodyPr wrap="square" rtlCol="0" anchor="ctr"/>
          <a:lstStyle/>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Prompt versioning with semantic diff tracking</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CI/CD promotion gates before production deployment</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Evaluation frameworks run before every release</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Deprecation and retirement policies enforced</a:t>
            </a:r>
            <a:endParaRPr lang="en-US" sz="1100" dirty="0"/>
          </a:p>
        </p:txBody>
      </p:sp>
      <p:sp>
        <p:nvSpPr>
          <p:cNvPr id="15" name="Shape 13"/>
          <p:cNvSpPr/>
          <p:nvPr/>
        </p:nvSpPr>
        <p:spPr>
          <a:xfrm>
            <a:off x="6172200" y="1700784"/>
            <a:ext cx="2834640" cy="3127248"/>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16" name="Shape 14"/>
          <p:cNvSpPr/>
          <p:nvPr/>
        </p:nvSpPr>
        <p:spPr>
          <a:xfrm>
            <a:off x="6172200" y="1700784"/>
            <a:ext cx="2834640" cy="45720"/>
          </a:xfrm>
          <a:prstGeom prst="rect">
            <a:avLst/>
          </a:prstGeom>
          <a:solidFill>
            <a:srgbClr val="E3B341"/>
          </a:solidFill>
          <a:ln w="12700">
            <a:solidFill>
              <a:srgbClr val="E3B341"/>
            </a:solidFill>
            <a:prstDash val="solid"/>
          </a:ln>
        </p:spPr>
      </p:sp>
      <p:sp>
        <p:nvSpPr>
          <p:cNvPr id="17" name="Text 15"/>
          <p:cNvSpPr/>
          <p:nvPr/>
        </p:nvSpPr>
        <p:spPr>
          <a:xfrm>
            <a:off x="6336792" y="1828800"/>
            <a:ext cx="2514600" cy="347472"/>
          </a:xfrm>
          <a:prstGeom prst="rect">
            <a:avLst/>
          </a:prstGeom>
          <a:noFill/>
          <a:ln/>
        </p:spPr>
        <p:txBody>
          <a:bodyPr wrap="square" lIns="0" tIns="0" rIns="0" bIns="0" rtlCol="0" anchor="ctr"/>
          <a:lstStyle/>
          <a:p>
            <a:pPr indent="0" marL="0">
              <a:buNone/>
            </a:pPr>
            <a:r>
              <a:rPr lang="en-US" sz="1200" b="1" dirty="0">
                <a:solidFill>
                  <a:srgbClr val="E3B341"/>
                </a:solidFill>
                <a:latin typeface="Calibri" pitchFamily="34" charset="0"/>
                <a:ea typeface="Calibri" pitchFamily="34" charset="-122"/>
                <a:cs typeface="Calibri" pitchFamily="34" charset="-120"/>
              </a:rPr>
              <a:t>Risk &amp; Compliance</a:t>
            </a:r>
            <a:endParaRPr lang="en-US" sz="1200" dirty="0"/>
          </a:p>
        </p:txBody>
      </p:sp>
      <p:sp>
        <p:nvSpPr>
          <p:cNvPr id="18" name="Text 16"/>
          <p:cNvSpPr/>
          <p:nvPr/>
        </p:nvSpPr>
        <p:spPr>
          <a:xfrm>
            <a:off x="6336792" y="2249424"/>
            <a:ext cx="2514600" cy="2487168"/>
          </a:xfrm>
          <a:prstGeom prst="rect">
            <a:avLst/>
          </a:prstGeom>
          <a:noFill/>
          <a:ln/>
        </p:spPr>
        <p:txBody>
          <a:bodyPr wrap="square" rtlCol="0" anchor="ctr"/>
          <a:lstStyle/>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Risk-calibrated human-in-the-loop checkpoints</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SIEM and GRC integration by design, not retrofit</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Adversarial red-team requirements for high-stakes agents</a:t>
            </a:r>
            <a:endParaRPr lang="en-US" sz="1100" dirty="0"/>
          </a:p>
          <a:p>
            <a:pPr marL="342900" indent="-342900">
              <a:spcAft>
                <a:spcPts val="500"/>
              </a:spcAft>
              <a:buSzPct val="100000"/>
              <a:buChar char="•"/>
            </a:pPr>
            <a:r>
              <a:rPr lang="en-US" sz="1100" dirty="0">
                <a:solidFill>
                  <a:srgbClr val="7D8FA9"/>
                </a:solidFill>
                <a:latin typeface="Calibri" pitchFamily="34" charset="0"/>
                <a:ea typeface="Calibri" pitchFamily="34" charset="-122"/>
                <a:cs typeface="Calibri" pitchFamily="34" charset="-120"/>
              </a:rPr>
              <a:t>Regulatory compliance architecture from day one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00C9A7"/>
          </a:solidFill>
          <a:ln w="12700">
            <a:solidFill>
              <a:srgbClr val="00C9A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00C9A7"/>
                </a:solidFill>
                <a:latin typeface="Calibri" pitchFamily="34" charset="0"/>
                <a:ea typeface="Calibri" pitchFamily="34" charset="-122"/>
                <a:cs typeface="Calibri" pitchFamily="34" charset="-120"/>
              </a:rPr>
              <a:t>OAAD ROADMAP</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DevOps First. Then the Enterprise.</a:t>
            </a:r>
            <a:endParaRPr lang="en-US" sz="3000" dirty="0"/>
          </a:p>
        </p:txBody>
      </p:sp>
      <p:sp>
        <p:nvSpPr>
          <p:cNvPr id="6" name="Text 4"/>
          <p:cNvSpPr/>
          <p:nvPr/>
        </p:nvSpPr>
        <p:spPr>
          <a:xfrm>
            <a:off x="365760" y="1234440"/>
            <a:ext cx="8412480" cy="475488"/>
          </a:xfrm>
          <a:prstGeom prst="rect">
            <a:avLst/>
          </a:prstGeom>
          <a:noFill/>
          <a:ln/>
        </p:spPr>
        <p:txBody>
          <a:bodyPr wrap="square" lIns="0" tIns="0" rIns="0" bIns="0" rtlCol="0" anchor="ctr"/>
          <a:lstStyle/>
          <a:p>
            <a:pPr indent="0" marL="0">
              <a:buNone/>
            </a:pPr>
            <a:r>
              <a:rPr lang="en-US" sz="1150" i="1" dirty="0">
                <a:solidFill>
                  <a:srgbClr val="7D8FA9"/>
                </a:solidFill>
                <a:latin typeface="Calibri" pitchFamily="34" charset="0"/>
                <a:ea typeface="Calibri" pitchFamily="34" charset="-122"/>
                <a:cs typeface="Calibri" pitchFamily="34" charset="-120"/>
              </a:rPr>
              <a:t>DevOps/SDLC is the right first domain: lowest COTS entanglement, highest engineering tolerance, measurable outcomes (cycle time, MTTR, deployment frequency), and bounded agent risk before touching customer, finance, or regulated workflows.</a:t>
            </a:r>
            <a:endParaRPr lang="en-US" sz="1150" dirty="0"/>
          </a:p>
        </p:txBody>
      </p:sp>
      <p:sp>
        <p:nvSpPr>
          <p:cNvPr id="7" name="Shape 5"/>
          <p:cNvSpPr/>
          <p:nvPr/>
        </p:nvSpPr>
        <p:spPr>
          <a:xfrm>
            <a:off x="201168" y="1883664"/>
            <a:ext cx="2834640" cy="2980000"/>
          </a:xfrm>
          <a:prstGeom prst="rect">
            <a:avLst/>
          </a:prstGeom>
          <a:solidFill>
            <a:srgbClr val="161D28"/>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365760" y="1975104"/>
            <a:ext cx="457200" cy="457200"/>
          </a:xfrm>
          <a:prstGeom prst="ellipse">
            <a:avLst/>
          </a:prstGeom>
          <a:solidFill>
            <a:srgbClr val="4D9EFF"/>
          </a:solidFill>
          <a:ln w="12700">
            <a:solidFill>
              <a:srgbClr val="4D9EFF"/>
            </a:solidFill>
            <a:prstDash val="solid"/>
          </a:ln>
        </p:spPr>
      </p:sp>
      <p:sp>
        <p:nvSpPr>
          <p:cNvPr id="9" name="Text 7"/>
          <p:cNvSpPr/>
          <p:nvPr/>
        </p:nvSpPr>
        <p:spPr>
          <a:xfrm>
            <a:off x="365760" y="1975104"/>
            <a:ext cx="457200" cy="457200"/>
          </a:xfrm>
          <a:prstGeom prst="rect">
            <a:avLst/>
          </a:prstGeom>
          <a:noFill/>
          <a:ln/>
        </p:spPr>
        <p:txBody>
          <a:bodyPr wrap="square" lIns="0" tIns="0" rIns="0" bIns="0" rtlCol="0" anchor="ctr"/>
          <a:lstStyle/>
          <a:p>
            <a:pPr algn="ctr" indent="0" marL="0">
              <a:buNone/>
            </a:pPr>
            <a:r>
              <a:rPr lang="en-US" sz="1300" b="1" dirty="0">
                <a:solidFill>
                  <a:srgbClr val="0A0E14"/>
                </a:solidFill>
                <a:latin typeface="Trebuchet MS" pitchFamily="34" charset="0"/>
                <a:ea typeface="Trebuchet MS" pitchFamily="34" charset="-122"/>
                <a:cs typeface="Trebuchet MS" pitchFamily="34" charset="-120"/>
              </a:rPr>
              <a:t>01</a:t>
            </a:r>
            <a:endParaRPr lang="en-US" sz="1300" dirty="0"/>
          </a:p>
        </p:txBody>
      </p:sp>
      <p:sp>
        <p:nvSpPr>
          <p:cNvPr id="10" name="Text 8"/>
          <p:cNvSpPr/>
          <p:nvPr/>
        </p:nvSpPr>
        <p:spPr>
          <a:xfrm>
            <a:off x="932688" y="2020824"/>
            <a:ext cx="1993392" cy="237744"/>
          </a:xfrm>
          <a:prstGeom prst="rect">
            <a:avLst/>
          </a:prstGeom>
          <a:noFill/>
          <a:ln/>
        </p:spPr>
        <p:txBody>
          <a:bodyPr wrap="square" lIns="0" tIns="0" rIns="0" bIns="0" rtlCol="0" anchor="ctr"/>
          <a:lstStyle/>
          <a:p>
            <a:pPr indent="0" marL="0">
              <a:buNone/>
            </a:pPr>
            <a:r>
              <a:rPr lang="en-US" sz="1100" b="1" spc="150" kern="0" dirty="0">
                <a:solidFill>
                  <a:srgbClr val="4D9EFF"/>
                </a:solidFill>
                <a:latin typeface="Calibri" pitchFamily="34" charset="0"/>
                <a:ea typeface="Calibri" pitchFamily="34" charset="-122"/>
                <a:cs typeface="Calibri" pitchFamily="34" charset="-120"/>
              </a:rPr>
              <a:t>FOUNDATION</a:t>
            </a:r>
            <a:endParaRPr lang="en-US" sz="1100" dirty="0"/>
          </a:p>
        </p:txBody>
      </p:sp>
      <p:sp>
        <p:nvSpPr>
          <p:cNvPr id="11" name="Text 9"/>
          <p:cNvSpPr/>
          <p:nvPr/>
        </p:nvSpPr>
        <p:spPr>
          <a:xfrm>
            <a:off x="932688" y="2258568"/>
            <a:ext cx="1993392" cy="182880"/>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0–6 Months</a:t>
            </a:r>
            <a:endParaRPr lang="en-US" sz="950" dirty="0"/>
          </a:p>
        </p:txBody>
      </p:sp>
      <p:sp>
        <p:nvSpPr>
          <p:cNvPr id="13" name="Text 11"/>
          <p:cNvSpPr/>
          <p:nvPr/>
        </p:nvSpPr>
        <p:spPr>
          <a:xfrm>
            <a:off x="365760" y="2569464"/>
            <a:ext cx="2487168" cy="219456"/>
          </a:xfrm>
          <a:prstGeom prst="rect">
            <a:avLst/>
          </a:prstGeom>
          <a:noFill/>
          <a:ln/>
        </p:spPr>
        <p:txBody>
          <a:bodyPr wrap="square" lIns="0" tIns="0" rIns="0" bIns="0" rtlCol="0" anchor="ctr"/>
          <a:lstStyle/>
          <a:p>
            <a:pPr indent="0" marL="0">
              <a:buNone/>
            </a:pPr>
            <a:r>
              <a:rPr lang="en-US" sz="800" i="1" dirty="0">
                <a:solidFill>
                  <a:srgbClr val="4D9EFF"/>
                </a:solidFill>
                <a:latin typeface="Calibri" pitchFamily="34" charset="0"/>
                <a:ea typeface="Calibri" pitchFamily="34" charset="-122"/>
                <a:cs typeface="Calibri" pitchFamily="34" charset="-120"/>
              </a:rPr>
              <a:t>Platform team · Governance · DevOps pilot</a:t>
            </a:r>
            <a:endParaRPr lang="en-US" sz="800" dirty="0"/>
          </a:p>
        </p:txBody>
      </p:sp>
      <p:sp>
        <p:nvSpPr>
          <p:cNvPr id="14" name="Text 12"/>
          <p:cNvSpPr/>
          <p:nvPr/>
        </p:nvSpPr>
        <p:spPr>
          <a:xfrm>
            <a:off x="365760" y="2730000"/>
            <a:ext cx="2487168" cy="212000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Mandate OAAD platform team with exec mandate and budget</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Deploy GitLab + Mattermost + Wazuh as DevOps substrate</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Build first OAAD agent crew: CI/CD, release intelligence</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Establish agent authority model and governance baseline</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Define Tier 0-3 operating model, SLAs, and success metrics</a:t>
            </a:r>
            <a:endParaRPr lang="en-US" sz="1000" dirty="0"/>
          </a:p>
          <a:p>
            <a:pPr marL="342900" indent="-342900">
              <a:spcAft>
                <a:spcPts val="500"/>
              </a:spcAft>
              <a:buSzPct val="100000"/>
              <a:buChar char="▸"/>
            </a:pPr>
            <a:r>
              <a:rPr lang="en-US" sz="1000" b="1" dirty="0">
                <a:solidFill>
                  <a:srgbClr val="4D9EFF"/>
                </a:solidFill>
                <a:latin typeface="Calibri" pitchFamily="34" charset="0"/>
                <a:ea typeface="Calibri" pitchFamily="34" charset="-122"/>
                <a:cs typeface="Calibri" pitchFamily="34" charset="-120"/>
              </a:rPr>
              <a:t>GATE: DevOps pilot live; cycle time, MTTR baselined</a:t>
            </a:r>
            <a:endParaRPr lang="en-US" sz="1000" dirty="0"/>
          </a:p>
        </p:txBody>
      </p:sp>
      <p:sp>
        <p:nvSpPr>
          <p:cNvPr id="15" name="Shape 13"/>
          <p:cNvSpPr/>
          <p:nvPr/>
        </p:nvSpPr>
        <p:spPr>
          <a:xfrm>
            <a:off x="3191256" y="1883664"/>
            <a:ext cx="2834640" cy="2980000"/>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16" name="Shape 14"/>
          <p:cNvSpPr/>
          <p:nvPr/>
        </p:nvSpPr>
        <p:spPr>
          <a:xfrm>
            <a:off x="3355848" y="1975104"/>
            <a:ext cx="457200" cy="457200"/>
          </a:xfrm>
          <a:prstGeom prst="ellipse">
            <a:avLst/>
          </a:prstGeom>
          <a:solidFill>
            <a:srgbClr val="00C9A7"/>
          </a:solidFill>
          <a:ln w="12700">
            <a:solidFill>
              <a:srgbClr val="00C9A7"/>
            </a:solidFill>
            <a:prstDash val="solid"/>
          </a:ln>
        </p:spPr>
      </p:sp>
      <p:sp>
        <p:nvSpPr>
          <p:cNvPr id="17" name="Text 15"/>
          <p:cNvSpPr/>
          <p:nvPr/>
        </p:nvSpPr>
        <p:spPr>
          <a:xfrm>
            <a:off x="3355848" y="1975104"/>
            <a:ext cx="457200" cy="457200"/>
          </a:xfrm>
          <a:prstGeom prst="rect">
            <a:avLst/>
          </a:prstGeom>
          <a:noFill/>
          <a:ln/>
        </p:spPr>
        <p:txBody>
          <a:bodyPr wrap="square" lIns="0" tIns="0" rIns="0" bIns="0" rtlCol="0" anchor="ctr"/>
          <a:lstStyle/>
          <a:p>
            <a:pPr algn="ctr" indent="0" marL="0">
              <a:buNone/>
            </a:pPr>
            <a:r>
              <a:rPr lang="en-US" sz="1300" b="1" dirty="0">
                <a:solidFill>
                  <a:srgbClr val="0A0E14"/>
                </a:solidFill>
                <a:latin typeface="Trebuchet MS" pitchFamily="34" charset="0"/>
                <a:ea typeface="Trebuchet MS" pitchFamily="34" charset="-122"/>
                <a:cs typeface="Trebuchet MS" pitchFamily="34" charset="-120"/>
              </a:rPr>
              <a:t>02</a:t>
            </a:r>
            <a:endParaRPr lang="en-US" sz="1300" dirty="0"/>
          </a:p>
        </p:txBody>
      </p:sp>
      <p:sp>
        <p:nvSpPr>
          <p:cNvPr id="18" name="Text 16"/>
          <p:cNvSpPr/>
          <p:nvPr/>
        </p:nvSpPr>
        <p:spPr>
          <a:xfrm>
            <a:off x="3922776" y="2020824"/>
            <a:ext cx="1993392" cy="237744"/>
          </a:xfrm>
          <a:prstGeom prst="rect">
            <a:avLst/>
          </a:prstGeom>
          <a:noFill/>
          <a:ln/>
        </p:spPr>
        <p:txBody>
          <a:bodyPr wrap="square" lIns="0" tIns="0" rIns="0" bIns="0" rtlCol="0" anchor="ctr"/>
          <a:lstStyle/>
          <a:p>
            <a:pPr indent="0" marL="0">
              <a:buNone/>
            </a:pPr>
            <a:r>
              <a:rPr lang="en-US" sz="1100" b="1" spc="150" kern="0" dirty="0">
                <a:solidFill>
                  <a:srgbClr val="00C9A7"/>
                </a:solidFill>
                <a:latin typeface="Calibri" pitchFamily="34" charset="0"/>
                <a:ea typeface="Calibri" pitchFamily="34" charset="-122"/>
                <a:cs typeface="Calibri" pitchFamily="34" charset="-120"/>
              </a:rPr>
              <a:t>EXPANSION</a:t>
            </a:r>
            <a:endParaRPr lang="en-US" sz="1100" dirty="0"/>
          </a:p>
        </p:txBody>
      </p:sp>
      <p:sp>
        <p:nvSpPr>
          <p:cNvPr id="19" name="Text 17"/>
          <p:cNvSpPr/>
          <p:nvPr/>
        </p:nvSpPr>
        <p:spPr>
          <a:xfrm>
            <a:off x="3922776" y="2258568"/>
            <a:ext cx="1993392" cy="182880"/>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6–18 Months</a:t>
            </a:r>
            <a:endParaRPr lang="en-US" sz="950" dirty="0"/>
          </a:p>
        </p:txBody>
      </p:sp>
      <p:sp>
        <p:nvSpPr>
          <p:cNvPr id="21" name="Text 19"/>
          <p:cNvSpPr/>
          <p:nvPr/>
        </p:nvSpPr>
        <p:spPr>
          <a:xfrm>
            <a:off x="3355848" y="2569464"/>
            <a:ext cx="2487168" cy="219456"/>
          </a:xfrm>
          <a:prstGeom prst="rect">
            <a:avLst/>
          </a:prstGeom>
          <a:noFill/>
          <a:ln/>
        </p:spPr>
        <p:txBody>
          <a:bodyPr wrap="square" lIns="0" tIns="0" rIns="0" bIns="0" rtlCol="0" anchor="ctr"/>
          <a:lstStyle/>
          <a:p>
            <a:pPr indent="0" marL="0">
              <a:buNone/>
            </a:pPr>
            <a:r>
              <a:rPr lang="en-US" sz="800" i="1" dirty="0">
                <a:solidFill>
                  <a:srgbClr val="00C9A7"/>
                </a:solidFill>
                <a:latin typeface="Calibri" pitchFamily="34" charset="0"/>
                <a:ea typeface="Calibri" pitchFamily="34" charset="-122"/>
                <a:cs typeface="Calibri" pitchFamily="34" charset="-120"/>
              </a:rPr>
              <a:t>Multi-domain OSS stack · COTS rationalization begins</a:t>
            </a:r>
            <a:endParaRPr lang="en-US" sz="800" dirty="0"/>
          </a:p>
        </p:txBody>
      </p:sp>
      <p:sp>
        <p:nvSpPr>
          <p:cNvPr id="22" name="Text 20"/>
          <p:cNvSpPr/>
          <p:nvPr/>
        </p:nvSpPr>
        <p:spPr>
          <a:xfrm>
            <a:off x="3355848" y="2730000"/>
            <a:ext cx="2487168" cy="212000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Expand OAAD to ITSM, Collab, and Data domains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Begin COTS contract rationalization: first terminations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Build cross-domain agent orchestration patterns</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Integrate with IAM, SIEM, GRC, and data catalog</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OSS lifecycle governance operational across all domains</a:t>
            </a:r>
            <a:endParaRPr lang="en-US" sz="1000" dirty="0"/>
          </a:p>
          <a:p>
            <a:pPr marL="342900" indent="-342900">
              <a:spcAft>
                <a:spcPts val="500"/>
              </a:spcAft>
              <a:buSzPct val="100000"/>
              <a:buChar char="▸"/>
            </a:pPr>
            <a:r>
              <a:rPr lang="en-US" sz="1000" b="1" dirty="0">
                <a:solidFill>
                  <a:srgbClr val="00C9A7"/>
                </a:solidFill>
                <a:latin typeface="Calibri" pitchFamily="34" charset="0"/>
                <a:ea typeface="Calibri" pitchFamily="34" charset="-122"/>
                <a:cs typeface="Calibri" pitchFamily="34" charset="-120"/>
              </a:rPr>
              <a:t>GATE: 3+ domains live; first COTS contracts terminated</a:t>
            </a:r>
            <a:endParaRPr lang="en-US" sz="1000" dirty="0"/>
          </a:p>
        </p:txBody>
      </p:sp>
      <p:sp>
        <p:nvSpPr>
          <p:cNvPr id="23" name="Shape 21"/>
          <p:cNvSpPr/>
          <p:nvPr/>
        </p:nvSpPr>
        <p:spPr>
          <a:xfrm>
            <a:off x="6181344" y="1883664"/>
            <a:ext cx="2834640" cy="2980000"/>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24" name="Shape 22"/>
          <p:cNvSpPr/>
          <p:nvPr/>
        </p:nvSpPr>
        <p:spPr>
          <a:xfrm>
            <a:off x="6345936" y="1975104"/>
            <a:ext cx="457200" cy="457200"/>
          </a:xfrm>
          <a:prstGeom prst="ellipse">
            <a:avLst/>
          </a:prstGeom>
          <a:solidFill>
            <a:srgbClr val="E3B341"/>
          </a:solidFill>
          <a:ln w="12700">
            <a:solidFill>
              <a:srgbClr val="E3B341"/>
            </a:solidFill>
            <a:prstDash val="solid"/>
          </a:ln>
        </p:spPr>
      </p:sp>
      <p:sp>
        <p:nvSpPr>
          <p:cNvPr id="25" name="Text 23"/>
          <p:cNvSpPr/>
          <p:nvPr/>
        </p:nvSpPr>
        <p:spPr>
          <a:xfrm>
            <a:off x="6345936" y="1975104"/>
            <a:ext cx="457200" cy="457200"/>
          </a:xfrm>
          <a:prstGeom prst="rect">
            <a:avLst/>
          </a:prstGeom>
          <a:noFill/>
          <a:ln/>
        </p:spPr>
        <p:txBody>
          <a:bodyPr wrap="square" lIns="0" tIns="0" rIns="0" bIns="0" rtlCol="0" anchor="ctr"/>
          <a:lstStyle/>
          <a:p>
            <a:pPr algn="ctr" indent="0" marL="0">
              <a:buNone/>
            </a:pPr>
            <a:r>
              <a:rPr lang="en-US" sz="1300" b="1" dirty="0">
                <a:solidFill>
                  <a:srgbClr val="0A0E14"/>
                </a:solidFill>
                <a:latin typeface="Trebuchet MS" pitchFamily="34" charset="0"/>
                <a:ea typeface="Trebuchet MS" pitchFamily="34" charset="-122"/>
                <a:cs typeface="Trebuchet MS" pitchFamily="34" charset="-120"/>
              </a:rPr>
              <a:t>03</a:t>
            </a:r>
            <a:endParaRPr lang="en-US" sz="1300" dirty="0"/>
          </a:p>
        </p:txBody>
      </p:sp>
      <p:sp>
        <p:nvSpPr>
          <p:cNvPr id="26" name="Text 24"/>
          <p:cNvSpPr/>
          <p:nvPr/>
        </p:nvSpPr>
        <p:spPr>
          <a:xfrm>
            <a:off x="6912864" y="2020824"/>
            <a:ext cx="1993392" cy="237744"/>
          </a:xfrm>
          <a:prstGeom prst="rect">
            <a:avLst/>
          </a:prstGeom>
          <a:noFill/>
          <a:ln/>
        </p:spPr>
        <p:txBody>
          <a:bodyPr wrap="square" lIns="0" tIns="0" rIns="0" bIns="0" rtlCol="0" anchor="ctr"/>
          <a:lstStyle/>
          <a:p>
            <a:pPr indent="0" marL="0">
              <a:buNone/>
            </a:pPr>
            <a:r>
              <a:rPr lang="en-US" sz="1100" b="1" spc="150" kern="0" dirty="0">
                <a:solidFill>
                  <a:srgbClr val="E3B341"/>
                </a:solidFill>
                <a:latin typeface="Calibri" pitchFamily="34" charset="0"/>
                <a:ea typeface="Calibri" pitchFamily="34" charset="-122"/>
                <a:cs typeface="Calibri" pitchFamily="34" charset="-120"/>
              </a:rPr>
              <a:t>OAAD-NATIVE</a:t>
            </a:r>
            <a:endParaRPr lang="en-US" sz="1100" dirty="0"/>
          </a:p>
        </p:txBody>
      </p:sp>
      <p:sp>
        <p:nvSpPr>
          <p:cNvPr id="27" name="Text 25"/>
          <p:cNvSpPr/>
          <p:nvPr/>
        </p:nvSpPr>
        <p:spPr>
          <a:xfrm>
            <a:off x="6912864" y="2258568"/>
            <a:ext cx="1993392" cy="182880"/>
          </a:xfrm>
          <a:prstGeom prst="rect">
            <a:avLst/>
          </a:prstGeom>
          <a:noFill/>
          <a:ln/>
        </p:spPr>
        <p:txBody>
          <a:bodyPr wrap="square" lIns="0" tIns="0" rIns="0" bIns="0" rtlCol="0" anchor="ctr"/>
          <a:lstStyle/>
          <a:p>
            <a:pPr indent="0" marL="0">
              <a:buNone/>
            </a:pPr>
            <a:r>
              <a:rPr lang="en-US" sz="950" dirty="0">
                <a:solidFill>
                  <a:srgbClr val="7D8FA9"/>
                </a:solidFill>
                <a:latin typeface="Calibri" pitchFamily="34" charset="0"/>
                <a:ea typeface="Calibri" pitchFamily="34" charset="-122"/>
                <a:cs typeface="Calibri" pitchFamily="34" charset="-120"/>
              </a:rPr>
              <a:t>18–36 Months</a:t>
            </a:r>
            <a:endParaRPr lang="en-US" sz="950" dirty="0"/>
          </a:p>
        </p:txBody>
      </p:sp>
      <p:sp>
        <p:nvSpPr>
          <p:cNvPr id="29" name="Text 27"/>
          <p:cNvSpPr/>
          <p:nvPr/>
        </p:nvSpPr>
        <p:spPr>
          <a:xfrm>
            <a:off x="6345936" y="2569464"/>
            <a:ext cx="2487168" cy="219456"/>
          </a:xfrm>
          <a:prstGeom prst="rect">
            <a:avLst/>
          </a:prstGeom>
          <a:noFill/>
          <a:ln/>
        </p:spPr>
        <p:txBody>
          <a:bodyPr wrap="square" lIns="0" tIns="0" rIns="0" bIns="0" rtlCol="0" anchor="ctr"/>
          <a:lstStyle/>
          <a:p>
            <a:pPr indent="0" marL="0">
              <a:buNone/>
            </a:pPr>
            <a:r>
              <a:rPr lang="en-US" sz="800" i="1" dirty="0">
                <a:solidFill>
                  <a:srgbClr val="E3B341"/>
                </a:solidFill>
                <a:latin typeface="Calibri" pitchFamily="34" charset="0"/>
                <a:ea typeface="Calibri" pitchFamily="34" charset="-122"/>
                <a:cs typeface="Calibri" pitchFamily="34" charset="-120"/>
              </a:rPr>
              <a:t>Full OSS stack · Compounding moat · COTS minimized</a:t>
            </a:r>
            <a:endParaRPr lang="en-US" sz="800" dirty="0"/>
          </a:p>
        </p:txBody>
      </p:sp>
      <p:sp>
        <p:nvSpPr>
          <p:cNvPr id="30" name="Text 28"/>
          <p:cNvSpPr/>
          <p:nvPr/>
        </p:nvSpPr>
        <p:spPr>
          <a:xfrm>
            <a:off x="6345936" y="2730000"/>
            <a:ext cx="2487168" cy="2120000"/>
          </a:xfrm>
          <a:prstGeom prst="rect">
            <a:avLst/>
          </a:prstGeom>
          <a:noFill/>
          <a:ln/>
        </p:spPr>
        <p:txBody>
          <a:bodyPr wrap="square" rtlCol="0" anchor="ctr"/>
          <a:lstStyle/>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OAAD covers full business capability stack</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COTS limited to regulated workflows only</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Intelligence moat compounding inside enterprise</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Agent self-optimization with continuous evaluation</a:t>
            </a:r>
            <a:endParaRPr lang="en-US" sz="1000" dirty="0"/>
          </a:p>
          <a:p>
            <a:pPr marL="342900" indent="-342900">
              <a:spcAft>
                <a:spcPts val="500"/>
              </a:spcAft>
              <a:buSzPct val="100000"/>
              <a:buChar char="•"/>
            </a:pPr>
            <a:r>
              <a:rPr lang="en-US" sz="1000" dirty="0">
                <a:solidFill>
                  <a:srgbClr val="7D8FA9"/>
                </a:solidFill>
                <a:latin typeface="Calibri" pitchFamily="34" charset="0"/>
                <a:ea typeface="Calibri" pitchFamily="34" charset="-122"/>
                <a:cs typeface="Calibri" pitchFamily="34" charset="-120"/>
              </a:rPr>
              <a:t>Enterprise is a platform builder, not a license consumer</a:t>
            </a:r>
            <a:endParaRPr lang="en-US" sz="1000" dirty="0"/>
          </a:p>
          <a:p>
            <a:pPr marL="342900" indent="-342900">
              <a:spcAft>
                <a:spcPts val="500"/>
              </a:spcAft>
              <a:buSzPct val="100000"/>
              <a:buChar char="▸"/>
            </a:pPr>
            <a:r>
              <a:rPr lang="en-US" sz="1000" b="1" dirty="0">
                <a:solidFill>
                  <a:srgbClr val="E3B341"/>
                </a:solidFill>
                <a:latin typeface="Calibri" pitchFamily="34" charset="0"/>
                <a:ea typeface="Calibri" pitchFamily="34" charset="-122"/>
                <a:cs typeface="Calibri" pitchFamily="34" charset="-120"/>
              </a:rPr>
              <a:t>STATE: COTS minimized; intelligence moat compounding</a:t>
            </a:r>
            <a:endParaRPr lang="en-US" sz="1000" dirty="0"/>
          </a:p>
        </p:txBody>
      </p:sp>
      <p:sp>
        <p:nvSpPr>
          <p:cNvPr id="31" name="Text 29"/>
          <p:cNvSpPr/>
          <p:nvPr/>
        </p:nvSpPr>
        <p:spPr>
          <a:xfrm>
            <a:off x="2907792" y="3154680"/>
            <a:ext cx="320040" cy="347472"/>
          </a:xfrm>
          <a:prstGeom prst="rect">
            <a:avLst/>
          </a:prstGeom>
          <a:noFill/>
          <a:ln/>
        </p:spPr>
        <p:txBody>
          <a:bodyPr wrap="square" lIns="0" tIns="0" rIns="0" bIns="0" rtlCol="0" anchor="ctr"/>
          <a:lstStyle/>
          <a:p>
            <a:pPr algn="ctr" indent="0" marL="0">
              <a:buNone/>
            </a:pPr>
            <a:r>
              <a:rPr lang="en-US" sz="1300" dirty="0">
                <a:solidFill>
                  <a:srgbClr val="00C9A7"/>
                </a:solidFill>
              </a:rPr>
              <a:t>▶</a:t>
            </a:r>
            <a:endParaRPr lang="en-US" sz="1300" dirty="0"/>
          </a:p>
        </p:txBody>
      </p:sp>
      <p:sp>
        <p:nvSpPr>
          <p:cNvPr id="32" name="Text 30"/>
          <p:cNvSpPr/>
          <p:nvPr/>
        </p:nvSpPr>
        <p:spPr>
          <a:xfrm>
            <a:off x="5897880" y="3154680"/>
            <a:ext cx="320040" cy="347472"/>
          </a:xfrm>
          <a:prstGeom prst="rect">
            <a:avLst/>
          </a:prstGeom>
          <a:noFill/>
          <a:ln/>
        </p:spPr>
        <p:txBody>
          <a:bodyPr wrap="square" lIns="0" tIns="0" rIns="0" bIns="0" rtlCol="0" anchor="ctr"/>
          <a:lstStyle/>
          <a:p>
            <a:pPr algn="ctr" indent="0" marL="0">
              <a:buNone/>
            </a:pPr>
            <a:r>
              <a:rPr lang="en-US" sz="1300" dirty="0">
                <a:solidFill>
                  <a:srgbClr val="00C9A7"/>
                </a:solidFill>
              </a:rPr>
              <a: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1920"/>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0C9A7"/>
          </a:solidFill>
          <a:ln w="12700">
            <a:solidFill>
              <a:srgbClr val="00C9A7"/>
            </a:solidFill>
            <a:prstDash val="solid"/>
          </a:ln>
        </p:spPr>
      </p:sp>
      <p:sp>
        <p:nvSpPr>
          <p:cNvPr id="3" name="Text 1"/>
          <p:cNvSpPr/>
          <p:nvPr/>
        </p:nvSpPr>
        <p:spPr>
          <a:xfrm>
            <a:off x="365760" y="109728"/>
            <a:ext cx="8229600" cy="292608"/>
          </a:xfrm>
          <a:prstGeom prst="rect">
            <a:avLst/>
          </a:prstGeom>
          <a:noFill/>
          <a:ln/>
        </p:spPr>
        <p:txBody>
          <a:bodyPr wrap="square" lIns="0" tIns="0" rIns="0" bIns="0" rtlCol="0" anchor="ctr"/>
          <a:lstStyle/>
          <a:p>
            <a:pPr indent="0" marL="0">
              <a:buNone/>
            </a:pPr>
            <a:r>
              <a:rPr lang="en-US" sz="950" b="1" spc="400" kern="0" dirty="0">
                <a:solidFill>
                  <a:srgbClr val="0A0E14"/>
                </a:solidFill>
                <a:latin typeface="Calibri" pitchFamily="34" charset="0"/>
                <a:ea typeface="Calibri" pitchFamily="34" charset="-122"/>
                <a:cs typeface="Calibri" pitchFamily="34" charset="-120"/>
              </a:rPr>
              <a:t>OAAD  ·  DECISION ASK</a:t>
            </a:r>
            <a:endParaRPr lang="en-US" sz="950" dirty="0"/>
          </a:p>
        </p:txBody>
      </p:sp>
      <p:sp>
        <p:nvSpPr>
          <p:cNvPr id="4" name="Text 2"/>
          <p:cNvSpPr/>
          <p:nvPr/>
        </p:nvSpPr>
        <p:spPr>
          <a:xfrm>
            <a:off x="365760" y="457200"/>
            <a:ext cx="8229600" cy="594360"/>
          </a:xfrm>
          <a:prstGeom prst="rect">
            <a:avLst/>
          </a:prstGeom>
          <a:noFill/>
          <a:ln/>
        </p:spPr>
        <p:txBody>
          <a:bodyPr wrap="square" lIns="0" tIns="0" rIns="0" bIns="0" rtlCol="0" anchor="ctr"/>
          <a:lstStyle/>
          <a:p>
            <a:pPr indent="0" marL="0">
              <a:buNone/>
            </a:pPr>
            <a:r>
              <a:rPr lang="en-US" sz="2800" b="1" dirty="0">
                <a:solidFill>
                  <a:srgbClr val="0A0E14"/>
                </a:solidFill>
                <a:latin typeface="Trebuchet MS" pitchFamily="34" charset="0"/>
                <a:ea typeface="Trebuchet MS" pitchFamily="34" charset="-122"/>
                <a:cs typeface="Trebuchet MS" pitchFamily="34" charset="-120"/>
              </a:rPr>
              <a:t>The Platform Starts With a Decision</a:t>
            </a:r>
            <a:endParaRPr lang="en-US" sz="2800" dirty="0"/>
          </a:p>
        </p:txBody>
      </p:sp>
      <p:sp>
        <p:nvSpPr>
          <p:cNvPr id="5" name="Shape 3"/>
          <p:cNvSpPr/>
          <p:nvPr/>
        </p:nvSpPr>
        <p:spPr>
          <a:xfrm>
            <a:off x="256032" y="1417320"/>
            <a:ext cx="4251960" cy="1600200"/>
          </a:xfrm>
          <a:prstGeom prst="rect">
            <a:avLst/>
          </a:prstGeom>
          <a:solidFill>
            <a:srgbClr val="0A0E14"/>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6" name="Shape 4"/>
          <p:cNvSpPr/>
          <p:nvPr/>
        </p:nvSpPr>
        <p:spPr>
          <a:xfrm>
            <a:off x="420624" y="1581912"/>
            <a:ext cx="438912" cy="438912"/>
          </a:xfrm>
          <a:prstGeom prst="ellipse">
            <a:avLst/>
          </a:prstGeom>
          <a:solidFill>
            <a:srgbClr val="00C9A7"/>
          </a:solidFill>
          <a:ln w="12700">
            <a:solidFill>
              <a:srgbClr val="00C9A7"/>
            </a:solidFill>
            <a:prstDash val="solid"/>
          </a:ln>
        </p:spPr>
      </p:sp>
      <p:sp>
        <p:nvSpPr>
          <p:cNvPr id="7" name="Text 5"/>
          <p:cNvSpPr/>
          <p:nvPr/>
        </p:nvSpPr>
        <p:spPr>
          <a:xfrm>
            <a:off x="420624" y="1581912"/>
            <a:ext cx="438912" cy="438912"/>
          </a:xfrm>
          <a:prstGeom prst="rect">
            <a:avLst/>
          </a:prstGeom>
          <a:noFill/>
          <a:ln/>
        </p:spPr>
        <p:txBody>
          <a:bodyPr wrap="square" lIns="0" tIns="0" rIns="0" bIns="0" rtlCol="0" anchor="ctr"/>
          <a:lstStyle/>
          <a:p>
            <a:pPr algn="ctr" indent="0" marL="0">
              <a:buNone/>
            </a:pPr>
            <a:r>
              <a:rPr lang="en-US" sz="1600" b="1" dirty="0">
                <a:solidFill>
                  <a:srgbClr val="0A0E14"/>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987552" y="1618488"/>
            <a:ext cx="3383280" cy="320040"/>
          </a:xfrm>
          <a:prstGeom prst="rect">
            <a:avLst/>
          </a:prstGeom>
          <a:noFill/>
          <a:ln/>
        </p:spPr>
        <p:txBody>
          <a:bodyPr wrap="square" lIns="0" tIns="0" rIns="0" bIns="0" rtlCol="0" anchor="ctr"/>
          <a:lstStyle/>
          <a:p>
            <a:pPr indent="0" marL="0">
              <a:buNone/>
            </a:pPr>
            <a:r>
              <a:rPr lang="en-US" sz="1300" b="1" dirty="0">
                <a:solidFill>
                  <a:srgbClr val="EFF3FA"/>
                </a:solidFill>
                <a:latin typeface="Calibri" pitchFamily="34" charset="0"/>
                <a:ea typeface="Calibri" pitchFamily="34" charset="-122"/>
                <a:cs typeface="Calibri" pitchFamily="34" charset="-120"/>
              </a:rPr>
              <a:t>Fund the OAAD Platform Team</a:t>
            </a:r>
            <a:endParaRPr lang="en-US" sz="1300" dirty="0"/>
          </a:p>
        </p:txBody>
      </p:sp>
      <p:sp>
        <p:nvSpPr>
          <p:cNvPr id="9" name="Text 7"/>
          <p:cNvSpPr/>
          <p:nvPr/>
        </p:nvSpPr>
        <p:spPr>
          <a:xfrm>
            <a:off x="420624" y="2130552"/>
            <a:ext cx="3931920" cy="80467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Name an internal owner with executive mandate and budget. Not a project. Not a vendor engagement. A product team that owns OAAD as a first-class enterprise asset with a defined operating model.</a:t>
            </a:r>
            <a:endParaRPr lang="en-US" sz="1100" dirty="0"/>
          </a:p>
        </p:txBody>
      </p:sp>
      <p:sp>
        <p:nvSpPr>
          <p:cNvPr id="10" name="Shape 8"/>
          <p:cNvSpPr/>
          <p:nvPr/>
        </p:nvSpPr>
        <p:spPr>
          <a:xfrm>
            <a:off x="4754880" y="1417320"/>
            <a:ext cx="4251960" cy="1600200"/>
          </a:xfrm>
          <a:prstGeom prst="rect">
            <a:avLst/>
          </a:prstGeom>
          <a:solidFill>
            <a:srgbClr val="0A0E14"/>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11" name="Shape 9"/>
          <p:cNvSpPr/>
          <p:nvPr/>
        </p:nvSpPr>
        <p:spPr>
          <a:xfrm>
            <a:off x="4919472" y="1581912"/>
            <a:ext cx="438912" cy="438912"/>
          </a:xfrm>
          <a:prstGeom prst="ellipse">
            <a:avLst/>
          </a:prstGeom>
          <a:solidFill>
            <a:srgbClr val="E3B341"/>
          </a:solidFill>
          <a:ln w="12700">
            <a:solidFill>
              <a:srgbClr val="E3B341"/>
            </a:solidFill>
            <a:prstDash val="solid"/>
          </a:ln>
        </p:spPr>
      </p:sp>
      <p:sp>
        <p:nvSpPr>
          <p:cNvPr id="12" name="Text 10"/>
          <p:cNvSpPr/>
          <p:nvPr/>
        </p:nvSpPr>
        <p:spPr>
          <a:xfrm>
            <a:off x="4919472" y="1581912"/>
            <a:ext cx="438912" cy="438912"/>
          </a:xfrm>
          <a:prstGeom prst="rect">
            <a:avLst/>
          </a:prstGeom>
          <a:noFill/>
          <a:ln/>
        </p:spPr>
        <p:txBody>
          <a:bodyPr wrap="square" lIns="0" tIns="0" rIns="0" bIns="0" rtlCol="0" anchor="ctr"/>
          <a:lstStyle/>
          <a:p>
            <a:pPr algn="ctr" indent="0" marL="0">
              <a:buNone/>
            </a:pPr>
            <a:r>
              <a:rPr lang="en-US" sz="1600" b="1" dirty="0">
                <a:solidFill>
                  <a:srgbClr val="0A0E14"/>
                </a:solidFill>
                <a:latin typeface="Trebuchet MS" pitchFamily="34" charset="0"/>
                <a:ea typeface="Trebuchet MS" pitchFamily="34" charset="-122"/>
                <a:cs typeface="Trebuchet MS" pitchFamily="34" charset="-120"/>
              </a:rPr>
              <a:t>2</a:t>
            </a:r>
            <a:endParaRPr lang="en-US" sz="1600" dirty="0"/>
          </a:p>
        </p:txBody>
      </p:sp>
      <p:sp>
        <p:nvSpPr>
          <p:cNvPr id="13" name="Text 11"/>
          <p:cNvSpPr/>
          <p:nvPr/>
        </p:nvSpPr>
        <p:spPr>
          <a:xfrm>
            <a:off x="5486400" y="1618488"/>
            <a:ext cx="3383280" cy="320040"/>
          </a:xfrm>
          <a:prstGeom prst="rect">
            <a:avLst/>
          </a:prstGeom>
          <a:noFill/>
          <a:ln/>
        </p:spPr>
        <p:txBody>
          <a:bodyPr wrap="square" lIns="0" tIns="0" rIns="0" bIns="0" rtlCol="0" anchor="ctr"/>
          <a:lstStyle/>
          <a:p>
            <a:pPr indent="0" marL="0">
              <a:buNone/>
            </a:pPr>
            <a:r>
              <a:rPr lang="en-US" sz="1300" b="1" dirty="0">
                <a:solidFill>
                  <a:srgbClr val="EFF3FA"/>
                </a:solidFill>
                <a:latin typeface="Calibri" pitchFamily="34" charset="0"/>
                <a:ea typeface="Calibri" pitchFamily="34" charset="-122"/>
                <a:cs typeface="Calibri" pitchFamily="34" charset="-120"/>
              </a:rPr>
              <a:t>Authorize Phase 0 Discovery</a:t>
            </a:r>
            <a:endParaRPr lang="en-US" sz="1300" dirty="0"/>
          </a:p>
        </p:txBody>
      </p:sp>
      <p:sp>
        <p:nvSpPr>
          <p:cNvPr id="14" name="Text 12"/>
          <p:cNvSpPr/>
          <p:nvPr/>
        </p:nvSpPr>
        <p:spPr>
          <a:xfrm>
            <a:off x="4919472" y="2130552"/>
            <a:ext cx="3931920" cy="80467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Commission a 4-week discovery to establish COTS spend baseline by domain, platform engineering headcount model, migration cost estimates, and break-even window. Build the real business case.</a:t>
            </a:r>
            <a:endParaRPr lang="en-US" sz="1100" dirty="0"/>
          </a:p>
        </p:txBody>
      </p:sp>
      <p:sp>
        <p:nvSpPr>
          <p:cNvPr id="15" name="Shape 13"/>
          <p:cNvSpPr/>
          <p:nvPr/>
        </p:nvSpPr>
        <p:spPr>
          <a:xfrm>
            <a:off x="256032" y="3172968"/>
            <a:ext cx="4251960" cy="1600200"/>
          </a:xfrm>
          <a:prstGeom prst="rect">
            <a:avLst/>
          </a:prstGeom>
          <a:solidFill>
            <a:srgbClr val="0A0E14"/>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16" name="Shape 14"/>
          <p:cNvSpPr/>
          <p:nvPr/>
        </p:nvSpPr>
        <p:spPr>
          <a:xfrm>
            <a:off x="420624" y="3337560"/>
            <a:ext cx="438912" cy="438912"/>
          </a:xfrm>
          <a:prstGeom prst="ellipse">
            <a:avLst/>
          </a:prstGeom>
          <a:solidFill>
            <a:srgbClr val="A371F7"/>
          </a:solidFill>
          <a:ln w="12700">
            <a:solidFill>
              <a:srgbClr val="A371F7"/>
            </a:solidFill>
            <a:prstDash val="solid"/>
          </a:ln>
        </p:spPr>
      </p:sp>
      <p:sp>
        <p:nvSpPr>
          <p:cNvPr id="17" name="Text 15"/>
          <p:cNvSpPr/>
          <p:nvPr/>
        </p:nvSpPr>
        <p:spPr>
          <a:xfrm>
            <a:off x="420624" y="3337560"/>
            <a:ext cx="438912" cy="438912"/>
          </a:xfrm>
          <a:prstGeom prst="rect">
            <a:avLst/>
          </a:prstGeom>
          <a:noFill/>
          <a:ln/>
        </p:spPr>
        <p:txBody>
          <a:bodyPr wrap="square" lIns="0" tIns="0" rIns="0" bIns="0" rtlCol="0" anchor="ctr"/>
          <a:lstStyle/>
          <a:p>
            <a:pPr algn="ctr" indent="0" marL="0">
              <a:buNone/>
            </a:pPr>
            <a:r>
              <a:rPr lang="en-US" sz="1600" b="1" dirty="0">
                <a:solidFill>
                  <a:srgbClr val="0A0E14"/>
                </a:solidFill>
                <a:latin typeface="Trebuchet MS" pitchFamily="34" charset="0"/>
                <a:ea typeface="Trebuchet MS" pitchFamily="34" charset="-122"/>
                <a:cs typeface="Trebuchet MS" pitchFamily="34" charset="-120"/>
              </a:rPr>
              <a:t>3</a:t>
            </a:r>
            <a:endParaRPr lang="en-US" sz="1600" dirty="0"/>
          </a:p>
        </p:txBody>
      </p:sp>
      <p:sp>
        <p:nvSpPr>
          <p:cNvPr id="18" name="Text 16"/>
          <p:cNvSpPr/>
          <p:nvPr/>
        </p:nvSpPr>
        <p:spPr>
          <a:xfrm>
            <a:off x="987552" y="3374136"/>
            <a:ext cx="3383280" cy="320040"/>
          </a:xfrm>
          <a:prstGeom prst="rect">
            <a:avLst/>
          </a:prstGeom>
          <a:noFill/>
          <a:ln/>
        </p:spPr>
        <p:txBody>
          <a:bodyPr wrap="square" lIns="0" tIns="0" rIns="0" bIns="0" rtlCol="0" anchor="ctr"/>
          <a:lstStyle/>
          <a:p>
            <a:pPr indent="0" marL="0">
              <a:buNone/>
            </a:pPr>
            <a:r>
              <a:rPr lang="en-US" sz="1300" b="1" dirty="0">
                <a:solidFill>
                  <a:srgbClr val="EFF3FA"/>
                </a:solidFill>
                <a:latin typeface="Calibri" pitchFamily="34" charset="0"/>
                <a:ea typeface="Calibri" pitchFamily="34" charset="-122"/>
                <a:cs typeface="Calibri" pitchFamily="34" charset="-120"/>
              </a:rPr>
              <a:t>Architect Governance Before Code</a:t>
            </a:r>
            <a:endParaRPr lang="en-US" sz="1300" dirty="0"/>
          </a:p>
        </p:txBody>
      </p:sp>
      <p:sp>
        <p:nvSpPr>
          <p:cNvPr id="19" name="Text 17"/>
          <p:cNvSpPr/>
          <p:nvPr/>
        </p:nvSpPr>
        <p:spPr>
          <a:xfrm>
            <a:off x="420624" y="3886200"/>
            <a:ext cx="3931920" cy="80467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Define agent identity, authority taxonomy, HITL checkpoints, OSS lifecycle governance, and tiered operating model before any agent touches production. Treat DevSecOps governance as architecture; design it before you write policy.</a:t>
            </a:r>
            <a:endParaRPr lang="en-US" sz="1100" dirty="0"/>
          </a:p>
        </p:txBody>
      </p:sp>
      <p:sp>
        <p:nvSpPr>
          <p:cNvPr id="20" name="Shape 18"/>
          <p:cNvSpPr/>
          <p:nvPr/>
        </p:nvSpPr>
        <p:spPr>
          <a:xfrm>
            <a:off x="4754880" y="3172968"/>
            <a:ext cx="4251960" cy="1600200"/>
          </a:xfrm>
          <a:prstGeom prst="rect">
            <a:avLst/>
          </a:prstGeom>
          <a:solidFill>
            <a:srgbClr val="0A0E14"/>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21" name="Shape 19"/>
          <p:cNvSpPr/>
          <p:nvPr/>
        </p:nvSpPr>
        <p:spPr>
          <a:xfrm>
            <a:off x="4919472" y="3337560"/>
            <a:ext cx="438912" cy="438912"/>
          </a:xfrm>
          <a:prstGeom prst="ellipse">
            <a:avLst/>
          </a:prstGeom>
          <a:solidFill>
            <a:srgbClr val="4D9EFF"/>
          </a:solidFill>
          <a:ln w="12700">
            <a:solidFill>
              <a:srgbClr val="4D9EFF"/>
            </a:solidFill>
            <a:prstDash val="solid"/>
          </a:ln>
        </p:spPr>
      </p:sp>
      <p:sp>
        <p:nvSpPr>
          <p:cNvPr id="22" name="Text 20"/>
          <p:cNvSpPr/>
          <p:nvPr/>
        </p:nvSpPr>
        <p:spPr>
          <a:xfrm>
            <a:off x="4919472" y="3337560"/>
            <a:ext cx="438912" cy="438912"/>
          </a:xfrm>
          <a:prstGeom prst="rect">
            <a:avLst/>
          </a:prstGeom>
          <a:noFill/>
          <a:ln/>
        </p:spPr>
        <p:txBody>
          <a:bodyPr wrap="square" lIns="0" tIns="0" rIns="0" bIns="0" rtlCol="0" anchor="ctr"/>
          <a:lstStyle/>
          <a:p>
            <a:pPr algn="ctr" indent="0" marL="0">
              <a:buNone/>
            </a:pPr>
            <a:r>
              <a:rPr lang="en-US" sz="1600" b="1" dirty="0">
                <a:solidFill>
                  <a:srgbClr val="0A0E14"/>
                </a:solidFill>
                <a:latin typeface="Trebuchet MS" pitchFamily="34" charset="0"/>
                <a:ea typeface="Trebuchet MS" pitchFamily="34" charset="-122"/>
                <a:cs typeface="Trebuchet MS" pitchFamily="34" charset="-120"/>
              </a:rPr>
              <a:t>4</a:t>
            </a:r>
            <a:endParaRPr lang="en-US" sz="1600" dirty="0"/>
          </a:p>
        </p:txBody>
      </p:sp>
      <p:sp>
        <p:nvSpPr>
          <p:cNvPr id="23" name="Text 21"/>
          <p:cNvSpPr/>
          <p:nvPr/>
        </p:nvSpPr>
        <p:spPr>
          <a:xfrm>
            <a:off x="5486400" y="3374136"/>
            <a:ext cx="3383280" cy="320040"/>
          </a:xfrm>
          <a:prstGeom prst="rect">
            <a:avLst/>
          </a:prstGeom>
          <a:noFill/>
          <a:ln/>
        </p:spPr>
        <p:txBody>
          <a:bodyPr wrap="square" lIns="0" tIns="0" rIns="0" bIns="0" rtlCol="0" anchor="ctr"/>
          <a:lstStyle/>
          <a:p>
            <a:pPr indent="0" marL="0">
              <a:buNone/>
            </a:pPr>
            <a:r>
              <a:rPr lang="en-US" sz="1300" b="1" dirty="0">
                <a:solidFill>
                  <a:srgbClr val="EFF3FA"/>
                </a:solidFill>
                <a:latin typeface="Calibri" pitchFamily="34" charset="0"/>
                <a:ea typeface="Calibri" pitchFamily="34" charset="-122"/>
                <a:cs typeface="Calibri" pitchFamily="34" charset="-120"/>
              </a:rPr>
              <a:t>Launch the DevOps Pilot</a:t>
            </a:r>
            <a:endParaRPr lang="en-US" sz="1300" dirty="0"/>
          </a:p>
        </p:txBody>
      </p:sp>
      <p:sp>
        <p:nvSpPr>
          <p:cNvPr id="24" name="Text 22"/>
          <p:cNvSpPr/>
          <p:nvPr/>
        </p:nvSpPr>
        <p:spPr>
          <a:xfrm>
            <a:off x="4919472" y="3886200"/>
            <a:ext cx="3931920" cy="804672"/>
          </a:xfrm>
          <a:prstGeom prst="rect">
            <a:avLst/>
          </a:prstGeom>
          <a:noFill/>
          <a:ln/>
        </p:spPr>
        <p:txBody>
          <a:bodyPr wrap="square" lIns="0" tIns="0" rIns="0" bIns="0" rtlCol="0" anchor="ctr"/>
          <a:lstStyle/>
          <a:p>
            <a:pPr indent="0" marL="0">
              <a:buNone/>
            </a:pPr>
            <a:r>
              <a:rPr lang="en-US" sz="1100" dirty="0">
                <a:solidFill>
                  <a:srgbClr val="7D8FA9"/>
                </a:solidFill>
                <a:latin typeface="Calibri" pitchFamily="34" charset="0"/>
                <a:ea typeface="Calibri" pitchFamily="34" charset="-122"/>
                <a:cs typeface="Calibri" pitchFamily="34" charset="-120"/>
              </a:rPr>
              <a:t>One domain. Deploy GitLab + Mattermost + Wazuh. Build the first OAAD agent crew. Establish measurable outcomes: cycle time, MTTR, deployment frequency. Demonstrate the pattern. Build the muscle.</a:t>
            </a:r>
            <a:endParaRPr lang="en-US" sz="1100" dirty="0"/>
          </a:p>
        </p:txBody>
      </p:sp>
      <p:sp>
        <p:nvSpPr>
          <p:cNvPr id="25" name="Text 23"/>
          <p:cNvSpPr/>
          <p:nvPr/>
        </p:nvSpPr>
        <p:spPr>
          <a:xfrm>
            <a:off x="365760" y="4846320"/>
            <a:ext cx="8412480" cy="201168"/>
          </a:xfrm>
          <a:prstGeom prst="rect">
            <a:avLst/>
          </a:prstGeom>
          <a:noFill/>
          <a:ln/>
        </p:spPr>
        <p:txBody>
          <a:bodyPr wrap="square" lIns="0" tIns="0" rIns="0" bIns="0" rtlCol="0" anchor="ctr"/>
          <a:lstStyle/>
          <a:p>
            <a:pPr indent="0" marL="0">
              <a:buNone/>
            </a:pPr>
            <a:r>
              <a:rPr lang="en-US" sz="950" i="1" dirty="0">
                <a:solidFill>
                  <a:srgbClr val="3D4F63"/>
                </a:solidFill>
                <a:latin typeface="Calibri" pitchFamily="34" charset="0"/>
                <a:ea typeface="Calibri" pitchFamily="34" charset="-122"/>
                <a:cs typeface="Calibri" pitchFamily="34" charset="-120"/>
              </a:rPr>
              <a:t>Salesforce Agentforce proves the agentic enterprise pattern. OAAD asks whether the intelligence moat compounds inside the vendor, or inside the enterprise.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00C9A7"/>
          </a:solidFill>
          <a:ln w="12700">
            <a:solidFill>
              <a:srgbClr val="00C9A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00C9A7"/>
                </a:solidFill>
                <a:latin typeface="Calibri" pitchFamily="34" charset="0"/>
                <a:ea typeface="Calibri" pitchFamily="34" charset="-122"/>
                <a:cs typeface="Calibri" pitchFamily="34" charset="-120"/>
              </a:rPr>
              <a:t>THE STRATEGIC SHIFT</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2600" b="1" dirty="0">
                <a:solidFill>
                  <a:srgbClr val="EFF3FA"/>
                </a:solidFill>
                <a:latin typeface="Trebuchet MS" pitchFamily="34" charset="0"/>
                <a:ea typeface="Trebuchet MS" pitchFamily="34" charset="-122"/>
                <a:cs typeface="Trebuchet MS" pitchFamily="34" charset="-120"/>
              </a:rPr>
              <a:t>The Build-vs-Buy Calculus Just Changed</a:t>
            </a:r>
            <a:endParaRPr lang="en-US" sz="3000" dirty="0"/>
          </a:p>
        </p:txBody>
      </p:sp>
      <p:sp>
        <p:nvSpPr>
          <p:cNvPr id="6" name="Text 4"/>
          <p:cNvSpPr/>
          <p:nvPr/>
        </p:nvSpPr>
        <p:spPr>
          <a:xfrm>
            <a:off x="365760" y="1234440"/>
            <a:ext cx="8412480" cy="384048"/>
          </a:xfrm>
          <a:prstGeom prst="rect">
            <a:avLst/>
          </a:prstGeom>
          <a:noFill/>
          <a:ln/>
        </p:spPr>
        <p:txBody>
          <a:bodyPr wrap="square" lIns="0" tIns="0" rIns="0" bIns="0" rtlCol="0" anchor="ctr"/>
          <a:lstStyle/>
          <a:p>
            <a:pPr indent="0" marL="0">
              <a:buNone/>
            </a:pPr>
            <a:r>
              <a:rPr lang="en-US" sz="1250" i="1" dirty="0">
                <a:solidFill>
                  <a:srgbClr val="7D8FA9"/>
                </a:solidFill>
                <a:latin typeface="Calibri" pitchFamily="34" charset="0"/>
                <a:ea typeface="Calibri" pitchFamily="34" charset="-122"/>
                <a:cs typeface="Calibri" pitchFamily="34" charset="-120"/>
              </a:rPr>
              <a:t>For thirty years, buying COTS was the safe default. Vendor risk meant license cost. That calculus assumed software was static. Agentic platforms break the assumption.</a:t>
            </a:r>
            <a:endParaRPr lang="en-US" sz="1250" dirty="0"/>
          </a:p>
        </p:txBody>
      </p:sp>
      <p:sp>
        <p:nvSpPr>
          <p:cNvPr id="7" name="Shape 5"/>
          <p:cNvSpPr/>
          <p:nvPr/>
        </p:nvSpPr>
        <p:spPr>
          <a:xfrm>
            <a:off x="256032" y="1737360"/>
            <a:ext cx="4206240" cy="1335024"/>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56032" y="1737360"/>
            <a:ext cx="4206240" cy="45720"/>
          </a:xfrm>
          <a:prstGeom prst="rect">
            <a:avLst/>
          </a:prstGeom>
          <a:solidFill>
            <a:srgbClr val="00C9A7"/>
          </a:solidFill>
          <a:ln w="12700">
            <a:solidFill>
              <a:srgbClr val="00C9A7"/>
            </a:solidFill>
            <a:prstDash val="solid"/>
          </a:ln>
        </p:spPr>
      </p:sp>
      <p:sp>
        <p:nvSpPr>
          <p:cNvPr id="9" name="Text 7"/>
          <p:cNvSpPr/>
          <p:nvPr/>
        </p:nvSpPr>
        <p:spPr>
          <a:xfrm>
            <a:off x="438912" y="1847088"/>
            <a:ext cx="3840480" cy="27432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The Old Calculus</a:t>
            </a:r>
            <a:endParaRPr lang="en-US" sz="1300" dirty="0"/>
          </a:p>
        </p:txBody>
      </p:sp>
      <p:sp>
        <p:nvSpPr>
          <p:cNvPr id="10" name="Text 8"/>
          <p:cNvSpPr/>
          <p:nvPr/>
        </p:nvSpPr>
        <p:spPr>
          <a:xfrm>
            <a:off x="438912" y="2176272"/>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Vendor risk meant license cost, upgrade cycles, and integration debt. Build risk meant engineering capacity, time to value, and ongoing maintenance. Buy usually won because software was a tool, not a learning system.</a:t>
            </a:r>
            <a:endParaRPr lang="en-US" sz="1000" dirty="0"/>
          </a:p>
        </p:txBody>
      </p:sp>
      <p:sp>
        <p:nvSpPr>
          <p:cNvPr id="11" name="Shape 9"/>
          <p:cNvSpPr/>
          <p:nvPr/>
        </p:nvSpPr>
        <p:spPr>
          <a:xfrm>
            <a:off x="4645152" y="1737360"/>
            <a:ext cx="4206240" cy="1335024"/>
          </a:xfrm>
          <a:prstGeom prst="rect">
            <a:avLst/>
          </a:prstGeom>
          <a:solidFill>
            <a:srgbClr val="161D28"/>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12" name="Shape 10"/>
          <p:cNvSpPr/>
          <p:nvPr/>
        </p:nvSpPr>
        <p:spPr>
          <a:xfrm>
            <a:off x="4645152" y="1737360"/>
            <a:ext cx="4206240" cy="45720"/>
          </a:xfrm>
          <a:prstGeom prst="rect">
            <a:avLst/>
          </a:prstGeom>
          <a:solidFill>
            <a:srgbClr val="4D9EFF"/>
          </a:solidFill>
          <a:ln w="12700">
            <a:solidFill>
              <a:srgbClr val="4D9EFF"/>
            </a:solidFill>
            <a:prstDash val="solid"/>
          </a:ln>
        </p:spPr>
      </p:sp>
      <p:sp>
        <p:nvSpPr>
          <p:cNvPr id="13" name="Text 11"/>
          <p:cNvSpPr/>
          <p:nvPr/>
        </p:nvSpPr>
        <p:spPr>
          <a:xfrm>
            <a:off x="4828032" y="1847088"/>
            <a:ext cx="3840480" cy="274320"/>
          </a:xfrm>
          <a:prstGeom prst="rect">
            <a:avLst/>
          </a:prstGeom>
          <a:noFill/>
          <a:ln/>
        </p:spPr>
        <p:txBody>
          <a:bodyPr wrap="square" lIns="0" tIns="0" rIns="0" bIns="0" rtlCol="0" anchor="ctr"/>
          <a:lstStyle/>
          <a:p>
            <a:pPr indent="0" marL="0">
              <a:buNone/>
            </a:pPr>
            <a:r>
              <a:rPr lang="en-US" sz="1300" b="1" dirty="0">
                <a:solidFill>
                  <a:srgbClr val="4D9EFF"/>
                </a:solidFill>
                <a:latin typeface="Calibri" pitchFamily="34" charset="0"/>
                <a:ea typeface="Calibri" pitchFamily="34" charset="-122"/>
                <a:cs typeface="Calibri" pitchFamily="34" charset="-120"/>
              </a:rPr>
              <a:t>The New Variable</a:t>
            </a:r>
            <a:endParaRPr lang="en-US" sz="1300" dirty="0"/>
          </a:p>
        </p:txBody>
      </p:sp>
      <p:sp>
        <p:nvSpPr>
          <p:cNvPr id="14" name="Text 12"/>
          <p:cNvSpPr/>
          <p:nvPr/>
        </p:nvSpPr>
        <p:spPr>
          <a:xfrm>
            <a:off x="4828032" y="2176272"/>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Agentic platforms encode institutional intelligence as they operate. Every workflow refined, every edge case handled, every escalation pattern learned becomes platform value. That value compounds over time, with use.</a:t>
            </a:r>
            <a:endParaRPr lang="en-US" sz="1000" dirty="0"/>
          </a:p>
        </p:txBody>
      </p:sp>
      <p:sp>
        <p:nvSpPr>
          <p:cNvPr id="15" name="Shape 13"/>
          <p:cNvSpPr/>
          <p:nvPr/>
        </p:nvSpPr>
        <p:spPr>
          <a:xfrm>
            <a:off x="256032" y="3236976"/>
            <a:ext cx="4206240" cy="1335024"/>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16" name="Shape 14"/>
          <p:cNvSpPr/>
          <p:nvPr/>
        </p:nvSpPr>
        <p:spPr>
          <a:xfrm>
            <a:off x="256032" y="3236976"/>
            <a:ext cx="4206240" cy="45720"/>
          </a:xfrm>
          <a:prstGeom prst="rect">
            <a:avLst/>
          </a:prstGeom>
          <a:solidFill>
            <a:srgbClr val="E3B341"/>
          </a:solidFill>
          <a:ln w="12700">
            <a:solidFill>
              <a:srgbClr val="E3B341"/>
            </a:solidFill>
            <a:prstDash val="solid"/>
          </a:ln>
        </p:spPr>
      </p:sp>
      <p:sp>
        <p:nvSpPr>
          <p:cNvPr id="17" name="Text 15"/>
          <p:cNvSpPr/>
          <p:nvPr/>
        </p:nvSpPr>
        <p:spPr>
          <a:xfrm>
            <a:off x="438912" y="3346704"/>
            <a:ext cx="3840480" cy="274320"/>
          </a:xfrm>
          <a:prstGeom prst="rect">
            <a:avLst/>
          </a:prstGeom>
          <a:noFill/>
          <a:ln/>
        </p:spPr>
        <p:txBody>
          <a:bodyPr wrap="square" lIns="0" tIns="0" rIns="0" bIns="0" rtlCol="0" anchor="ctr"/>
          <a:lstStyle/>
          <a:p>
            <a:pPr indent="0" marL="0">
              <a:buNone/>
            </a:pPr>
            <a:r>
              <a:rPr lang="en-US" sz="1300" b="1" dirty="0">
                <a:solidFill>
                  <a:srgbClr val="E3B341"/>
                </a:solidFill>
                <a:latin typeface="Calibri" pitchFamily="34" charset="0"/>
                <a:ea typeface="Calibri" pitchFamily="34" charset="-122"/>
                <a:cs typeface="Calibri" pitchFamily="34" charset="-120"/>
              </a:rPr>
              <a:t>Where the Value Accrues</a:t>
            </a:r>
            <a:endParaRPr lang="en-US" sz="1300" dirty="0"/>
          </a:p>
        </p:txBody>
      </p:sp>
      <p:sp>
        <p:nvSpPr>
          <p:cNvPr id="18" name="Text 16"/>
          <p:cNvSpPr/>
          <p:nvPr/>
        </p:nvSpPr>
        <p:spPr>
          <a:xfrm>
            <a:off x="438912" y="3675888"/>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When the platform is vendor-owned, the compounding happens inside their schema. Your competitors using the same vendor benefit from your operational learning. The moat you are building belongs to the vendor.</a:t>
            </a:r>
            <a:endParaRPr lang="en-US" sz="1000" dirty="0"/>
          </a:p>
        </p:txBody>
      </p:sp>
      <p:sp>
        <p:nvSpPr>
          <p:cNvPr id="19" name="Shape 17"/>
          <p:cNvSpPr/>
          <p:nvPr/>
        </p:nvSpPr>
        <p:spPr>
          <a:xfrm>
            <a:off x="4645152" y="3236976"/>
            <a:ext cx="4206240" cy="1335024"/>
          </a:xfrm>
          <a:prstGeom prst="rect">
            <a:avLst/>
          </a:prstGeom>
          <a:solidFill>
            <a:srgbClr val="161D28"/>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20" name="Shape 18"/>
          <p:cNvSpPr/>
          <p:nvPr/>
        </p:nvSpPr>
        <p:spPr>
          <a:xfrm>
            <a:off x="4645152" y="3236976"/>
            <a:ext cx="4206240" cy="45720"/>
          </a:xfrm>
          <a:prstGeom prst="rect">
            <a:avLst/>
          </a:prstGeom>
          <a:solidFill>
            <a:srgbClr val="A371F7"/>
          </a:solidFill>
          <a:ln w="12700">
            <a:solidFill>
              <a:srgbClr val="A371F7"/>
            </a:solidFill>
            <a:prstDash val="solid"/>
          </a:ln>
        </p:spPr>
      </p:sp>
      <p:sp>
        <p:nvSpPr>
          <p:cNvPr id="21" name="Text 19"/>
          <p:cNvSpPr/>
          <p:nvPr/>
        </p:nvSpPr>
        <p:spPr>
          <a:xfrm>
            <a:off x="4828032" y="3346704"/>
            <a:ext cx="3840480" cy="274320"/>
          </a:xfrm>
          <a:prstGeom prst="rect">
            <a:avLst/>
          </a:prstGeom>
          <a:noFill/>
          <a:ln/>
        </p:spPr>
        <p:txBody>
          <a:bodyPr wrap="square" lIns="0" tIns="0" rIns="0" bIns="0" rtlCol="0" anchor="ctr"/>
          <a:lstStyle/>
          <a:p>
            <a:pPr indent="0" marL="0">
              <a:buNone/>
            </a:pPr>
            <a:r>
              <a:rPr lang="en-US" sz="1300" b="1" dirty="0">
                <a:solidFill>
                  <a:srgbClr val="A371F7"/>
                </a:solidFill>
                <a:latin typeface="Calibri" pitchFamily="34" charset="0"/>
                <a:ea typeface="Calibri" pitchFamily="34" charset="-122"/>
                <a:cs typeface="Calibri" pitchFamily="34" charset="-120"/>
              </a:rPr>
              <a:t>What This Reframes</a:t>
            </a:r>
            <a:endParaRPr lang="en-US" sz="1300" dirty="0"/>
          </a:p>
        </p:txBody>
      </p:sp>
      <p:sp>
        <p:nvSpPr>
          <p:cNvPr id="22" name="Text 20"/>
          <p:cNvSpPr/>
          <p:nvPr/>
        </p:nvSpPr>
        <p:spPr>
          <a:xfrm>
            <a:off x="4828032" y="3675888"/>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Buying COTS is no longer a cost-vs-cost trade. It is a question of whether the intelligence your enterprise generates strengthens your position or someone else's. Ownership is now a competitive variable, not a procurement preference.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00C9A7"/>
          </a:solidFill>
          <a:ln w="12700">
            <a:solidFill>
              <a:srgbClr val="00C9A7"/>
            </a:solidFill>
            <a:prstDash val="solid"/>
          </a:ln>
        </p:spPr>
      </p:sp>
      <p:sp>
        <p:nvSpPr>
          <p:cNvPr id="3" name="Text 1"/>
          <p:cNvSpPr/>
          <p:nvPr/>
        </p:nvSpPr>
        <p:spPr>
          <a:xfrm>
            <a:off x="365760" y="4873752"/>
            <a:ext cx="8412480" cy="182880"/>
          </a:xfrm>
          <a:prstGeom prst="rect">
            <a:avLst/>
          </a:prstGeom>
          <a:noFill/>
          <a:ln/>
        </p:spPr>
        <p:txBody>
          <a:bodyPr wrap="square" lIns="0" tIns="0" rIns="0" bIns="0" rtlCol="0" anchor="ctr"/>
          <a:lstStyle/>
          <a:p>
            <a:pPr indent="0" marL="0">
              <a:buNone/>
            </a:pPr>
            <a:r>
              <a:rPr lang="en-US" sz="700" spc="200" kern="0" dirty="0">
                <a:solidFill>
                  <a:srgbClr val="3D4F63"/>
                </a:solidFill>
                <a:latin typeface="Calibri" pitchFamily="34" charset="0"/>
                <a:ea typeface="Calibri" pitchFamily="34" charset="-122"/>
                <a:cs typeface="Calibri" pitchFamily="34" charset="-120"/>
              </a:rPr>
              <a:t>OAAD  ·  OPEN SOURCE AGENTIC AI DEVSECOPS</a:t>
            </a:r>
            <a:endParaRPr lang="en-US" sz="700" dirty="0"/>
          </a:p>
        </p:txBody>
      </p:sp>
      <p:sp>
        <p:nvSpPr>
          <p:cNvPr id="4" name="Text 2"/>
          <p:cNvSpPr/>
          <p:nvPr/>
        </p:nvSpPr>
        <p:spPr>
          <a:xfrm>
            <a:off x="365760" y="256032"/>
            <a:ext cx="8229600" cy="237744"/>
          </a:xfrm>
          <a:prstGeom prst="rect">
            <a:avLst/>
          </a:prstGeom>
          <a:noFill/>
          <a:ln/>
        </p:spPr>
        <p:txBody>
          <a:bodyPr wrap="square" lIns="0" tIns="0" rIns="0" bIns="0" rtlCol="0" anchor="ctr"/>
          <a:lstStyle/>
          <a:p>
            <a:pPr indent="0" marL="0">
              <a:buNone/>
            </a:pPr>
            <a:r>
              <a:rPr lang="en-US" sz="900" b="1" spc="400" kern="0" dirty="0">
                <a:solidFill>
                  <a:srgbClr val="00C9A7"/>
                </a:solidFill>
                <a:latin typeface="Calibri" pitchFamily="34" charset="0"/>
                <a:ea typeface="Calibri" pitchFamily="34" charset="-122"/>
                <a:cs typeface="Calibri" pitchFamily="34" charset="-120"/>
              </a:rPr>
              <a:t>THE BOUNDARY</a:t>
            </a:r>
            <a:endParaRPr lang="en-US" sz="900" dirty="0"/>
          </a:p>
        </p:txBody>
      </p:sp>
      <p:sp>
        <p:nvSpPr>
          <p:cNvPr id="5" name="Text 3"/>
          <p:cNvSpPr/>
          <p:nvPr/>
        </p:nvSpPr>
        <p:spPr>
          <a:xfrm>
            <a:off x="365760" y="566928"/>
            <a:ext cx="8412480" cy="621792"/>
          </a:xfrm>
          <a:prstGeom prst="rect">
            <a:avLst/>
          </a:prstGeom>
          <a:noFill/>
          <a:ln/>
        </p:spPr>
        <p:txBody>
          <a:bodyPr wrap="square" lIns="0" tIns="0" rIns="0" bIns="0" rtlCol="0" anchor="ctr"/>
          <a:lstStyle/>
          <a:p>
            <a:pPr indent="0" marL="0">
              <a:buNone/>
            </a:pPr>
            <a:r>
              <a:rPr lang="en-US" sz="3000" b="1" dirty="0">
                <a:solidFill>
                  <a:srgbClr val="EFF3FA"/>
                </a:solidFill>
                <a:latin typeface="Trebuchet MS" pitchFamily="34" charset="0"/>
                <a:ea typeface="Trebuchet MS" pitchFamily="34" charset="-122"/>
                <a:cs typeface="Trebuchet MS" pitchFamily="34" charset="-120"/>
              </a:rPr>
              <a:t>What OAAD Doesn't Claim to Replace</a:t>
            </a:r>
            <a:endParaRPr lang="en-US" sz="3000" dirty="0"/>
          </a:p>
        </p:txBody>
      </p:sp>
      <p:sp>
        <p:nvSpPr>
          <p:cNvPr id="6" name="Text 4"/>
          <p:cNvSpPr/>
          <p:nvPr/>
        </p:nvSpPr>
        <p:spPr>
          <a:xfrm>
            <a:off x="365760" y="1234440"/>
            <a:ext cx="8412480" cy="384048"/>
          </a:xfrm>
          <a:prstGeom prst="rect">
            <a:avLst/>
          </a:prstGeom>
          <a:noFill/>
          <a:ln/>
        </p:spPr>
        <p:txBody>
          <a:bodyPr wrap="square" lIns="0" tIns="0" rIns="0" bIns="0" rtlCol="0" anchor="ctr"/>
          <a:lstStyle/>
          <a:p>
            <a:pPr indent="0" marL="0">
              <a:buNone/>
            </a:pPr>
            <a:r>
              <a:rPr lang="en-US" sz="1250" i="1" dirty="0">
                <a:solidFill>
                  <a:srgbClr val="7D8FA9"/>
                </a:solidFill>
                <a:latin typeface="Calibri" pitchFamily="34" charset="0"/>
                <a:ea typeface="Calibri" pitchFamily="34" charset="-122"/>
                <a:cs typeface="Calibri" pitchFamily="34" charset="-120"/>
              </a:rPr>
              <a:t>A credible displacement thesis names its limits. OAAD targets the COTS business capability stack. Several enterprise workload categories sit outside that scope by design.</a:t>
            </a:r>
            <a:endParaRPr lang="en-US" sz="1250" dirty="0"/>
          </a:p>
        </p:txBody>
      </p:sp>
      <p:sp>
        <p:nvSpPr>
          <p:cNvPr id="7" name="Shape 5"/>
          <p:cNvSpPr/>
          <p:nvPr/>
        </p:nvSpPr>
        <p:spPr>
          <a:xfrm>
            <a:off x="256032" y="1737360"/>
            <a:ext cx="4206240" cy="1335024"/>
          </a:xfrm>
          <a:prstGeom prst="rect">
            <a:avLst/>
          </a:prstGeom>
          <a:solidFill>
            <a:srgbClr val="161D28"/>
          </a:solidFill>
          <a:ln w="12700">
            <a:solidFill>
              <a:srgbClr val="00C9A7"/>
            </a:solidFill>
            <a:prstDash val="solid"/>
          </a:ln>
          <a:effectLst>
            <a:outerShdw sx="100000" sy="100000" kx="0" ky="0" algn="bl" rotWithShape="0" blurRad="101600" dist="38100" dir="8100000">
              <a:srgbClr val="000000">
                <a:alpha val="22000"/>
              </a:srgbClr>
            </a:outerShdw>
          </a:effectLst>
        </p:spPr>
      </p:sp>
      <p:sp>
        <p:nvSpPr>
          <p:cNvPr id="8" name="Shape 6"/>
          <p:cNvSpPr/>
          <p:nvPr/>
        </p:nvSpPr>
        <p:spPr>
          <a:xfrm>
            <a:off x="256032" y="1737360"/>
            <a:ext cx="4206240" cy="45720"/>
          </a:xfrm>
          <a:prstGeom prst="rect">
            <a:avLst/>
          </a:prstGeom>
          <a:solidFill>
            <a:srgbClr val="00C9A7"/>
          </a:solidFill>
          <a:ln w="12700">
            <a:solidFill>
              <a:srgbClr val="00C9A7"/>
            </a:solidFill>
            <a:prstDash val="solid"/>
          </a:ln>
        </p:spPr>
      </p:sp>
      <p:sp>
        <p:nvSpPr>
          <p:cNvPr id="9" name="Text 7"/>
          <p:cNvSpPr/>
          <p:nvPr/>
        </p:nvSpPr>
        <p:spPr>
          <a:xfrm>
            <a:off x="438912" y="1847088"/>
            <a:ext cx="3840480" cy="27432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Regulated Financial Systems</a:t>
            </a:r>
            <a:endParaRPr lang="en-US" sz="1300" dirty="0"/>
          </a:p>
        </p:txBody>
      </p:sp>
      <p:sp>
        <p:nvSpPr>
          <p:cNvPr id="10" name="Text 8"/>
          <p:cNvSpPr/>
          <p:nvPr/>
        </p:nvSpPr>
        <p:spPr>
          <a:xfrm>
            <a:off x="438912" y="2176272"/>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Payroll, treasury, tax compliance, and audit-bound general ledger systems carry vendor certifications and regulatory accreditations that OSS rarely matches today. Displacement here is a long-horizon play, not a Phase 0 target.</a:t>
            </a:r>
            <a:endParaRPr lang="en-US" sz="1000" dirty="0"/>
          </a:p>
        </p:txBody>
      </p:sp>
      <p:sp>
        <p:nvSpPr>
          <p:cNvPr id="11" name="Shape 9"/>
          <p:cNvSpPr/>
          <p:nvPr/>
        </p:nvSpPr>
        <p:spPr>
          <a:xfrm>
            <a:off x="4645152" y="1737360"/>
            <a:ext cx="4206240" cy="1335024"/>
          </a:xfrm>
          <a:prstGeom prst="rect">
            <a:avLst/>
          </a:prstGeom>
          <a:solidFill>
            <a:srgbClr val="161D28"/>
          </a:solidFill>
          <a:ln w="12700">
            <a:solidFill>
              <a:srgbClr val="4D9EFF"/>
            </a:solidFill>
            <a:prstDash val="solid"/>
          </a:ln>
          <a:effectLst>
            <a:outerShdw sx="100000" sy="100000" kx="0" ky="0" algn="bl" rotWithShape="0" blurRad="101600" dist="38100" dir="8100000">
              <a:srgbClr val="000000">
                <a:alpha val="22000"/>
              </a:srgbClr>
            </a:outerShdw>
          </a:effectLst>
        </p:spPr>
      </p:sp>
      <p:sp>
        <p:nvSpPr>
          <p:cNvPr id="12" name="Shape 10"/>
          <p:cNvSpPr/>
          <p:nvPr/>
        </p:nvSpPr>
        <p:spPr>
          <a:xfrm>
            <a:off x="4645152" y="1737360"/>
            <a:ext cx="4206240" cy="45720"/>
          </a:xfrm>
          <a:prstGeom prst="rect">
            <a:avLst/>
          </a:prstGeom>
          <a:solidFill>
            <a:srgbClr val="4D9EFF"/>
          </a:solidFill>
          <a:ln w="12700">
            <a:solidFill>
              <a:srgbClr val="4D9EFF"/>
            </a:solidFill>
            <a:prstDash val="solid"/>
          </a:ln>
        </p:spPr>
      </p:sp>
      <p:sp>
        <p:nvSpPr>
          <p:cNvPr id="13" name="Text 11"/>
          <p:cNvSpPr/>
          <p:nvPr/>
        </p:nvSpPr>
        <p:spPr>
          <a:xfrm>
            <a:off x="4828032" y="1847088"/>
            <a:ext cx="3840480" cy="274320"/>
          </a:xfrm>
          <a:prstGeom prst="rect">
            <a:avLst/>
          </a:prstGeom>
          <a:noFill/>
          <a:ln/>
        </p:spPr>
        <p:txBody>
          <a:bodyPr wrap="square" lIns="0" tIns="0" rIns="0" bIns="0" rtlCol="0" anchor="ctr"/>
          <a:lstStyle/>
          <a:p>
            <a:pPr indent="0" marL="0">
              <a:buNone/>
            </a:pPr>
            <a:r>
              <a:rPr lang="en-US" sz="1300" b="1" dirty="0">
                <a:solidFill>
                  <a:srgbClr val="4D9EFF"/>
                </a:solidFill>
                <a:latin typeface="Calibri" pitchFamily="34" charset="0"/>
                <a:ea typeface="Calibri" pitchFamily="34" charset="-122"/>
                <a:cs typeface="Calibri" pitchFamily="34" charset="-120"/>
              </a:rPr>
              <a:t>Industry-Specific Regulated Workflows</a:t>
            </a:r>
            <a:endParaRPr lang="en-US" sz="1300" dirty="0"/>
          </a:p>
        </p:txBody>
      </p:sp>
      <p:sp>
        <p:nvSpPr>
          <p:cNvPr id="14" name="Text 12"/>
          <p:cNvSpPr/>
          <p:nvPr/>
        </p:nvSpPr>
        <p:spPr>
          <a:xfrm>
            <a:off x="4828032" y="2176272"/>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FDA-validated systems (clinical, pharma manufacturing), HIPAA-bound EHR, ITAR/CMMC-bound defense workflows, FedRAMP-bound government systems. The accreditation cost dominates the platform cost; vendor absorption is usually the right answer.</a:t>
            </a:r>
            <a:endParaRPr lang="en-US" sz="1000" dirty="0"/>
          </a:p>
        </p:txBody>
      </p:sp>
      <p:sp>
        <p:nvSpPr>
          <p:cNvPr id="15" name="Shape 13"/>
          <p:cNvSpPr/>
          <p:nvPr/>
        </p:nvSpPr>
        <p:spPr>
          <a:xfrm>
            <a:off x="256032" y="3236976"/>
            <a:ext cx="4206240" cy="1335024"/>
          </a:xfrm>
          <a:prstGeom prst="rect">
            <a:avLst/>
          </a:prstGeom>
          <a:solidFill>
            <a:srgbClr val="161D28"/>
          </a:solidFill>
          <a:ln w="12700">
            <a:solidFill>
              <a:srgbClr val="E3B341"/>
            </a:solidFill>
            <a:prstDash val="solid"/>
          </a:ln>
          <a:effectLst>
            <a:outerShdw sx="100000" sy="100000" kx="0" ky="0" algn="bl" rotWithShape="0" blurRad="101600" dist="38100" dir="8100000">
              <a:srgbClr val="000000">
                <a:alpha val="22000"/>
              </a:srgbClr>
            </a:outerShdw>
          </a:effectLst>
        </p:spPr>
      </p:sp>
      <p:sp>
        <p:nvSpPr>
          <p:cNvPr id="16" name="Shape 14"/>
          <p:cNvSpPr/>
          <p:nvPr/>
        </p:nvSpPr>
        <p:spPr>
          <a:xfrm>
            <a:off x="256032" y="3236976"/>
            <a:ext cx="4206240" cy="45720"/>
          </a:xfrm>
          <a:prstGeom prst="rect">
            <a:avLst/>
          </a:prstGeom>
          <a:solidFill>
            <a:srgbClr val="E3B341"/>
          </a:solidFill>
          <a:ln w="12700">
            <a:solidFill>
              <a:srgbClr val="E3B341"/>
            </a:solidFill>
            <a:prstDash val="solid"/>
          </a:ln>
        </p:spPr>
      </p:sp>
      <p:sp>
        <p:nvSpPr>
          <p:cNvPr id="17" name="Text 15"/>
          <p:cNvSpPr/>
          <p:nvPr/>
        </p:nvSpPr>
        <p:spPr>
          <a:xfrm>
            <a:off x="438912" y="3346704"/>
            <a:ext cx="3840480" cy="274320"/>
          </a:xfrm>
          <a:prstGeom prst="rect">
            <a:avLst/>
          </a:prstGeom>
          <a:noFill/>
          <a:ln/>
        </p:spPr>
        <p:txBody>
          <a:bodyPr wrap="square" lIns="0" tIns="0" rIns="0" bIns="0" rtlCol="0" anchor="ctr"/>
          <a:lstStyle/>
          <a:p>
            <a:pPr indent="0" marL="0">
              <a:buNone/>
            </a:pPr>
            <a:r>
              <a:rPr lang="en-US" sz="1300" b="1" dirty="0">
                <a:solidFill>
                  <a:srgbClr val="E3B341"/>
                </a:solidFill>
                <a:latin typeface="Calibri" pitchFamily="34" charset="0"/>
                <a:ea typeface="Calibri" pitchFamily="34" charset="-122"/>
                <a:cs typeface="Calibri" pitchFamily="34" charset="-120"/>
              </a:rPr>
              <a:t>Hyperscaler Foundational Services</a:t>
            </a:r>
            <a:endParaRPr lang="en-US" sz="1300" dirty="0"/>
          </a:p>
        </p:txBody>
      </p:sp>
      <p:sp>
        <p:nvSpPr>
          <p:cNvPr id="18" name="Text 16"/>
          <p:cNvSpPr/>
          <p:nvPr/>
        </p:nvSpPr>
        <p:spPr>
          <a:xfrm>
            <a:off x="438912" y="3675888"/>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Identity (Entra/Okta), email infrastructure (Exchange/Workspace), and productivity suites where switching cost vastly exceeds platform cost. OAAD integrates with these systems; it does not replace them.</a:t>
            </a:r>
            <a:endParaRPr lang="en-US" sz="1000" dirty="0"/>
          </a:p>
        </p:txBody>
      </p:sp>
      <p:sp>
        <p:nvSpPr>
          <p:cNvPr id="19" name="Shape 17"/>
          <p:cNvSpPr/>
          <p:nvPr/>
        </p:nvSpPr>
        <p:spPr>
          <a:xfrm>
            <a:off x="4645152" y="3236976"/>
            <a:ext cx="4206240" cy="1335024"/>
          </a:xfrm>
          <a:prstGeom prst="rect">
            <a:avLst/>
          </a:prstGeom>
          <a:solidFill>
            <a:srgbClr val="161D28"/>
          </a:solidFill>
          <a:ln w="12700">
            <a:solidFill>
              <a:srgbClr val="A371F7"/>
            </a:solidFill>
            <a:prstDash val="solid"/>
          </a:ln>
          <a:effectLst>
            <a:outerShdw sx="100000" sy="100000" kx="0" ky="0" algn="bl" rotWithShape="0" blurRad="101600" dist="38100" dir="8100000">
              <a:srgbClr val="000000">
                <a:alpha val="22000"/>
              </a:srgbClr>
            </a:outerShdw>
          </a:effectLst>
        </p:spPr>
      </p:sp>
      <p:sp>
        <p:nvSpPr>
          <p:cNvPr id="20" name="Shape 18"/>
          <p:cNvSpPr/>
          <p:nvPr/>
        </p:nvSpPr>
        <p:spPr>
          <a:xfrm>
            <a:off x="4645152" y="3236976"/>
            <a:ext cx="4206240" cy="45720"/>
          </a:xfrm>
          <a:prstGeom prst="rect">
            <a:avLst/>
          </a:prstGeom>
          <a:solidFill>
            <a:srgbClr val="A371F7"/>
          </a:solidFill>
          <a:ln w="12700">
            <a:solidFill>
              <a:srgbClr val="A371F7"/>
            </a:solidFill>
            <a:prstDash val="solid"/>
          </a:ln>
        </p:spPr>
      </p:sp>
      <p:sp>
        <p:nvSpPr>
          <p:cNvPr id="21" name="Text 19"/>
          <p:cNvSpPr/>
          <p:nvPr/>
        </p:nvSpPr>
        <p:spPr>
          <a:xfrm>
            <a:off x="4828032" y="3346704"/>
            <a:ext cx="3840480" cy="274320"/>
          </a:xfrm>
          <a:prstGeom prst="rect">
            <a:avLst/>
          </a:prstGeom>
          <a:noFill/>
          <a:ln/>
        </p:spPr>
        <p:txBody>
          <a:bodyPr wrap="square" lIns="0" tIns="0" rIns="0" bIns="0" rtlCol="0" anchor="ctr"/>
          <a:lstStyle/>
          <a:p>
            <a:pPr indent="0" marL="0">
              <a:buNone/>
            </a:pPr>
            <a:r>
              <a:rPr lang="en-US" sz="1300" b="1" dirty="0">
                <a:solidFill>
                  <a:srgbClr val="A371F7"/>
                </a:solidFill>
                <a:latin typeface="Calibri" pitchFamily="34" charset="0"/>
                <a:ea typeface="Calibri" pitchFamily="34" charset="-122"/>
                <a:cs typeface="Calibri" pitchFamily="34" charset="-120"/>
              </a:rPr>
              <a:t>Specialized Engineering Tools</a:t>
            </a:r>
            <a:endParaRPr lang="en-US" sz="1300" dirty="0"/>
          </a:p>
        </p:txBody>
      </p:sp>
      <p:sp>
        <p:nvSpPr>
          <p:cNvPr id="22" name="Text 20"/>
          <p:cNvSpPr/>
          <p:nvPr/>
        </p:nvSpPr>
        <p:spPr>
          <a:xfrm>
            <a:off x="4828032" y="3675888"/>
            <a:ext cx="3840480" cy="822960"/>
          </a:xfrm>
          <a:prstGeom prst="rect">
            <a:avLst/>
          </a:prstGeom>
          <a:noFill/>
          <a:ln/>
        </p:spPr>
        <p:txBody>
          <a:bodyPr wrap="square" lIns="0" tIns="0" rIns="0" bIns="0" rtlCol="0" anchor="ctr"/>
          <a:lstStyle/>
          <a:p>
            <a:pPr indent="0" marL="0">
              <a:buNone/>
            </a:pPr>
            <a:r>
              <a:rPr lang="en-US" sz="1000" dirty="0">
                <a:solidFill>
                  <a:srgbClr val="7D8FA9"/>
                </a:solidFill>
                <a:latin typeface="Calibri" pitchFamily="34" charset="0"/>
                <a:ea typeface="Calibri" pitchFamily="34" charset="-122"/>
                <a:cs typeface="Calibri" pitchFamily="34" charset="-120"/>
              </a:rPr>
              <a:t>CAD, EDA, MBSE authoring tools, specialized scientific computing. These are professional instruments with deep domain integration, not business capability platforms. Outside OAAD scope by design.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OAAD — Open Source Agentic AI DevSecOps</dc:title>
  <dc:subject>PptxGenJS Presentation</dc:subject>
  <dc:creator>PptxGenJS</dc:creator>
  <cp:lastModifiedBy>PptxGenJS</cp:lastModifiedBy>
  <cp:revision>1</cp:revision>
  <dcterms:created xsi:type="dcterms:W3CDTF">2026-05-19T15:42:34Z</dcterms:created>
  <dcterms:modified xsi:type="dcterms:W3CDTF">2026-05-19T15:42:34Z</dcterms:modified>
</cp:coreProperties>
</file>