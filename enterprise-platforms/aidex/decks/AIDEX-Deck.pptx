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188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 ·  ENTERPRISE IT  ·  AGENTIC ERA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AIDEX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822960" y="306324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CBD5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Architecture for Human-Curated,</a:t>
            </a:r>
            <a:endParaRPr lang="en-US" sz="2800" dirty="0"/>
          </a:p>
          <a:p>
            <a:pPr indent="0" marL="0">
              <a:buNone/>
            </a:pPr>
            <a:r>
              <a:rPr lang="en-US" sz="2800" i="1" dirty="0">
                <a:solidFill>
                  <a:srgbClr val="CBD5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AI-Enabled Knowledge Work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822960" y="4663440"/>
            <a:ext cx="1371600" cy="27432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846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James D. Longmire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52578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Northrop Grumman Fellow  ·  Chief Architect, Digital Ecosystems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56235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research. Does not represent any employer or program.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B77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188720" y="411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Strategic Claim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defense industrial base is in a workforce transition,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the substrate of knowledge work is changing at the same time.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2377440"/>
            <a:ext cx="3611880" cy="347472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2377440"/>
            <a:ext cx="3611880" cy="73152"/>
          </a:xfrm>
          <a:prstGeom prst="rect">
            <a:avLst/>
          </a:prstGeom>
          <a:solidFill>
            <a:srgbClr val="553C9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6517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i="1" dirty="0">
                <a:solidFill>
                  <a:srgbClr val="553C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77240" y="32918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Workforce transition is real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406908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engineers retire faster than they can be replaced. Mid-career talent moves. Early-career hires inherit institutional context that took fifteen years to absorb.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2377440"/>
            <a:ext cx="3611880" cy="347472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1" name="Shape 9"/>
          <p:cNvSpPr/>
          <p:nvPr/>
        </p:nvSpPr>
        <p:spPr>
          <a:xfrm>
            <a:off x="4297680" y="2377440"/>
            <a:ext cx="3611880" cy="73152"/>
          </a:xfrm>
          <a:prstGeom prst="rect">
            <a:avLst/>
          </a:prstGeom>
          <a:solidFill>
            <a:srgbClr val="2C7A7B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26517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i="1" dirty="0">
                <a:solidFill>
                  <a:srgbClr val="2C7A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617720" y="32918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substrate has changed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17720" y="406908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capabilities, synthesis, and collaboration substrates compress what was assembly, research, and coordination. The shape of knowledge work is different now.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38160" y="2377440"/>
            <a:ext cx="3611880" cy="347472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6" name="Shape 14"/>
          <p:cNvSpPr/>
          <p:nvPr/>
        </p:nvSpPr>
        <p:spPr>
          <a:xfrm>
            <a:off x="8138160" y="2377440"/>
            <a:ext cx="3611880" cy="73152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17" name="Text 15"/>
          <p:cNvSpPr/>
          <p:nvPr/>
        </p:nvSpPr>
        <p:spPr>
          <a:xfrm>
            <a:off x="8458200" y="26517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i="1" dirty="0">
                <a:solidFill>
                  <a:srgbClr val="B77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8458200" y="32918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Accountability is the frontier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458200" y="406908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Consumer-grade alternatives are not building for accountability. Enterprises that deploy HCAE-aligned substrate deliberately position at a frontier competitors have not reached.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is whether to face this transition with a framework, a subdomain, and a control plane, or without them.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AIDEX  ·  AI Digital Experience under AEON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B77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188720" y="411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Terms, One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247120" cy="141732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137160" cy="1417320"/>
          </a:xfrm>
          <a:prstGeom prst="rect">
            <a:avLst/>
          </a:prstGeom>
          <a:solidFill>
            <a:srgbClr val="553C9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371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53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16459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HCAE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77240" y="22677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Human-Curated, AI-Enabled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383280" y="1417320"/>
            <a:ext cx="8138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practice discipline. The human practitioner curates AI-enabled output, remains the locus of judgment and accountability, and contributes to institutional practice as an attributed and consenting participant.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88920"/>
            <a:ext cx="11247120" cy="141732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2788920"/>
            <a:ext cx="137160" cy="141732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971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SUBDOMAIN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32461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AIDEX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777240" y="38679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Digital Experience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83280" y="3017520"/>
            <a:ext cx="8138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worker-facing substrate. The architecture that expresses HCAE operationally at the digital experience layer. One of nine peer subdomains under AEON.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389120"/>
            <a:ext cx="11247120" cy="141732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4389120"/>
            <a:ext cx="137160" cy="14173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572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7240" y="4846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AEON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777240" y="54681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Enterprise Orchestration Nexus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83280" y="4617720"/>
            <a:ext cx="8138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enterprise control plane for the agentic era. Identity, authority, policy, evidence, integration, and capability composition across all subdomains.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next-generation knowledge worker is the HCAE practitioner operating on the AIDEX substrate under AEON orchestration.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AIDEX  ·  AI Digital Experience under AEON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B77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188720" y="411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AIDEX Sits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AEON orchestrates nine peer subdomains. AIDEX is the worker-facing AI digital experience.</a:t>
            </a:r>
            <a:endParaRPr lang="en-US" sz="1400" dirty="0"/>
          </a:p>
        </p:txBody>
      </p:sp>
      <p:pic>
        <p:nvPicPr>
          <p:cNvPr id="5" name="Image 0" descr="/home/claude/aeon_viewpo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11247120" cy="46488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AIDEX  ·  AI Digital Experience under AEON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B77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188720" y="411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HCAE: The Practice Framework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029200" cy="4846320"/>
          </a:xfrm>
          <a:prstGeom prst="rect">
            <a:avLst/>
          </a:prstGeom>
          <a:solidFill>
            <a:srgbClr val="553C9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5448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Human-</a:t>
            </a:r>
            <a:endParaRPr lang="en-US" sz="4800" dirty="0"/>
          </a:p>
          <a:p>
            <a:pPr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Curated,</a:t>
            </a:r>
            <a:endParaRPr lang="en-US" sz="4800" dirty="0"/>
          </a:p>
          <a:p>
            <a:pPr indent="0" marL="0">
              <a:buNone/>
            </a:pPr>
            <a:r>
              <a:rPr lang="en-US" sz="48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AI-Enabled.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77240" y="4114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9D8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order is not cosmetic.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457200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D8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Human-curated comes first because curation anchors accountability. AI-enabled comes second because enablement is the function of the substrate.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852160" y="118872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53C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Curation, not approval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852160" y="1645920"/>
            <a:ext cx="548640" cy="36576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10" name="Text 8"/>
          <p:cNvSpPr/>
          <p:nvPr/>
        </p:nvSpPr>
        <p:spPr>
          <a:xfrm>
            <a:off x="5852160" y="173736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practitioner engages continuously with substrate output throughout the work. She selects, attributes, revises, and signs. The signature certifies her curation.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852160" y="283464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53C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Risk-tiered curation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852160" y="3291840"/>
            <a:ext cx="548640" cy="36576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13" name="Text 11"/>
          <p:cNvSpPr/>
          <p:nvPr/>
        </p:nvSpPr>
        <p:spPr>
          <a:xfrm>
            <a:off x="5852160" y="338328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Per-action confirmation for consequential work. Batch confirmation for routine work. Sampled audit for low-stakes work. The tier in effect is captured in the audit trail.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852160" y="448056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53C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Accountability is architectural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852160" y="4937760"/>
            <a:ext cx="548640" cy="36576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16" name="Text 14"/>
          <p:cNvSpPr/>
          <p:nvPr/>
        </p:nvSpPr>
        <p:spPr>
          <a:xfrm>
            <a:off x="5852160" y="502920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policy commitment. Every consequential action traces to a human principal through a cryptographically verifiable chain. The substrate enforces it; AEON provides the fabric.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AIDEX  ·  AI Digital Experience under AEON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B77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188720" y="411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AIDEX: The Worker-Facing Substrate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AIDEX does for the practitioner, expressed as the propose-and-confirm posture under HCAE discipline.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532120" cy="475488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71600"/>
            <a:ext cx="5532120" cy="7315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002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AIDEX PROVIDES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77240" y="2057400"/>
            <a:ext cx="137160" cy="13716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20116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Role-shaped substrate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22860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to the worker's actual role, not a generic chat surface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2715768"/>
            <a:ext cx="137160" cy="13716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6700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Modality-flexible interaction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29443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Chat, voice, document, agentic execution across the same session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7240" y="3374136"/>
            <a:ext cx="137160" cy="13716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332841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Propose-and-confirm posture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360273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Consequential actions surface as proposals; curation is captured at the moment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7240" y="4032504"/>
            <a:ext cx="137160" cy="13716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398678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Worker-owned memory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426110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Personalization to the practitioner over time, under her control and consent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77240" y="4690872"/>
            <a:ext cx="137160" cy="13716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21" name="Text 19"/>
          <p:cNvSpPr/>
          <p:nvPr/>
        </p:nvSpPr>
        <p:spPr>
          <a:xfrm>
            <a:off x="1051560" y="46451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 continuity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51560" y="491947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Attributed contribution to her role's accumulated practice across tenure boundaries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77240" y="5349240"/>
            <a:ext cx="137160" cy="13716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24" name="Text 22"/>
          <p:cNvSpPr/>
          <p:nvPr/>
        </p:nvSpPr>
        <p:spPr>
          <a:xfrm>
            <a:off x="1051560" y="53035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Cross-modality state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51560" y="55778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carries between surfaces without forcing the worker to reassemble it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72200" y="1371600"/>
            <a:ext cx="5532120" cy="47548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7" name="Shape 25"/>
          <p:cNvSpPr/>
          <p:nvPr/>
        </p:nvSpPr>
        <p:spPr>
          <a:xfrm>
            <a:off x="6172200" y="1371600"/>
            <a:ext cx="5532120" cy="73152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28" name="Text 26"/>
          <p:cNvSpPr/>
          <p:nvPr/>
        </p:nvSpPr>
        <p:spPr>
          <a:xfrm>
            <a:off x="6492240" y="16002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HCAE PRESERVES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92240" y="2057400"/>
            <a:ext cx="137160" cy="137160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30" name="Text 28"/>
          <p:cNvSpPr/>
          <p:nvPr/>
        </p:nvSpPr>
        <p:spPr>
          <a:xfrm>
            <a:off x="6766560" y="20116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Judgment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766560" y="22860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practitioner remains the locus of professional judgment, not the substrate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92240" y="2715768"/>
            <a:ext cx="137160" cy="137160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33" name="Text 31"/>
          <p:cNvSpPr/>
          <p:nvPr/>
        </p:nvSpPr>
        <p:spPr>
          <a:xfrm>
            <a:off x="6766560" y="26700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766560" y="29443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trace to a human principal who authorized them, not to a dissolving system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92240" y="3374136"/>
            <a:ext cx="137160" cy="137160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36" name="Text 34"/>
          <p:cNvSpPr/>
          <p:nvPr/>
        </p:nvSpPr>
        <p:spPr>
          <a:xfrm>
            <a:off x="6766560" y="332841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standing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766560" y="360273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worker's signature certifies her curation, not the substrate's production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492240" y="4032504"/>
            <a:ext cx="137160" cy="137160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39" name="Text 37"/>
          <p:cNvSpPr/>
          <p:nvPr/>
        </p:nvSpPr>
        <p:spPr>
          <a:xfrm>
            <a:off x="6766560" y="398678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discipline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766560" y="426110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Curation tier is recorded; the institution can verify what discipline applied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92240" y="4690872"/>
            <a:ext cx="137160" cy="137160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42" name="Text 40"/>
          <p:cNvSpPr/>
          <p:nvPr/>
        </p:nvSpPr>
        <p:spPr>
          <a:xfrm>
            <a:off x="6766560" y="46451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766560" y="491947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Contributions to lineage carry the contributor's identity as an attestation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492240" y="5349240"/>
            <a:ext cx="137160" cy="137160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45" name="Text 43"/>
          <p:cNvSpPr/>
          <p:nvPr/>
        </p:nvSpPr>
        <p:spPr>
          <a:xfrm>
            <a:off x="6766560" y="53035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766560" y="55778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and lineage are opt-in, worker-controlled, and revocable within retention limits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AIDEX  ·  AI Digital Experience under AEON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B77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188720" y="411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Modularity Model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independently varying axes. Reconfiguration along one axis does not disturb the others, a precondition for maintainability over defense program timescales.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2743200" cy="214884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9659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2C7A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685800" y="2697480"/>
            <a:ext cx="457200" cy="27432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788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32918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Voice, self-reference, visual identity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783080"/>
            <a:ext cx="2743200" cy="214884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19659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2C7A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3520440" y="2697480"/>
            <a:ext cx="457200" cy="27432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2788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20440" y="32918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character, register, posture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783080"/>
            <a:ext cx="2743200" cy="214884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19659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2C7A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sp>
        <p:nvSpPr>
          <p:cNvPr id="17" name="Shape 15"/>
          <p:cNvSpPr/>
          <p:nvPr/>
        </p:nvSpPr>
        <p:spPr>
          <a:xfrm>
            <a:off x="6355080" y="2697480"/>
            <a:ext cx="457200" cy="27432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18" name="Text 16"/>
          <p:cNvSpPr/>
          <p:nvPr/>
        </p:nvSpPr>
        <p:spPr>
          <a:xfrm>
            <a:off x="6355080" y="2788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355080" y="32918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Role-specific knowledge, tools, workflows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961120" y="1783080"/>
            <a:ext cx="2743200" cy="214884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21" name="Text 19"/>
          <p:cNvSpPr/>
          <p:nvPr/>
        </p:nvSpPr>
        <p:spPr>
          <a:xfrm>
            <a:off x="9189720" y="19659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2C7A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600" dirty="0"/>
          </a:p>
        </p:txBody>
      </p:sp>
      <p:sp>
        <p:nvSpPr>
          <p:cNvPr id="22" name="Shape 20"/>
          <p:cNvSpPr/>
          <p:nvPr/>
        </p:nvSpPr>
        <p:spPr>
          <a:xfrm>
            <a:off x="9189720" y="2697480"/>
            <a:ext cx="457200" cy="27432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23" name="Text 21"/>
          <p:cNvSpPr/>
          <p:nvPr/>
        </p:nvSpPr>
        <p:spPr>
          <a:xfrm>
            <a:off x="9189720" y="2788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Authority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189720" y="32918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that AEON evaluates per action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069080"/>
            <a:ext cx="2743200" cy="214884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42519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2C7A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600" dirty="0"/>
          </a:p>
        </p:txBody>
      </p:sp>
      <p:sp>
        <p:nvSpPr>
          <p:cNvPr id="27" name="Shape 25"/>
          <p:cNvSpPr/>
          <p:nvPr/>
        </p:nvSpPr>
        <p:spPr>
          <a:xfrm>
            <a:off x="685800" y="4983480"/>
            <a:ext cx="457200" cy="27432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5074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85800" y="55778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state across modality surfaces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91840" y="4069080"/>
            <a:ext cx="2743200" cy="214884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31" name="Text 29"/>
          <p:cNvSpPr/>
          <p:nvPr/>
        </p:nvSpPr>
        <p:spPr>
          <a:xfrm>
            <a:off x="3520440" y="42519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2C7A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600" dirty="0"/>
          </a:p>
        </p:txBody>
      </p:sp>
      <p:sp>
        <p:nvSpPr>
          <p:cNvPr id="32" name="Shape 30"/>
          <p:cNvSpPr/>
          <p:nvPr/>
        </p:nvSpPr>
        <p:spPr>
          <a:xfrm>
            <a:off x="3520440" y="4983480"/>
            <a:ext cx="457200" cy="27432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33" name="Text 31"/>
          <p:cNvSpPr/>
          <p:nvPr/>
        </p:nvSpPr>
        <p:spPr>
          <a:xfrm>
            <a:off x="3520440" y="5074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Memory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3520440" y="55778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Worker-owned, opt-in personalization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126480" y="4069080"/>
            <a:ext cx="2743200" cy="214884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36" name="Text 34"/>
          <p:cNvSpPr/>
          <p:nvPr/>
        </p:nvSpPr>
        <p:spPr>
          <a:xfrm>
            <a:off x="6355080" y="42519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2C7A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3600" dirty="0"/>
          </a:p>
        </p:txBody>
      </p:sp>
      <p:sp>
        <p:nvSpPr>
          <p:cNvPr id="37" name="Shape 35"/>
          <p:cNvSpPr/>
          <p:nvPr/>
        </p:nvSpPr>
        <p:spPr>
          <a:xfrm>
            <a:off x="6355080" y="4983480"/>
            <a:ext cx="457200" cy="27432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38" name="Text 36"/>
          <p:cNvSpPr/>
          <p:nvPr/>
        </p:nvSpPr>
        <p:spPr>
          <a:xfrm>
            <a:off x="6355080" y="5074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Modality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355080" y="55778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Chat, voice, document, agentic execution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961120" y="4069080"/>
            <a:ext cx="2743200" cy="214884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41" name="Text 39"/>
          <p:cNvSpPr/>
          <p:nvPr/>
        </p:nvSpPr>
        <p:spPr>
          <a:xfrm>
            <a:off x="9189720" y="42519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2C7A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3600" dirty="0"/>
          </a:p>
        </p:txBody>
      </p:sp>
      <p:sp>
        <p:nvSpPr>
          <p:cNvPr id="42" name="Shape 40"/>
          <p:cNvSpPr/>
          <p:nvPr/>
        </p:nvSpPr>
        <p:spPr>
          <a:xfrm>
            <a:off x="9189720" y="4983480"/>
            <a:ext cx="457200" cy="27432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43" name="Text 41"/>
          <p:cNvSpPr/>
          <p:nvPr/>
        </p:nvSpPr>
        <p:spPr>
          <a:xfrm>
            <a:off x="9189720" y="5074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Lineage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9189720" y="55778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Attributed contribution across tenure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AIDEX  ·  AI Digital Experience under AEON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B77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188720" y="411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AEON: The Enterprise Control Plane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AIDEX consumes AEON services. AEON specifies them as enterprise-wide planes.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3703320" cy="20116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783080"/>
            <a:ext cx="457200" cy="36576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92024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Identity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85800" y="246888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IDAM federation, CAC/PIV, cross-classification continuity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508760"/>
            <a:ext cx="3703320" cy="20116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0" name="Shape 8"/>
          <p:cNvSpPr/>
          <p:nvPr/>
        </p:nvSpPr>
        <p:spPr>
          <a:xfrm>
            <a:off x="4526280" y="1783080"/>
            <a:ext cx="457200" cy="36576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192024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Authority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526280" y="246888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Per-action policy decisions on identity-resolved attributes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38160" y="1508760"/>
            <a:ext cx="3703320" cy="20116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4" name="Shape 12"/>
          <p:cNvSpPr/>
          <p:nvPr/>
        </p:nvSpPr>
        <p:spPr>
          <a:xfrm>
            <a:off x="8366760" y="1783080"/>
            <a:ext cx="457200" cy="36576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15" name="Text 13"/>
          <p:cNvSpPr/>
          <p:nvPr/>
        </p:nvSpPr>
        <p:spPr>
          <a:xfrm>
            <a:off x="8366760" y="192024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Policy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366760" y="246888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Decomposition from enterprise scope into subdomain enforcement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657600"/>
            <a:ext cx="3703320" cy="20116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" y="3931920"/>
            <a:ext cx="457200" cy="36576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406908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Evidence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85800" y="46177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audit picture across all subdomains, cryptographically chained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297680" y="3657600"/>
            <a:ext cx="3703320" cy="20116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2" name="Shape 20"/>
          <p:cNvSpPr/>
          <p:nvPr/>
        </p:nvSpPr>
        <p:spPr>
          <a:xfrm>
            <a:off x="4526280" y="3931920"/>
            <a:ext cx="457200" cy="36576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23" name="Text 21"/>
          <p:cNvSpPr/>
          <p:nvPr/>
        </p:nvSpPr>
        <p:spPr>
          <a:xfrm>
            <a:off x="4526280" y="406908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Integration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4526280" y="46177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Cross-subdomain workflow composition under principal delegation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138160" y="3657600"/>
            <a:ext cx="3703320" cy="20116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6" name="Shape 24"/>
          <p:cNvSpPr/>
          <p:nvPr/>
        </p:nvSpPr>
        <p:spPr>
          <a:xfrm>
            <a:off x="8366760" y="3931920"/>
            <a:ext cx="457200" cy="36576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27" name="Text 25"/>
          <p:cNvSpPr/>
          <p:nvPr/>
        </p:nvSpPr>
        <p:spPr>
          <a:xfrm>
            <a:off x="8366760" y="406908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Capability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8366760" y="46177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Lifecycle, composition, and governance of agentic capabilities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AIDEX does not maintain </a:t>
            </a:r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own user store, its own policy engine, its own audit infrastructure, or its own vendor governance. 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AEON provides these as services that AIDEX consumes.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AIDEX  ·  AI Digital Experience under AEON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B77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188720" y="411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Cowork as Deployed Reference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Cowork (Anthropic, GA April 2026) is the working reference for the productivity layer. AIDEX is not Cowork, but the concept can be developed against a deployed baseline rather than against speculation.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3749040" cy="438912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691640"/>
            <a:ext cx="3749040" cy="548640"/>
          </a:xfrm>
          <a:prstGeom prst="rect">
            <a:avLst/>
          </a:prstGeom>
          <a:solidFill>
            <a:srgbClr val="2C7A7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83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Cowork Demonstrates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560320"/>
            <a:ext cx="164592" cy="164592"/>
          </a:xfrm>
          <a:prstGeom prst="ellipse">
            <a:avLst/>
          </a:prstGeom>
          <a:solidFill>
            <a:srgbClr val="2C7A7B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4688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Sandboxed VM, MCP integration, plugin architecture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3429000"/>
            <a:ext cx="164592" cy="164592"/>
          </a:xfrm>
          <a:prstGeom prst="ellipse">
            <a:avLst/>
          </a:prstGeom>
          <a:solidFill>
            <a:srgbClr val="2C7A7B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3375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governance posture and audit hooks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4297680"/>
            <a:ext cx="164592" cy="164592"/>
          </a:xfrm>
          <a:prstGeom prst="ellipse">
            <a:avLst/>
          </a:prstGeom>
          <a:solidFill>
            <a:srgbClr val="2C7A7B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42062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 context, multi-modal interaction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5166360"/>
            <a:ext cx="164592" cy="164592"/>
          </a:xfrm>
          <a:prstGeom prst="ellipse">
            <a:avLst/>
          </a:prstGeom>
          <a:solidFill>
            <a:srgbClr val="2C7A7B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50749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Outcome-oriented agentic execution at scale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97680" y="1691640"/>
            <a:ext cx="3749040" cy="438912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7" name="Shape 15"/>
          <p:cNvSpPr/>
          <p:nvPr/>
        </p:nvSpPr>
        <p:spPr>
          <a:xfrm>
            <a:off x="4297680" y="1691640"/>
            <a:ext cx="3749040" cy="548640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0" y="1783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Cowork Falls Short on HCAE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0" y="2560320"/>
            <a:ext cx="164592" cy="164592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24688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deep IDAM binding to enterprise identity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0" y="3429000"/>
            <a:ext cx="164592" cy="164592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33375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long-arc worker-owned memory layer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0" y="4297680"/>
            <a:ext cx="164592" cy="164592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42062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attributed lineage continuity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0" y="5166360"/>
            <a:ext cx="164592" cy="164592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50749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classification deployment story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138160" y="1691640"/>
            <a:ext cx="3749040" cy="438912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28" name="Shape 26"/>
          <p:cNvSpPr/>
          <p:nvPr/>
        </p:nvSpPr>
        <p:spPr>
          <a:xfrm>
            <a:off x="8138160" y="1691640"/>
            <a:ext cx="3749040" cy="548640"/>
          </a:xfrm>
          <a:prstGeom prst="rect">
            <a:avLst/>
          </a:prstGeom>
          <a:solidFill>
            <a:srgbClr val="553C9A"/>
          </a:solidFill>
          <a:ln/>
        </p:spPr>
      </p:sp>
      <p:sp>
        <p:nvSpPr>
          <p:cNvPr id="29" name="Text 27"/>
          <p:cNvSpPr/>
          <p:nvPr/>
        </p:nvSpPr>
        <p:spPr>
          <a:xfrm>
            <a:off x="8412480" y="1783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Migration Path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412480" y="2560320"/>
            <a:ext cx="164592" cy="164592"/>
          </a:xfrm>
          <a:prstGeom prst="ellipse">
            <a:avLst/>
          </a:prstGeom>
          <a:solidFill>
            <a:srgbClr val="553C9A"/>
          </a:solidFill>
          <a:ln/>
        </p:spPr>
      </p:sp>
      <p:sp>
        <p:nvSpPr>
          <p:cNvPr id="31" name="Text 29"/>
          <p:cNvSpPr/>
          <p:nvPr/>
        </p:nvSpPr>
        <p:spPr>
          <a:xfrm>
            <a:off x="8686800" y="24688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deploy Cowork-class baseline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412480" y="3429000"/>
            <a:ext cx="164592" cy="164592"/>
          </a:xfrm>
          <a:prstGeom prst="ellipse">
            <a:avLst/>
          </a:prstGeom>
          <a:solidFill>
            <a:srgbClr val="553C9A"/>
          </a:solidFill>
          <a:ln/>
        </p:spPr>
      </p:sp>
      <p:sp>
        <p:nvSpPr>
          <p:cNvPr id="33" name="Text 31"/>
          <p:cNvSpPr/>
          <p:nvPr/>
        </p:nvSpPr>
        <p:spPr>
          <a:xfrm>
            <a:off x="8686800" y="33375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AEON control plane integration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412480" y="4297680"/>
            <a:ext cx="164592" cy="164592"/>
          </a:xfrm>
          <a:prstGeom prst="ellipse">
            <a:avLst/>
          </a:prstGeom>
          <a:solidFill>
            <a:srgbClr val="553C9A"/>
          </a:solidFill>
          <a:ln/>
        </p:spPr>
      </p:sp>
      <p:sp>
        <p:nvSpPr>
          <p:cNvPr id="35" name="Text 33"/>
          <p:cNvSpPr/>
          <p:nvPr/>
        </p:nvSpPr>
        <p:spPr>
          <a:xfrm>
            <a:off x="8686800" y="42062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role packaging and SoR integration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412480" y="5166360"/>
            <a:ext cx="164592" cy="164592"/>
          </a:xfrm>
          <a:prstGeom prst="ellipse">
            <a:avLst/>
          </a:prstGeom>
          <a:solidFill>
            <a:srgbClr val="553C9A"/>
          </a:solidFill>
          <a:ln/>
        </p:spPr>
      </p:sp>
      <p:sp>
        <p:nvSpPr>
          <p:cNvPr id="37" name="Text 35"/>
          <p:cNvSpPr/>
          <p:nvPr/>
        </p:nvSpPr>
        <p:spPr>
          <a:xfrm>
            <a:off x="8686800" y="50749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4-6: memory, lineage, multi-backend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7200" y="62179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Substrate portability is an architectural commitment. The next generation will be different; the architecture has to survive the transition.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AIDEX  ·  AI Digital Experience under AEON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B77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188720" y="411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Multi-Backend Deployment Topology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AIDEX supports multiple model backends simultaneously, mapped to classification environments. Not a binary cloud-vs-on-premises choice.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5532120" cy="219456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508760"/>
            <a:ext cx="137160" cy="2194560"/>
          </a:xfrm>
          <a:prstGeom prst="rect">
            <a:avLst/>
          </a:prstGeom>
          <a:solidFill>
            <a:srgbClr val="2C7A7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73736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UNCLASSIFIED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201168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Commercial Cloud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256032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commercial models. Highest capability. Strategic and administrative work outside controlled environments.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1508760"/>
            <a:ext cx="5532120" cy="219456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1" name="Shape 9"/>
          <p:cNvSpPr/>
          <p:nvPr/>
        </p:nvSpPr>
        <p:spPr>
          <a:xfrm>
            <a:off x="6172200" y="1508760"/>
            <a:ext cx="137160" cy="21945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173736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 / FEDRAMP HIGH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537960" y="201168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GovCloud Commercial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537960" y="256032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vendor models in compliant clouds. Capability-comparable to commercial. Controlled unclassified work under federal compliance.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840480"/>
            <a:ext cx="5532120" cy="219456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3840480"/>
            <a:ext cx="137160" cy="2194560"/>
          </a:xfrm>
          <a:prstGeom prst="rect">
            <a:avLst/>
          </a:prstGeom>
          <a:solidFill>
            <a:srgbClr val="553C9A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06908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53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NOFORN / AIR-GAPPED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" y="434340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On-Prem Open-Weight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22960" y="489204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Llama-class open-weight in customer-controlled environments. Capability gap real but narrowing. Western defense default.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2200" y="3840480"/>
            <a:ext cx="5532120" cy="219456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21" name="Shape 19"/>
          <p:cNvSpPr/>
          <p:nvPr/>
        </p:nvSpPr>
        <p:spPr>
          <a:xfrm>
            <a:off x="6172200" y="3840480"/>
            <a:ext cx="137160" cy="2194560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22" name="Text 20"/>
          <p:cNvSpPr/>
          <p:nvPr/>
        </p:nvSpPr>
        <p:spPr>
          <a:xfrm>
            <a:off x="6537960" y="406908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ENCLAVED / CLASSIFIED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37960" y="434340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0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On-Prem Commercial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537960" y="489204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Vendor-licensed commercial models deployed in enclaves. Where available; vendor and program-specific arrangement.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126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experience identity continuity across environments. AEON's identity plane federates; AIDEX presents a coherent substrate.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AIDEX  ·  AI Digital Experience under AEON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B77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188720" y="411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Accountability Frontier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1247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Consumer-grade alternatives are not building for accountability.</a:t>
            </a:r>
            <a:endParaRPr lang="en-US" sz="2600" dirty="0"/>
          </a:p>
          <a:p>
            <a:pPr indent="0" marL="0">
              <a:buNone/>
            </a:pPr>
            <a:r>
              <a:rPr lang="en-US" sz="2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consumer market does not require it.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2880360"/>
            <a:ext cx="1371600" cy="36576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108960"/>
            <a:ext cx="11247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defense enterprise that deploys substrate without HCAE-aligned accountability is deploying a system that may produce outputs the institution cannot govern.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4572000"/>
            <a:ext cx="3703320" cy="169164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4572000"/>
            <a:ext cx="3703320" cy="54864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48006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Workforce continuity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530352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 compounds across tenure; institutional knowledge stops evaporating at retirement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97680" y="4572000"/>
            <a:ext cx="3703320" cy="169164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2" name="Shape 10"/>
          <p:cNvSpPr/>
          <p:nvPr/>
        </p:nvSpPr>
        <p:spPr>
          <a:xfrm>
            <a:off x="4297680" y="4572000"/>
            <a:ext cx="3703320" cy="54864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13" name="Text 11"/>
          <p:cNvSpPr/>
          <p:nvPr/>
        </p:nvSpPr>
        <p:spPr>
          <a:xfrm>
            <a:off x="4526280" y="48006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 quality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26280" y="530352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Curation discipline raises the floor on what reaches signed work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38160" y="4572000"/>
            <a:ext cx="3703320" cy="169164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6" name="Shape 14"/>
          <p:cNvSpPr/>
          <p:nvPr/>
        </p:nvSpPr>
        <p:spPr>
          <a:xfrm>
            <a:off x="8138160" y="4572000"/>
            <a:ext cx="3703320" cy="54864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17" name="Text 15"/>
          <p:cNvSpPr/>
          <p:nvPr/>
        </p:nvSpPr>
        <p:spPr>
          <a:xfrm>
            <a:off x="8366760" y="48006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Positional advantage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66760" y="530352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infrastructure competitors have not built and the consumer market is not building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AIDEX  ·  AI Digital Experience under AEON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B77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188720" y="411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Asks of the Enterprise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IT leadership is the natural owner. Success depends on partnership across the institution.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2788920" cy="457200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508760"/>
            <a:ext cx="2788920" cy="10972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6916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" y="19659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 IT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27889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ASKED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85800" y="3401568"/>
            <a:ext cx="137160" cy="27432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10896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AEON control plane integration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4315968"/>
            <a:ext cx="137160" cy="27432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02336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Multi-backend deployment topology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5230368"/>
            <a:ext cx="137160" cy="27432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93776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AIDEX substrate package and lifecycle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37560" y="1508760"/>
            <a:ext cx="2788920" cy="457200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7" name="Shape 15"/>
          <p:cNvSpPr/>
          <p:nvPr/>
        </p:nvSpPr>
        <p:spPr>
          <a:xfrm>
            <a:off x="3337560" y="1508760"/>
            <a:ext cx="2788920" cy="1097280"/>
          </a:xfrm>
          <a:prstGeom prst="rect">
            <a:avLst/>
          </a:prstGeom>
          <a:solidFill>
            <a:srgbClr val="553C9A"/>
          </a:solidFill>
          <a:ln/>
        </p:spPr>
      </p:sp>
      <p:sp>
        <p:nvSpPr>
          <p:cNvPr id="18" name="Text 16"/>
          <p:cNvSpPr/>
          <p:nvPr/>
        </p:nvSpPr>
        <p:spPr>
          <a:xfrm>
            <a:off x="3566160" y="16916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OWNERSHIP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566160" y="19659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 Resources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566160" y="27889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553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ASKED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566160" y="3401568"/>
            <a:ext cx="137160" cy="27432"/>
          </a:xfrm>
          <a:prstGeom prst="rect">
            <a:avLst/>
          </a:prstGeom>
          <a:solidFill>
            <a:srgbClr val="553C9A"/>
          </a:solidFill>
          <a:ln/>
        </p:spPr>
      </p:sp>
      <p:sp>
        <p:nvSpPr>
          <p:cNvPr id="22" name="Text 20"/>
          <p:cNvSpPr/>
          <p:nvPr/>
        </p:nvSpPr>
        <p:spPr>
          <a:xfrm>
            <a:off x="3749040" y="310896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and lineage consent framework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566160" y="4315968"/>
            <a:ext cx="137160" cy="27432"/>
          </a:xfrm>
          <a:prstGeom prst="rect">
            <a:avLst/>
          </a:prstGeom>
          <a:solidFill>
            <a:srgbClr val="553C9A"/>
          </a:solidFill>
          <a:ln/>
        </p:spPr>
      </p:sp>
      <p:sp>
        <p:nvSpPr>
          <p:cNvPr id="24" name="Text 22"/>
          <p:cNvSpPr/>
          <p:nvPr/>
        </p:nvSpPr>
        <p:spPr>
          <a:xfrm>
            <a:off x="3749040" y="402336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attribution policy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566160" y="5230368"/>
            <a:ext cx="137160" cy="27432"/>
          </a:xfrm>
          <a:prstGeom prst="rect">
            <a:avLst/>
          </a:prstGeom>
          <a:solidFill>
            <a:srgbClr val="553C9A"/>
          </a:solidFill>
          <a:ln/>
        </p:spPr>
      </p:sp>
      <p:sp>
        <p:nvSpPr>
          <p:cNvPr id="26" name="Text 24"/>
          <p:cNvSpPr/>
          <p:nvPr/>
        </p:nvSpPr>
        <p:spPr>
          <a:xfrm>
            <a:off x="3749040" y="493776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contribution revocation rights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17920" y="1508760"/>
            <a:ext cx="2788920" cy="457200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28" name="Shape 26"/>
          <p:cNvSpPr/>
          <p:nvPr/>
        </p:nvSpPr>
        <p:spPr>
          <a:xfrm>
            <a:off x="6217920" y="1508760"/>
            <a:ext cx="2788920" cy="1097280"/>
          </a:xfrm>
          <a:prstGeom prst="rect">
            <a:avLst/>
          </a:prstGeom>
          <a:solidFill>
            <a:srgbClr val="2C7A7B"/>
          </a:solidFill>
          <a:ln/>
        </p:spPr>
      </p:sp>
      <p:sp>
        <p:nvSpPr>
          <p:cNvPr id="29" name="Text 27"/>
          <p:cNvSpPr/>
          <p:nvPr/>
        </p:nvSpPr>
        <p:spPr>
          <a:xfrm>
            <a:off x="6446520" y="16916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46520" y="19659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Chief Learning Officer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446520" y="27889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ASKED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446520" y="3401568"/>
            <a:ext cx="137160" cy="27432"/>
          </a:xfrm>
          <a:prstGeom prst="rect">
            <a:avLst/>
          </a:prstGeom>
          <a:solidFill>
            <a:srgbClr val="2C7A7B"/>
          </a:solidFill>
          <a:ln/>
        </p:spPr>
      </p:sp>
      <p:sp>
        <p:nvSpPr>
          <p:cNvPr id="33" name="Text 31"/>
          <p:cNvSpPr/>
          <p:nvPr/>
        </p:nvSpPr>
        <p:spPr>
          <a:xfrm>
            <a:off x="6629400" y="310896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HCAE practice training program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46520" y="4315968"/>
            <a:ext cx="137160" cy="27432"/>
          </a:xfrm>
          <a:prstGeom prst="rect">
            <a:avLst/>
          </a:prstGeom>
          <a:solidFill>
            <a:srgbClr val="2C7A7B"/>
          </a:solidFill>
          <a:ln/>
        </p:spPr>
      </p:sp>
      <p:sp>
        <p:nvSpPr>
          <p:cNvPr id="35" name="Text 33"/>
          <p:cNvSpPr/>
          <p:nvPr/>
        </p:nvSpPr>
        <p:spPr>
          <a:xfrm>
            <a:off x="6629400" y="402336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Curation discipline as professional skill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446520" y="5230368"/>
            <a:ext cx="137160" cy="27432"/>
          </a:xfrm>
          <a:prstGeom prst="rect">
            <a:avLst/>
          </a:prstGeom>
          <a:solidFill>
            <a:srgbClr val="2C7A7B"/>
          </a:solidFill>
          <a:ln/>
        </p:spPr>
      </p:sp>
      <p:sp>
        <p:nvSpPr>
          <p:cNvPr id="37" name="Text 35"/>
          <p:cNvSpPr/>
          <p:nvPr/>
        </p:nvSpPr>
        <p:spPr>
          <a:xfrm>
            <a:off x="6629400" y="493776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practitioner certification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9098280" y="1508760"/>
            <a:ext cx="2788920" cy="457200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39" name="Shape 37"/>
          <p:cNvSpPr/>
          <p:nvPr/>
        </p:nvSpPr>
        <p:spPr>
          <a:xfrm>
            <a:off x="9098280" y="1508760"/>
            <a:ext cx="2788920" cy="1097280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40" name="Text 38"/>
          <p:cNvSpPr/>
          <p:nvPr/>
        </p:nvSpPr>
        <p:spPr>
          <a:xfrm>
            <a:off x="9326880" y="16916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9326880" y="19659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 Leadership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9326880" y="27889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ASKED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9326880" y="3401568"/>
            <a:ext cx="137160" cy="27432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44" name="Text 42"/>
          <p:cNvSpPr/>
          <p:nvPr/>
        </p:nvSpPr>
        <p:spPr>
          <a:xfrm>
            <a:off x="9509760" y="310896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role and program selection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9326880" y="4315968"/>
            <a:ext cx="137160" cy="27432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46" name="Text 44"/>
          <p:cNvSpPr/>
          <p:nvPr/>
        </p:nvSpPr>
        <p:spPr>
          <a:xfrm>
            <a:off x="9509760" y="402336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of record integration scope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9326880" y="5230368"/>
            <a:ext cx="137160" cy="27432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48" name="Text 46"/>
          <p:cNvSpPr/>
          <p:nvPr/>
        </p:nvSpPr>
        <p:spPr>
          <a:xfrm>
            <a:off x="9509760" y="493776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metrics and validation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AIDEX  ·  AI Digital Experience under AEON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3657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B77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508760" y="411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 Frame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12801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next step is a deployment design.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B77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22860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 target role and a target program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7889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B77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17320" y="27889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the backend topology for that program's classification environment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32918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B77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17320" y="32918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AIDEX with AEON's control plane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379476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B77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17320" y="37947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HCAE training and worker-ownership commitments in policy and contract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77240" y="429768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B77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17320" y="42976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metrics that validate (or falsify) the strategic argument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77240" y="48006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B77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7320" y="48006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modularity model against actual practice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77240" y="5623560"/>
            <a:ext cx="914400" cy="36576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57607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BD5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workforce transition is happening on its own timeline.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CBD5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question is whether to face it with the framework, the subdomain, and the control plane, or without them.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AIDEX  ·  AI Digital Experience under AEON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AIDEX: An Architecture for Human-Curated, AI-Enabled Knowledge Work</dc:title>
  <dc:subject>PptxGenJS Presentation</dc:subject>
  <dc:creator>James D. Longmire</dc:creator>
  <cp:lastModifiedBy>James D. Longmire</cp:lastModifiedBy>
  <cp:revision>1</cp:revision>
  <dcterms:created xsi:type="dcterms:W3CDTF">2026-05-20T17:49:01Z</dcterms:created>
  <dcterms:modified xsi:type="dcterms:W3CDTF">2026-05-20T17:49:01Z</dcterms:modified>
</cp:coreProperties>
</file>