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Umbrella strategy paper condensed to a decision deck. The argument in three moves: the threat (ungoverned composition is happening now), the differentiation (enterprise ownership plus four-plane holism, with a capability asymmetry no vendor can match), and the decision (fund Level 1 plus a discovery, not a full transformation). Addressed first to defense and regulated enterprises.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away from tools. Every CIO is being asked 'which agent platform' — wrong question. The accountability that used to live in the human at the keyboard dissolves into a system never designed to hold it. The real decision is architectural: deliberate governed composition, or accidental vendor-shaped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copilot, same usefulness. The only difference is whether the accountability primitives are present when it acts. This is the entire case for governing composition, made concrete on a single ordinary transaction. Hold this image; it's what Level 1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governs how capability composes (AEON). Runtime supplies the AI substrate. Experience makes AI-enabled work accountable for the worker (AIDEX). Capability lets the enterprise own its business systems rather than rent them (OAAD). Domain squads consume all four. The distinctive move is the separation: most vendors collapse two or more into one rented platform, and that collapse is where lock-in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the control plane openly — claiming we invented it gets us dismissed by anyone who reads Bain. Riding a validated wave is stronger than claiming a lonely insight. Sources: Google Cloud Blog and SAP News Center (primary vendor announcements), Bain (analyst). The differentiation is ownership and holism, not novelty.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is contested but real. Holism is genuinely uncommon, and one piece of it — the capability plane — is structurally impossible for any incumbent to offer. That second point is the strongest single claim in the deck and gets its own slide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un-copyable moat. Note the discipline: the hard-perimeter move is specifically SAP's; Salesforce and ServiceNow steer more quietly. Don't overclaim a uniform pattern. The boundary (next slide's model) keeps this from reading as reckless ERP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EA-rigorous artifact that turns advocacy into architecture. Rows are business capabilities; columns are ownership and displacement phase. Sequenced by entanglement: software delivery and ITSM first, ERP and regulated security last. Boundary is explicit: regulated cores, hyperscaler foundational services, and specialized instruments are integrated, not displaced. Nothing here is early ERP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funding wedge is Level 1: governed runtime plus control-plane primitives, bundled. The most important design decision in the whole model, promoted to a named rule. The enterprise can stop at any level and keep the value below it. Capability transformation (Level 4) comes last,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move at once — unit of work, core skill, where intelligence accrues — which is why this is an identity change, not a task change. The line that travels: Enterprise IT stops being the integrator of rented intelligence and becomes the lifecycle owner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the boundary protects credibility. For a commercial enterprise without these pressures, a vendor control plane may be the rational choice — say so. The architecture's case is strongest exactly where defense and regulated pressures are highest. This honesty is what makes the rest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strategy that hides its weak points does the reader a disservice. The OSS-equivalence claim is the one to watch and is hedged everywhere in the paper. Naming the risks plainly is what earns trust for the rest of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small: Level 1 plus discovery. Everything above is a later decision made with better information. This separation is what lets a cautious executive say yes today without betting the enterprise on the destination. Close on 'the decision is whether to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lines to carry out of the room, after the measured case has earned them. Maxim 1 is the Level 1 Rule in plain speech: verify, authorize, audit is identity, authority, evidence. Maxim 2 is the ownership thesis. Note the reframing of the first maxim: it is a governance stance, not a refusal to adopt AI. The point is not to avoid AI but to deny it unearned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A"/>
        </a:solidFill>
      </p:bgPr>
    </p:bg>
    <p:spTree>
      <p:nvGrpSpPr>
        <p:cNvPr id="1" name=""/>
        <p:cNvGrpSpPr/>
        <p:nvPr/>
      </p:nvGrpSpPr>
      <p:grpSpPr>
        <a:xfrm>
          <a:off x="0" y="0"/>
          <a:ext cx="0" cy="0"/>
          <a:chOff x="0" y="0"/>
          <a:chExt cx="0" cy="0"/>
        </a:xfrm>
      </p:grpSpPr>
      <p:sp>
        <p:nvSpPr>
          <p:cNvPr id="2" name="Text 0"/>
          <p:cNvSpPr/>
          <p:nvPr/>
        </p:nvSpPr>
        <p:spPr>
          <a:xfrm>
            <a:off x="640080" y="1828800"/>
            <a:ext cx="10881360" cy="640080"/>
          </a:xfrm>
          <a:prstGeom prst="rect">
            <a:avLst/>
          </a:prstGeom>
          <a:noFill/>
          <a:ln/>
        </p:spPr>
        <p:txBody>
          <a:bodyPr wrap="square" lIns="0" tIns="0" rIns="0" bIns="0" rtlCol="0" anchor="ctr"/>
          <a:lstStyle/>
          <a:p>
            <a:pPr indent="0" marL="0">
              <a:buNone/>
            </a:pPr>
            <a:r>
              <a:rPr lang="en-US" sz="4000" b="1" spc="100" kern="0" dirty="0">
                <a:solidFill>
                  <a:srgbClr val="FFFFFF"/>
                </a:solidFill>
                <a:latin typeface="Georgia" pitchFamily="34" charset="0"/>
                <a:ea typeface="Georgia" pitchFamily="34" charset="-122"/>
                <a:cs typeface="Georgia" pitchFamily="34" charset="-120"/>
              </a:rPr>
              <a:t>THE ENTERPRISE AGENTIC</a:t>
            </a:r>
            <a:endParaRPr lang="en-US" sz="4000" dirty="0"/>
          </a:p>
        </p:txBody>
      </p:sp>
      <p:sp>
        <p:nvSpPr>
          <p:cNvPr id="3" name="Text 1"/>
          <p:cNvSpPr/>
          <p:nvPr/>
        </p:nvSpPr>
        <p:spPr>
          <a:xfrm>
            <a:off x="640080" y="2514600"/>
            <a:ext cx="10881360" cy="640080"/>
          </a:xfrm>
          <a:prstGeom prst="rect">
            <a:avLst/>
          </a:prstGeom>
          <a:noFill/>
          <a:ln/>
        </p:spPr>
        <p:txBody>
          <a:bodyPr wrap="square" lIns="0" tIns="0" rIns="0" bIns="0" rtlCol="0" anchor="ctr"/>
          <a:lstStyle/>
          <a:p>
            <a:pPr indent="0" marL="0">
              <a:buNone/>
            </a:pPr>
            <a:r>
              <a:rPr lang="en-US" sz="4000" b="1" spc="100" kern="0" dirty="0">
                <a:solidFill>
                  <a:srgbClr val="FFFFFF"/>
                </a:solidFill>
                <a:latin typeface="Georgia" pitchFamily="34" charset="0"/>
                <a:ea typeface="Georgia" pitchFamily="34" charset="-122"/>
                <a:cs typeface="Georgia" pitchFamily="34" charset="-120"/>
              </a:rPr>
              <a:t>PLATFORM ARCHITECTURE</a:t>
            </a:r>
            <a:endParaRPr lang="en-US" sz="4000" dirty="0"/>
          </a:p>
        </p:txBody>
      </p:sp>
      <p:sp>
        <p:nvSpPr>
          <p:cNvPr id="4" name="Text 2"/>
          <p:cNvSpPr/>
          <p:nvPr/>
        </p:nvSpPr>
        <p:spPr>
          <a:xfrm>
            <a:off x="640080" y="3383280"/>
            <a:ext cx="10881360" cy="457200"/>
          </a:xfrm>
          <a:prstGeom prst="rect">
            <a:avLst/>
          </a:prstGeom>
          <a:noFill/>
          <a:ln/>
        </p:spPr>
        <p:txBody>
          <a:bodyPr wrap="square" lIns="0" tIns="0" rIns="0" bIns="0" rtlCol="0" anchor="ctr"/>
          <a:lstStyle/>
          <a:p>
            <a:pPr indent="0" marL="0">
              <a:buNone/>
            </a:pPr>
            <a:r>
              <a:rPr lang="en-US" sz="1900" i="1" dirty="0">
                <a:solidFill>
                  <a:srgbClr val="CADCFC"/>
                </a:solidFill>
                <a:latin typeface="Georgia" pitchFamily="34" charset="0"/>
                <a:ea typeface="Georgia" pitchFamily="34" charset="-122"/>
                <a:cs typeface="Georgia" pitchFamily="34" charset="-120"/>
              </a:rPr>
              <a:t>Control, Runtime, Experience, and Capability Planes for Governed AI Adoption</a:t>
            </a:r>
            <a:endParaRPr lang="en-US" sz="1900" dirty="0"/>
          </a:p>
        </p:txBody>
      </p:sp>
      <p:sp>
        <p:nvSpPr>
          <p:cNvPr id="5" name="Shape 3"/>
          <p:cNvSpPr/>
          <p:nvPr/>
        </p:nvSpPr>
        <p:spPr>
          <a:xfrm>
            <a:off x="640080" y="3977640"/>
            <a:ext cx="1280160" cy="45720"/>
          </a:xfrm>
          <a:prstGeom prst="rect">
            <a:avLst/>
          </a:prstGeom>
          <a:solidFill>
            <a:srgbClr val="B5481F"/>
          </a:solidFill>
          <a:ln/>
        </p:spPr>
      </p:sp>
      <p:sp>
        <p:nvSpPr>
          <p:cNvPr id="6" name="Text 4"/>
          <p:cNvSpPr/>
          <p:nvPr/>
        </p:nvSpPr>
        <p:spPr>
          <a:xfrm>
            <a:off x="640080" y="4297680"/>
            <a:ext cx="10881360" cy="1097280"/>
          </a:xfrm>
          <a:prstGeom prst="rect">
            <a:avLst/>
          </a:prstGeom>
          <a:noFill/>
          <a:ln/>
        </p:spPr>
        <p:txBody>
          <a:bodyPr wrap="square" lIns="0" tIns="0" rIns="0" bIns="0" rtlCol="0" anchor="ctr"/>
          <a:lstStyle/>
          <a:p>
            <a:pPr indent="0" marL="0">
              <a:lnSpc>
                <a:spcPct val="120000"/>
              </a:lnSpc>
              <a:buNone/>
            </a:pPr>
            <a:r>
              <a:rPr lang="en-US" sz="1500" b="1" dirty="0">
                <a:solidFill>
                  <a:srgbClr val="FFFFFF"/>
                </a:solidFill>
                <a:latin typeface="Calibri" pitchFamily="34" charset="0"/>
                <a:ea typeface="Calibri" pitchFamily="34" charset="-122"/>
                <a:cs typeface="Calibri" pitchFamily="34" charset="-120"/>
              </a:rPr>
              <a:t>James D. Longmire</a:t>
            </a:r>
            <a:endParaRPr lang="en-US" sz="15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Northrop Grumman Fellow  ·  Chief Architect, Digital Ecosystems</a:t>
            </a:r>
            <a:endParaRPr lang="en-US" sz="1500" dirty="0"/>
          </a:p>
          <a:p>
            <a:pPr indent="0" marL="0">
              <a:lnSpc>
                <a:spcPct val="120000"/>
              </a:lnSpc>
              <a:buNone/>
            </a:pPr>
            <a:r>
              <a:rPr lang="en-US" sz="1200" dirty="0">
                <a:solidFill>
                  <a:srgbClr val="8A94A3"/>
                </a:solidFill>
                <a:latin typeface="Calibri" pitchFamily="34" charset="0"/>
                <a:ea typeface="Calibri" pitchFamily="34" charset="-122"/>
                <a:cs typeface="Calibri" pitchFamily="34" charset="-120"/>
              </a:rPr>
              <a:t>Independent research  ·  May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C6E8F"/>
                </a:solidFill>
                <a:latin typeface="Calibri" pitchFamily="34" charset="0"/>
                <a:ea typeface="Calibri" pitchFamily="34" charset="-122"/>
                <a:cs typeface="Calibri" pitchFamily="34" charset="-120"/>
              </a:rPr>
              <a:t>THE QUESTION ON THE TABLE</a:t>
            </a:r>
            <a:endParaRPr lang="en-US" sz="1200" dirty="0"/>
          </a:p>
        </p:txBody>
      </p:sp>
      <p:sp>
        <p:nvSpPr>
          <p:cNvPr id="3" name="Text 1"/>
          <p:cNvSpPr/>
          <p:nvPr/>
        </p:nvSpPr>
        <p:spPr>
          <a:xfrm>
            <a:off x="640080" y="1371600"/>
            <a:ext cx="10881360" cy="1280160"/>
          </a:xfrm>
          <a:prstGeom prst="rect">
            <a:avLst/>
          </a:prstGeom>
          <a:noFill/>
          <a:ln/>
        </p:spPr>
        <p:txBody>
          <a:bodyPr wrap="square" lIns="0" tIns="0" rIns="0" bIns="0" rtlCol="0" anchor="ctr"/>
          <a:lstStyle/>
          <a:p>
            <a:pPr indent="0" marL="0">
              <a:lnSpc>
                <a:spcPct val="115000"/>
              </a:lnSpc>
              <a:buNone/>
            </a:pPr>
            <a:r>
              <a:rPr lang="en-US" sz="2600" dirty="0">
                <a:solidFill>
                  <a:srgbClr val="5A6473"/>
                </a:solidFill>
                <a:latin typeface="Georgia" pitchFamily="34" charset="0"/>
                <a:ea typeface="Georgia" pitchFamily="34" charset="-122"/>
                <a:cs typeface="Georgia" pitchFamily="34" charset="-120"/>
              </a:rPr>
              <a:t>The decision is not whether to adopt agentic AI.</a:t>
            </a:r>
            <a:endParaRPr lang="en-US" sz="2600" dirty="0"/>
          </a:p>
          <a:p>
            <a:pPr indent="0" marL="0">
              <a:lnSpc>
                <a:spcPct val="115000"/>
              </a:lnSpc>
              <a:buNone/>
            </a:pPr>
            <a:r>
              <a:rPr lang="en-US" sz="2600" dirty="0">
                <a:solidFill>
                  <a:srgbClr val="5A6473"/>
                </a:solidFill>
                <a:latin typeface="Georgia" pitchFamily="34" charset="0"/>
                <a:ea typeface="Georgia" pitchFamily="34" charset="-122"/>
                <a:cs typeface="Georgia" pitchFamily="34" charset="-120"/>
              </a:rPr>
              <a:t>That is already happening on its own momentum.</a:t>
            </a:r>
            <a:endParaRPr lang="en-US" sz="2600" dirty="0"/>
          </a:p>
        </p:txBody>
      </p:sp>
      <p:sp>
        <p:nvSpPr>
          <p:cNvPr id="4" name="Text 2"/>
          <p:cNvSpPr/>
          <p:nvPr/>
        </p:nvSpPr>
        <p:spPr>
          <a:xfrm>
            <a:off x="640080" y="2834640"/>
            <a:ext cx="10881360" cy="1188720"/>
          </a:xfrm>
          <a:prstGeom prst="rect">
            <a:avLst/>
          </a:prstGeom>
          <a:noFill/>
          <a:ln/>
        </p:spPr>
        <p:txBody>
          <a:bodyPr wrap="square" lIns="0" tIns="0" rIns="0" bIns="0" rtlCol="0" anchor="ctr"/>
          <a:lstStyle/>
          <a:p>
            <a:pPr indent="0" marL="0">
              <a:lnSpc>
                <a:spcPct val="115000"/>
              </a:lnSpc>
              <a:buNone/>
            </a:pPr>
            <a:r>
              <a:rPr lang="en-US" sz="3000" b="1" dirty="0">
                <a:solidFill>
                  <a:srgbClr val="1A1A1A"/>
                </a:solidFill>
                <a:latin typeface="Georgia" pitchFamily="34" charset="0"/>
                <a:ea typeface="Georgia" pitchFamily="34" charset="-122"/>
                <a:cs typeface="Georgia" pitchFamily="34" charset="-120"/>
              </a:rPr>
              <a:t>The decision is whether the enterprise </a:t>
            </a:r>
            <a:pPr indent="0" marL="0">
              <a:lnSpc>
                <a:spcPct val="115000"/>
              </a:lnSpc>
              <a:buNone/>
            </a:pPr>
            <a:r>
              <a:rPr lang="en-US" sz="3000" b="1" dirty="0">
                <a:solidFill>
                  <a:srgbClr val="B5481F"/>
                </a:solidFill>
                <a:latin typeface="Georgia" pitchFamily="34" charset="0"/>
                <a:ea typeface="Georgia" pitchFamily="34" charset="-122"/>
                <a:cs typeface="Georgia" pitchFamily="34" charset="-120"/>
              </a:rPr>
              <a:t>governs how that capability composes</a:t>
            </a:r>
            <a:pPr indent="0" marL="0">
              <a:lnSpc>
                <a:spcPct val="115000"/>
              </a:lnSpc>
              <a:buNone/>
            </a:pPr>
            <a:r>
              <a:rPr lang="en-US" sz="3000" b="1" dirty="0">
                <a:solidFill>
                  <a:srgbClr val="1A1A1A"/>
                </a:solidFill>
                <a:latin typeface="Georgia" pitchFamily="34" charset="0"/>
                <a:ea typeface="Georgia" pitchFamily="34" charset="-122"/>
                <a:cs typeface="Georgia" pitchFamily="34" charset="-120"/>
              </a:rPr>
              <a:t>, or accepts whatever composition emerges by default.</a:t>
            </a:r>
            <a:endParaRPr lang="en-US" sz="3000" dirty="0"/>
          </a:p>
        </p:txBody>
      </p:sp>
      <p:sp>
        <p:nvSpPr>
          <p:cNvPr id="5" name="Shape 3"/>
          <p:cNvSpPr/>
          <p:nvPr/>
        </p:nvSpPr>
        <p:spPr>
          <a:xfrm>
            <a:off x="640080" y="4297680"/>
            <a:ext cx="1280160" cy="45720"/>
          </a:xfrm>
          <a:prstGeom prst="rect">
            <a:avLst/>
          </a:prstGeom>
          <a:solidFill>
            <a:srgbClr val="2C6E8F"/>
          </a:solidFill>
          <a:ln/>
        </p:spPr>
      </p:sp>
      <p:sp>
        <p:nvSpPr>
          <p:cNvPr id="6" name="Text 4"/>
          <p:cNvSpPr/>
          <p:nvPr/>
        </p:nvSpPr>
        <p:spPr>
          <a:xfrm>
            <a:off x="640080" y="4572000"/>
            <a:ext cx="10424160" cy="1005840"/>
          </a:xfrm>
          <a:prstGeom prst="rect">
            <a:avLst/>
          </a:prstGeom>
          <a:noFill/>
          <a:ln/>
        </p:spPr>
        <p:txBody>
          <a:bodyPr wrap="square" lIns="0" tIns="0" rIns="0" bIns="0" rtlCol="0" anchor="ctr"/>
          <a:lstStyle/>
          <a:p>
            <a:pPr indent="0" marL="0">
              <a:lnSpc>
                <a:spcPct val="110000"/>
              </a:lnSpc>
              <a:buNone/>
            </a:pPr>
            <a:r>
              <a:rPr lang="en-US" sz="1500" i="1" dirty="0">
                <a:solidFill>
                  <a:srgbClr val="5A6473"/>
                </a:solidFill>
                <a:latin typeface="Calibri" pitchFamily="34" charset="0"/>
                <a:ea typeface="Calibri" pitchFamily="34" charset="-122"/>
                <a:cs typeface="Calibri" pitchFamily="34" charset="-120"/>
              </a:rPr>
              <a:t>Individual agentic products work. What fails is the enterprise's ability to govern how they compose: identity does not flow from one agent to the next, authorization is enforced inconsistently, evidence scatters across logs that do not correlate.</a:t>
            </a:r>
            <a:endParaRPr lang="en-US" sz="1500" dirty="0"/>
          </a:p>
        </p:txBody>
      </p:sp>
      <p:sp>
        <p:nvSpPr>
          <p:cNvPr id="7" name="Text 5"/>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8" name="Text 6"/>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B5481F"/>
                </a:solidFill>
                <a:latin typeface="Calibri" pitchFamily="34" charset="0"/>
                <a:ea typeface="Calibri" pitchFamily="34" charset="-122"/>
                <a:cs typeface="Calibri" pitchFamily="34" charset="-120"/>
              </a:rPr>
              <a:t>THE THREAT</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When the human leaves the keyboard, accountability leaves with it</a:t>
            </a:r>
            <a:endParaRPr lang="en-US" sz="3000" dirty="0"/>
          </a:p>
        </p:txBody>
      </p:sp>
      <p:sp>
        <p:nvSpPr>
          <p:cNvPr id="4" name="Shape 2"/>
          <p:cNvSpPr/>
          <p:nvPr/>
        </p:nvSpPr>
        <p:spPr>
          <a:xfrm>
            <a:off x="640080" y="1920240"/>
            <a:ext cx="5074920" cy="3931920"/>
          </a:xfrm>
          <a:prstGeom prst="rect">
            <a:avLst/>
          </a:prstGeom>
          <a:solidFill>
            <a:srgbClr val="F1F3F6"/>
          </a:solidFill>
          <a:ln/>
          <a:effectLst>
            <a:outerShdw sx="100000" sy="100000" kx="0" ky="0" algn="bl" rotWithShape="0" blurRad="88900" dist="38100" dir="8100000">
              <a:srgbClr val="000000">
                <a:alpha val="16000"/>
              </a:srgbClr>
            </a:outerShdw>
          </a:effectLst>
        </p:spPr>
      </p:sp>
      <p:sp>
        <p:nvSpPr>
          <p:cNvPr id="5" name="Shape 3"/>
          <p:cNvSpPr/>
          <p:nvPr/>
        </p:nvSpPr>
        <p:spPr>
          <a:xfrm>
            <a:off x="640080" y="1920240"/>
            <a:ext cx="5074920" cy="548640"/>
          </a:xfrm>
          <a:prstGeom prst="rect">
            <a:avLst/>
          </a:prstGeom>
          <a:solidFill>
            <a:srgbClr val="5A6473"/>
          </a:solidFill>
          <a:ln/>
        </p:spPr>
      </p:sp>
      <p:sp>
        <p:nvSpPr>
          <p:cNvPr id="6" name="Text 4"/>
          <p:cNvSpPr/>
          <p:nvPr/>
        </p:nvSpPr>
        <p:spPr>
          <a:xfrm>
            <a:off x="640080" y="1920240"/>
            <a:ext cx="507492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UNGOVERNED</a:t>
            </a:r>
            <a:endParaRPr lang="en-US" sz="1400" dirty="0"/>
          </a:p>
        </p:txBody>
      </p:sp>
      <p:sp>
        <p:nvSpPr>
          <p:cNvPr id="7" name="Text 5"/>
          <p:cNvSpPr/>
          <p:nvPr/>
        </p:nvSpPr>
        <p:spPr>
          <a:xfrm>
            <a:off x="960120" y="2743200"/>
            <a:ext cx="4434840" cy="2834640"/>
          </a:xfrm>
          <a:prstGeom prst="rect">
            <a:avLst/>
          </a:prstGeom>
          <a:noFill/>
          <a:ln/>
        </p:spPr>
        <p:txBody>
          <a:bodyPr wrap="square" lIns="0" tIns="0" rIns="0" bIns="0" rtlCol="0" anchor="t"/>
          <a:lstStyle/>
          <a:p>
            <a:pPr indent="0" marL="0">
              <a:lnSpc>
                <a:spcPct val="115000"/>
              </a:lnSpc>
              <a:buNone/>
            </a:pPr>
            <a:r>
              <a:rPr lang="en-US" sz="1500" b="1" dirty="0">
                <a:solidFill>
                  <a:srgbClr val="1A1A1A"/>
                </a:solidFill>
                <a:latin typeface="Calibri" pitchFamily="34" charset="0"/>
                <a:ea typeface="Calibri" pitchFamily="34" charset="-122"/>
                <a:cs typeface="Calibri" pitchFamily="34" charset="-120"/>
              </a:rPr>
              <a:t>A copilot adjusts a financial record under whatever credentials it inherited.</a:t>
            </a:r>
            <a:endParaRPr lang="en-US" sz="1500" dirty="0"/>
          </a:p>
          <a:p>
            <a:pPr indent="0" marL="0">
              <a:lnSpc>
                <a:spcPct val="115000"/>
              </a:lnSpc>
              <a:buNone/>
            </a:pPr>
            <a:endParaRPr lang="en-US" sz="1500" dirty="0"/>
          </a:p>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An auditor asks: who authorized this, and under what policy?</a:t>
            </a:r>
            <a:endParaRPr lang="en-US" sz="1500" dirty="0"/>
          </a:p>
          <a:p>
            <a:pPr indent="0" marL="0">
              <a:lnSpc>
                <a:spcPct val="115000"/>
              </a:lnSpc>
              <a:buNone/>
            </a:pPr>
            <a:endParaRPr lang="en-US" sz="1500" dirty="0"/>
          </a:p>
          <a:p>
            <a:pPr indent="0" marL="0">
              <a:lnSpc>
                <a:spcPct val="115000"/>
              </a:lnSpc>
              <a:buNone/>
            </a:pPr>
            <a:r>
              <a:rPr lang="en-US" sz="1500" i="1" dirty="0">
                <a:solidFill>
                  <a:srgbClr val="B5481F"/>
                </a:solidFill>
                <a:latin typeface="Calibri" pitchFamily="34" charset="0"/>
                <a:ea typeface="Calibri" pitchFamily="34" charset="-122"/>
                <a:cs typeface="Calibri" pitchFamily="34" charset="-120"/>
              </a:rPr>
              <a:t>The answer is reconstructed by hand across disconnected logs. Often inconclusively.</a:t>
            </a:r>
            <a:endParaRPr lang="en-US" sz="1500" dirty="0"/>
          </a:p>
        </p:txBody>
      </p:sp>
      <p:sp>
        <p:nvSpPr>
          <p:cNvPr id="8" name="Shape 6"/>
          <p:cNvSpPr/>
          <p:nvPr/>
        </p:nvSpPr>
        <p:spPr>
          <a:xfrm>
            <a:off x="6172200" y="1920240"/>
            <a:ext cx="5074920" cy="3931920"/>
          </a:xfrm>
          <a:prstGeom prst="rect">
            <a:avLst/>
          </a:prstGeom>
          <a:solidFill>
            <a:srgbClr val="EEF1F6"/>
          </a:solidFill>
          <a:ln/>
          <a:effectLst>
            <a:outerShdw sx="100000" sy="100000" kx="0" ky="0" algn="bl" rotWithShape="0" blurRad="88900" dist="38100" dir="8100000">
              <a:srgbClr val="000000">
                <a:alpha val="16000"/>
              </a:srgbClr>
            </a:outerShdw>
          </a:effectLst>
        </p:spPr>
      </p:sp>
      <p:sp>
        <p:nvSpPr>
          <p:cNvPr id="9" name="Shape 7"/>
          <p:cNvSpPr/>
          <p:nvPr/>
        </p:nvSpPr>
        <p:spPr>
          <a:xfrm>
            <a:off x="6172200" y="1920240"/>
            <a:ext cx="5074920" cy="548640"/>
          </a:xfrm>
          <a:prstGeom prst="rect">
            <a:avLst/>
          </a:prstGeom>
          <a:solidFill>
            <a:srgbClr val="2C6E8F"/>
          </a:solidFill>
          <a:ln/>
        </p:spPr>
      </p:sp>
      <p:sp>
        <p:nvSpPr>
          <p:cNvPr id="10" name="Text 8"/>
          <p:cNvSpPr/>
          <p:nvPr/>
        </p:nvSpPr>
        <p:spPr>
          <a:xfrm>
            <a:off x="6172200" y="1920240"/>
            <a:ext cx="507492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GOVERNED</a:t>
            </a:r>
            <a:endParaRPr lang="en-US" sz="1400" dirty="0"/>
          </a:p>
        </p:txBody>
      </p:sp>
      <p:sp>
        <p:nvSpPr>
          <p:cNvPr id="11" name="Text 9"/>
          <p:cNvSpPr/>
          <p:nvPr/>
        </p:nvSpPr>
        <p:spPr>
          <a:xfrm>
            <a:off x="6492240" y="2743200"/>
            <a:ext cx="4434840" cy="2834640"/>
          </a:xfrm>
          <a:prstGeom prst="rect">
            <a:avLst/>
          </a:prstGeom>
          <a:noFill/>
          <a:ln/>
        </p:spPr>
        <p:txBody>
          <a:bodyPr wrap="square" lIns="0" tIns="0" rIns="0" bIns="0" rtlCol="0" anchor="t"/>
          <a:lstStyle/>
          <a:p>
            <a:pPr indent="0" marL="0">
              <a:lnSpc>
                <a:spcPct val="110000"/>
              </a:lnSpc>
              <a:buNone/>
            </a:pPr>
            <a:r>
              <a:rPr lang="en-US" sz="1400" b="1" dirty="0">
                <a:solidFill>
                  <a:srgbClr val="1E2A4A"/>
                </a:solidFill>
                <a:latin typeface="Calibri" pitchFamily="34" charset="0"/>
                <a:ea typeface="Calibri" pitchFamily="34" charset="-122"/>
                <a:cs typeface="Calibri" pitchFamily="34" charset="-120"/>
              </a:rPr>
              <a:t>Identity</a:t>
            </a:r>
            <a:pPr indent="0" marL="0">
              <a:lnSpc>
                <a:spcPct val="110000"/>
              </a:lnSpc>
              <a:buNone/>
            </a:pPr>
            <a:r>
              <a:rPr lang="en-US" sz="1400" dirty="0">
                <a:solidFill>
                  <a:srgbClr val="1A1A1A"/>
                </a:solidFill>
                <a:latin typeface="Calibri" pitchFamily="34" charset="0"/>
                <a:ea typeface="Calibri" pitchFamily="34" charset="-122"/>
                <a:cs typeface="Calibri" pitchFamily="34" charset="-120"/>
              </a:rPr>
              <a:t> binds the action to the human principal who invoked it.</a:t>
            </a:r>
            <a:endParaRPr lang="en-US" sz="1400" dirty="0"/>
          </a:p>
          <a:p>
            <a:pPr indent="0" marL="0">
              <a:lnSpc>
                <a:spcPct val="110000"/>
              </a:lnSpc>
              <a:buNone/>
            </a:pPr>
            <a:endParaRPr lang="en-US" sz="1400" dirty="0"/>
          </a:p>
          <a:p>
            <a:pPr indent="0" marL="0">
              <a:lnSpc>
                <a:spcPct val="110000"/>
              </a:lnSpc>
              <a:buNone/>
            </a:pPr>
            <a:r>
              <a:rPr lang="en-US" sz="1400" b="1" dirty="0">
                <a:solidFill>
                  <a:srgbClr val="1E2A4A"/>
                </a:solidFill>
                <a:latin typeface="Calibri" pitchFamily="34" charset="0"/>
                <a:ea typeface="Calibri" pitchFamily="34" charset="-122"/>
                <a:cs typeface="Calibri" pitchFamily="34" charset="-120"/>
              </a:rPr>
              <a:t>Authority</a:t>
            </a:r>
            <a:pPr indent="0" marL="0">
              <a:lnSpc>
                <a:spcPct val="110000"/>
              </a:lnSpc>
              <a:buNone/>
            </a:pPr>
            <a:r>
              <a:rPr lang="en-US" sz="1400" dirty="0">
                <a:solidFill>
                  <a:srgbClr val="1A1A1A"/>
                </a:solidFill>
                <a:latin typeface="Calibri" pitchFamily="34" charset="0"/>
                <a:ea typeface="Calibri" pitchFamily="34" charset="-122"/>
                <a:cs typeface="Calibri" pitchFamily="34" charset="-120"/>
              </a:rPr>
              <a:t> evaluates whether that principal may act, and routes for confirmation if consequential.</a:t>
            </a:r>
            <a:endParaRPr lang="en-US" sz="1400" dirty="0"/>
          </a:p>
          <a:p>
            <a:pPr indent="0" marL="0">
              <a:lnSpc>
                <a:spcPct val="110000"/>
              </a:lnSpc>
              <a:buNone/>
            </a:pPr>
            <a:endParaRPr lang="en-US" sz="1400" dirty="0"/>
          </a:p>
          <a:p>
            <a:pPr indent="0" marL="0">
              <a:lnSpc>
                <a:spcPct val="110000"/>
              </a:lnSpc>
              <a:buNone/>
            </a:pPr>
            <a:r>
              <a:rPr lang="en-US" sz="1400" b="1" dirty="0">
                <a:solidFill>
                  <a:srgbClr val="1E2A4A"/>
                </a:solidFill>
                <a:latin typeface="Calibri" pitchFamily="34" charset="0"/>
                <a:ea typeface="Calibri" pitchFamily="34" charset="-122"/>
                <a:cs typeface="Calibri" pitchFamily="34" charset="-120"/>
              </a:rPr>
              <a:t>Evidence</a:t>
            </a:r>
            <a:pPr indent="0" marL="0">
              <a:lnSpc>
                <a:spcPct val="110000"/>
              </a:lnSpc>
              <a:buNone/>
            </a:pPr>
            <a:r>
              <a:rPr lang="en-US" sz="1400" dirty="0">
                <a:solidFill>
                  <a:srgbClr val="1A1A1A"/>
                </a:solidFill>
                <a:latin typeface="Calibri" pitchFamily="34" charset="0"/>
                <a:ea typeface="Calibri" pitchFamily="34" charset="-122"/>
                <a:cs typeface="Calibri" pitchFamily="34" charset="-120"/>
              </a:rPr>
              <a:t> records principal, decision, and result in one correlated chain.</a:t>
            </a:r>
            <a:endParaRPr lang="en-US" sz="1400" dirty="0"/>
          </a:p>
          <a:p>
            <a:pPr indent="0" marL="0">
              <a:lnSpc>
                <a:spcPct val="110000"/>
              </a:lnSpc>
              <a:buNone/>
            </a:pPr>
            <a:endParaRPr lang="en-US" sz="1400" dirty="0"/>
          </a:p>
          <a:p>
            <a:pPr indent="0" marL="0">
              <a:lnSpc>
                <a:spcPct val="110000"/>
              </a:lnSpc>
              <a:buNone/>
            </a:pPr>
            <a:r>
              <a:rPr lang="en-US" sz="1400" i="1" dirty="0">
                <a:solidFill>
                  <a:srgbClr val="2C6E8F"/>
                </a:solidFill>
                <a:latin typeface="Calibri" pitchFamily="34" charset="0"/>
                <a:ea typeface="Calibri" pitchFamily="34" charset="-122"/>
                <a:cs typeface="Calibri" pitchFamily="34" charset="-120"/>
              </a:rPr>
              <a:t>The audit question is answered definitively. The mis-authorized action is caught before it happens.</a:t>
            </a:r>
            <a:endParaRPr lang="en-US" sz="1400" dirty="0"/>
          </a:p>
        </p:txBody>
      </p:sp>
      <p:sp>
        <p:nvSpPr>
          <p:cNvPr id="12" name="Text 10"/>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13" name="Text 11"/>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C6E8F"/>
                </a:solidFill>
                <a:latin typeface="Calibri" pitchFamily="34" charset="0"/>
                <a:ea typeface="Calibri" pitchFamily="34" charset="-122"/>
                <a:cs typeface="Calibri" pitchFamily="34" charset="-120"/>
              </a:rPr>
              <a:t>THE ARCHITECTURE</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Four planes, enterprise-owned, each with a distinct responsibility</a:t>
            </a:r>
            <a:endParaRPr lang="en-US" sz="3000" dirty="0"/>
          </a:p>
        </p:txBody>
      </p:sp>
      <p:pic>
        <p:nvPicPr>
          <p:cNvPr id="4" name="Image 0" descr="diagram1_planes.png">    </p:cNvPr>
          <p:cNvPicPr>
            <a:picLocks noChangeAspect="1"/>
          </p:cNvPicPr>
          <p:nvPr/>
        </p:nvPicPr>
        <p:blipFill>
          <a:blip r:embed="rId1"/>
          <a:stretch>
            <a:fillRect/>
          </a:stretch>
        </p:blipFill>
        <p:spPr>
          <a:xfrm>
            <a:off x="3032760" y="1828800"/>
            <a:ext cx="6096000" cy="4114800"/>
          </a:xfrm>
          <a:prstGeom prst="rect">
            <a:avLst/>
          </a:prstGeom>
        </p:spPr>
      </p:pic>
      <p:sp>
        <p:nvSpPr>
          <p:cNvPr id="5" name="Text 2"/>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6" name="Text 3"/>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C6E8F"/>
                </a:solidFill>
                <a:latin typeface="Calibri" pitchFamily="34" charset="0"/>
                <a:ea typeface="Calibri" pitchFamily="34" charset="-122"/>
                <a:cs typeface="Calibri" pitchFamily="34" charset="-120"/>
              </a:rPr>
              <a:t>COMPETITIVE REALITY  ·  MAY 2026 SNAPSHOT</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The market just proved us right about the what. It is dodging the who.</a:t>
            </a:r>
            <a:endParaRPr lang="en-US" sz="3000" dirty="0"/>
          </a:p>
        </p:txBody>
      </p:sp>
      <p:sp>
        <p:nvSpPr>
          <p:cNvPr id="4" name="Shape 2"/>
          <p:cNvSpPr/>
          <p:nvPr/>
        </p:nvSpPr>
        <p:spPr>
          <a:xfrm>
            <a:off x="640080" y="1965960"/>
            <a:ext cx="10881360" cy="1417320"/>
          </a:xfrm>
          <a:prstGeom prst="rect">
            <a:avLst/>
          </a:prstGeom>
          <a:solidFill>
            <a:srgbClr val="EEF1F6"/>
          </a:solidFill>
          <a:ln/>
          <a:effectLst>
            <a:outerShdw sx="100000" sy="100000" kx="0" ky="0" algn="bl" rotWithShape="0" blurRad="88900" dist="38100" dir="8100000">
              <a:srgbClr val="000000">
                <a:alpha val="16000"/>
              </a:srgbClr>
            </a:outerShdw>
          </a:effectLst>
        </p:spPr>
      </p:sp>
      <p:sp>
        <p:nvSpPr>
          <p:cNvPr id="5" name="Text 3"/>
          <p:cNvSpPr/>
          <p:nvPr/>
        </p:nvSpPr>
        <p:spPr>
          <a:xfrm>
            <a:off x="960120" y="2121408"/>
            <a:ext cx="3657600" cy="274320"/>
          </a:xfrm>
          <a:prstGeom prst="rect">
            <a:avLst/>
          </a:prstGeom>
          <a:noFill/>
          <a:ln/>
        </p:spPr>
        <p:txBody>
          <a:bodyPr wrap="square" lIns="0" tIns="0" rIns="0" bIns="0" rtlCol="0" anchor="ctr"/>
          <a:lstStyle/>
          <a:p>
            <a:pPr indent="0" marL="0">
              <a:buNone/>
            </a:pPr>
            <a:r>
              <a:rPr lang="en-US" sz="1200" b="1" spc="200" kern="0" dirty="0">
                <a:solidFill>
                  <a:srgbClr val="2C6E8F"/>
                </a:solidFill>
                <a:latin typeface="Calibri" pitchFamily="34" charset="0"/>
                <a:ea typeface="Calibri" pitchFamily="34" charset="-122"/>
                <a:cs typeface="Calibri" pitchFamily="34" charset="-120"/>
              </a:rPr>
              <a:t>CONSENSUS NOW</a:t>
            </a:r>
            <a:endParaRPr lang="en-US" sz="1200" dirty="0"/>
          </a:p>
        </p:txBody>
      </p:sp>
      <p:sp>
        <p:nvSpPr>
          <p:cNvPr id="6" name="Text 4"/>
          <p:cNvSpPr/>
          <p:nvPr/>
        </p:nvSpPr>
        <p:spPr>
          <a:xfrm>
            <a:off x="960120" y="2450592"/>
            <a:ext cx="10241280" cy="868680"/>
          </a:xfrm>
          <a:prstGeom prst="rect">
            <a:avLst/>
          </a:prstGeom>
          <a:noFill/>
          <a:ln/>
        </p:spPr>
        <p:txBody>
          <a:bodyPr wrap="square" lIns="0" tIns="0" rIns="0" bIns="0" rtlCol="0" anchor="t"/>
          <a:lstStyle/>
          <a:p>
            <a:pPr indent="0" marL="0">
              <a:lnSpc>
                <a:spcPct val="112000"/>
              </a:lnSpc>
              <a:buNone/>
            </a:pPr>
            <a:r>
              <a:rPr lang="en-US" sz="1500" b="1" dirty="0">
                <a:solidFill>
                  <a:srgbClr val="1E2A4A"/>
                </a:solidFill>
                <a:latin typeface="Calibri" pitchFamily="34" charset="0"/>
                <a:ea typeface="Calibri" pitchFamily="34" charset="-122"/>
                <a:cs typeface="Calibri" pitchFamily="34" charset="-120"/>
              </a:rPr>
              <a:t>Google Cloud Next</a:t>
            </a:r>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 and </a:t>
            </a:r>
            <a:pPr indent="0" marL="0">
              <a:lnSpc>
                <a:spcPct val="112000"/>
              </a:lnSpc>
              <a:buNone/>
            </a:pPr>
            <a:r>
              <a:rPr lang="en-US" sz="1500" b="1" dirty="0">
                <a:solidFill>
                  <a:srgbClr val="1E2A4A"/>
                </a:solidFill>
                <a:latin typeface="Calibri" pitchFamily="34" charset="0"/>
                <a:ea typeface="Calibri" pitchFamily="34" charset="-122"/>
                <a:cs typeface="Calibri" pitchFamily="34" charset="-120"/>
              </a:rPr>
              <a:t>SAP Sapphire</a:t>
            </a:r>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 both repositioned around an agentic </a:t>
            </a:r>
            <a:pPr indent="0" marL="0">
              <a:lnSpc>
                <a:spcPct val="112000"/>
              </a:lnSpc>
              <a:buNone/>
            </a:pPr>
            <a:r>
              <a:rPr lang="en-US" sz="1500" b="1" dirty="0">
                <a:solidFill>
                  <a:srgbClr val="1A1A1A"/>
                </a:solidFill>
                <a:latin typeface="Calibri" pitchFamily="34" charset="0"/>
                <a:ea typeface="Calibri" pitchFamily="34" charset="-122"/>
                <a:cs typeface="Calibri" pitchFamily="34" charset="-120"/>
              </a:rPr>
              <a:t>control plane</a:t>
            </a:r>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 — agent identity, registry, governance, observability as core capabilities. Tier-one analysts now frame the buyer's decision as an operating-model choice, not a tooling choice.</a:t>
            </a:r>
            <a:endParaRPr lang="en-US" sz="1500" dirty="0"/>
          </a:p>
        </p:txBody>
      </p:sp>
      <p:sp>
        <p:nvSpPr>
          <p:cNvPr id="7" name="Shape 5"/>
          <p:cNvSpPr/>
          <p:nvPr/>
        </p:nvSpPr>
        <p:spPr>
          <a:xfrm>
            <a:off x="640080" y="3611880"/>
            <a:ext cx="10881360" cy="1965960"/>
          </a:xfrm>
          <a:prstGeom prst="rect">
            <a:avLst/>
          </a:prstGeom>
          <a:solidFill>
            <a:srgbClr val="1E2A4A"/>
          </a:solidFill>
          <a:ln/>
          <a:effectLst>
            <a:outerShdw sx="100000" sy="100000" kx="0" ky="0" algn="bl" rotWithShape="0" blurRad="88900" dist="38100" dir="8100000">
              <a:srgbClr val="000000">
                <a:alpha val="16000"/>
              </a:srgbClr>
            </a:outerShdw>
          </a:effectLst>
        </p:spPr>
      </p:sp>
      <p:sp>
        <p:nvSpPr>
          <p:cNvPr id="8" name="Shape 6"/>
          <p:cNvSpPr/>
          <p:nvPr/>
        </p:nvSpPr>
        <p:spPr>
          <a:xfrm>
            <a:off x="640080" y="3611880"/>
            <a:ext cx="109728" cy="1965960"/>
          </a:xfrm>
          <a:prstGeom prst="rect">
            <a:avLst/>
          </a:prstGeom>
          <a:solidFill>
            <a:srgbClr val="B5481F"/>
          </a:solidFill>
          <a:ln/>
        </p:spPr>
      </p:sp>
      <p:sp>
        <p:nvSpPr>
          <p:cNvPr id="9" name="Text 7"/>
          <p:cNvSpPr/>
          <p:nvPr/>
        </p:nvSpPr>
        <p:spPr>
          <a:xfrm>
            <a:off x="1051560" y="3794760"/>
            <a:ext cx="8229600" cy="27432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THE QUESTION THEY WON'T ANSWER</a:t>
            </a:r>
            <a:endParaRPr lang="en-US" sz="1200" dirty="0"/>
          </a:p>
        </p:txBody>
      </p:sp>
      <p:sp>
        <p:nvSpPr>
          <p:cNvPr id="10" name="Text 8"/>
          <p:cNvSpPr/>
          <p:nvPr/>
        </p:nvSpPr>
        <p:spPr>
          <a:xfrm>
            <a:off x="1051560" y="4114800"/>
            <a:ext cx="10058400" cy="822960"/>
          </a:xfrm>
          <a:prstGeom prst="rect">
            <a:avLst/>
          </a:prstGeom>
          <a:noFill/>
          <a:ln/>
        </p:spPr>
        <p:txBody>
          <a:bodyPr wrap="square" lIns="0" tIns="0" rIns="0" bIns="0" rtlCol="0" anchor="t"/>
          <a:lstStyle/>
          <a:p>
            <a:pPr indent="0" marL="0">
              <a:lnSpc>
                <a:spcPct val="112000"/>
              </a:lnSpc>
              <a:buNone/>
            </a:pPr>
            <a:r>
              <a:rPr lang="en-US" sz="1600" dirty="0">
                <a:solidFill>
                  <a:srgbClr val="FFFFFF"/>
                </a:solidFill>
                <a:latin typeface="Calibri" pitchFamily="34" charset="0"/>
                <a:ea typeface="Calibri" pitchFamily="34" charset="-122"/>
                <a:cs typeface="Calibri" pitchFamily="34" charset="-120"/>
              </a:rPr>
              <a:t>Every vendor control plane is one you </a:t>
            </a:r>
            <a:pPr indent="0" marL="0">
              <a:lnSpc>
                <a:spcPct val="112000"/>
              </a:lnSpc>
              <a:buNone/>
            </a:pPr>
            <a:r>
              <a:rPr lang="en-US" sz="1600" b="1" dirty="0">
                <a:solidFill>
                  <a:srgbClr val="FFFFFF"/>
                </a:solidFill>
                <a:latin typeface="Calibri" pitchFamily="34" charset="0"/>
                <a:ea typeface="Calibri" pitchFamily="34" charset="-122"/>
                <a:cs typeface="Calibri" pitchFamily="34" charset="-120"/>
              </a:rPr>
              <a:t>rent</a:t>
            </a:r>
            <a:pPr indent="0" marL="0">
              <a:lnSpc>
                <a:spcPct val="112000"/>
              </a:lnSpc>
              <a:buNone/>
            </a:pPr>
            <a:r>
              <a:rPr lang="en-US" sz="1600" dirty="0">
                <a:solidFill>
                  <a:srgbClr val="FFFFFF"/>
                </a:solidFill>
                <a:latin typeface="Calibri" pitchFamily="34" charset="0"/>
                <a:ea typeface="Calibri" pitchFamily="34" charset="-122"/>
                <a:cs typeface="Calibri" pitchFamily="34" charset="-120"/>
              </a:rPr>
              <a:t>. The center is the vendor's platform. None argues the control plane should be enterprise-owned, because none has the incentive to.</a:t>
            </a:r>
            <a:endParaRPr lang="en-US" sz="1600" dirty="0"/>
          </a:p>
        </p:txBody>
      </p:sp>
      <p:sp>
        <p:nvSpPr>
          <p:cNvPr id="11" name="Text 9"/>
          <p:cNvSpPr/>
          <p:nvPr/>
        </p:nvSpPr>
        <p:spPr>
          <a:xfrm>
            <a:off x="1051560" y="4983480"/>
            <a:ext cx="10058400" cy="502920"/>
          </a:xfrm>
          <a:prstGeom prst="rect">
            <a:avLst/>
          </a:prstGeom>
          <a:noFill/>
          <a:ln/>
        </p:spPr>
        <p:txBody>
          <a:bodyPr wrap="square" lIns="0" tIns="0" rIns="0" bIns="0" rtlCol="0" anchor="ctr"/>
          <a:lstStyle/>
          <a:p>
            <a:pPr indent="0" marL="0">
              <a:lnSpc>
                <a:spcPct val="105000"/>
              </a:lnSpc>
              <a:buNone/>
            </a:pPr>
            <a:r>
              <a:rPr lang="en-US" sz="1400" i="1" dirty="0">
                <a:solidFill>
                  <a:srgbClr val="CADCFC"/>
                </a:solidFill>
                <a:latin typeface="Calibri" pitchFamily="34" charset="0"/>
                <a:ea typeface="Calibri" pitchFamily="34" charset="-122"/>
                <a:cs typeface="Calibri" pitchFamily="34" charset="-120"/>
              </a:rPr>
              <a:t>This convergence makes the control-plane problem consensus. It does not make enterprise ownership consensus. That gap is where this architecture lives.</a:t>
            </a:r>
            <a:endParaRPr lang="en-US" sz="1400" dirty="0"/>
          </a:p>
        </p:txBody>
      </p:sp>
      <p:sp>
        <p:nvSpPr>
          <p:cNvPr id="12" name="Text 10"/>
          <p:cNvSpPr/>
          <p:nvPr/>
        </p:nvSpPr>
        <p:spPr>
          <a:xfrm>
            <a:off x="640080" y="5715000"/>
            <a:ext cx="10881360" cy="274320"/>
          </a:xfrm>
          <a:prstGeom prst="rect">
            <a:avLst/>
          </a:prstGeom>
          <a:noFill/>
          <a:ln/>
        </p:spPr>
        <p:txBody>
          <a:bodyPr wrap="square" lIns="0" tIns="0" rIns="0" bIns="0" rtlCol="0" anchor="ctr"/>
          <a:lstStyle/>
          <a:p>
            <a:pPr indent="0" marL="0">
              <a:buNone/>
            </a:pPr>
            <a:r>
              <a:rPr lang="en-US" sz="950" dirty="0">
                <a:solidFill>
                  <a:srgbClr val="8A94A3"/>
                </a:solidFill>
                <a:latin typeface="Calibri" pitchFamily="34" charset="0"/>
                <a:ea typeface="Calibri" pitchFamily="34" charset="-122"/>
                <a:cs typeface="Calibri" pitchFamily="34" charset="-120"/>
              </a:rPr>
              <a:t>Sources: Google Cloud Blog (Apr 2026); SAP News Center (May 2026); Bain &amp; Company (Apr 2026). May 2026 snapshot.</a:t>
            </a:r>
            <a:endParaRPr lang="en-US" sz="950" dirty="0"/>
          </a:p>
        </p:txBody>
      </p:sp>
      <p:sp>
        <p:nvSpPr>
          <p:cNvPr id="13" name="Text 11"/>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14" name="Text 12"/>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C6E8F"/>
                </a:solidFill>
                <a:latin typeface="Calibri" pitchFamily="34" charset="0"/>
                <a:ea typeface="Calibri" pitchFamily="34" charset="-122"/>
                <a:cs typeface="Calibri" pitchFamily="34" charset="-120"/>
              </a:rPr>
              <a:t>WHAT SURVIVES THE CONSENSUS</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Two differentiators the vendor convergence cannot erase</a:t>
            </a:r>
            <a:endParaRPr lang="en-US" sz="3000" dirty="0"/>
          </a:p>
        </p:txBody>
      </p:sp>
      <p:sp>
        <p:nvSpPr>
          <p:cNvPr id="4" name="Shape 2"/>
          <p:cNvSpPr/>
          <p:nvPr/>
        </p:nvSpPr>
        <p:spPr>
          <a:xfrm>
            <a:off x="640080" y="2011680"/>
            <a:ext cx="5074920" cy="3566160"/>
          </a:xfrm>
          <a:prstGeom prst="rect">
            <a:avLst/>
          </a:prstGeom>
          <a:solidFill>
            <a:srgbClr val="EEF1F6"/>
          </a:solidFill>
          <a:ln/>
          <a:effectLst>
            <a:outerShdw sx="100000" sy="100000" kx="0" ky="0" algn="bl" rotWithShape="0" blurRad="88900" dist="38100" dir="8100000">
              <a:srgbClr val="000000">
                <a:alpha val="16000"/>
              </a:srgbClr>
            </a:outerShdw>
          </a:effectLst>
        </p:spPr>
      </p:sp>
      <p:sp>
        <p:nvSpPr>
          <p:cNvPr id="5" name="Text 3"/>
          <p:cNvSpPr/>
          <p:nvPr/>
        </p:nvSpPr>
        <p:spPr>
          <a:xfrm>
            <a:off x="960120" y="2286000"/>
            <a:ext cx="1097280" cy="731520"/>
          </a:xfrm>
          <a:prstGeom prst="rect">
            <a:avLst/>
          </a:prstGeom>
          <a:noFill/>
          <a:ln/>
        </p:spPr>
        <p:txBody>
          <a:bodyPr wrap="square" lIns="0" tIns="0" rIns="0" bIns="0" rtlCol="0" anchor="ctr"/>
          <a:lstStyle/>
          <a:p>
            <a:pPr indent="0" marL="0">
              <a:buNone/>
            </a:pPr>
            <a:r>
              <a:rPr lang="en-US" sz="4400" b="1" dirty="0">
                <a:solidFill>
                  <a:srgbClr val="C7CCD4"/>
                </a:solidFill>
                <a:latin typeface="Georgia" pitchFamily="34" charset="0"/>
                <a:ea typeface="Georgia" pitchFamily="34" charset="-122"/>
                <a:cs typeface="Georgia" pitchFamily="34" charset="-120"/>
              </a:rPr>
              <a:t>01</a:t>
            </a:r>
            <a:endParaRPr lang="en-US" sz="4400" dirty="0"/>
          </a:p>
        </p:txBody>
      </p:sp>
      <p:sp>
        <p:nvSpPr>
          <p:cNvPr id="6" name="Text 4"/>
          <p:cNvSpPr/>
          <p:nvPr/>
        </p:nvSpPr>
        <p:spPr>
          <a:xfrm>
            <a:off x="960120" y="3063240"/>
            <a:ext cx="4434840" cy="457200"/>
          </a:xfrm>
          <a:prstGeom prst="rect">
            <a:avLst/>
          </a:prstGeom>
          <a:noFill/>
          <a:ln/>
        </p:spPr>
        <p:txBody>
          <a:bodyPr wrap="square" lIns="0" tIns="0" rIns="0" bIns="0" rtlCol="0" anchor="ctr"/>
          <a:lstStyle/>
          <a:p>
            <a:pPr indent="0" marL="0">
              <a:buNone/>
            </a:pPr>
            <a:r>
              <a:rPr lang="en-US" sz="2400" b="1" dirty="0">
                <a:solidFill>
                  <a:srgbClr val="1E2A4A"/>
                </a:solidFill>
                <a:latin typeface="Georgia" pitchFamily="34" charset="0"/>
                <a:ea typeface="Georgia" pitchFamily="34" charset="-122"/>
                <a:cs typeface="Georgia" pitchFamily="34" charset="-120"/>
              </a:rPr>
              <a:t>Ownership</a:t>
            </a:r>
            <a:endParaRPr lang="en-US" sz="2400" dirty="0"/>
          </a:p>
        </p:txBody>
      </p:sp>
      <p:sp>
        <p:nvSpPr>
          <p:cNvPr id="7" name="Text 5"/>
          <p:cNvSpPr/>
          <p:nvPr/>
        </p:nvSpPr>
        <p:spPr>
          <a:xfrm>
            <a:off x="960120" y="3611880"/>
            <a:ext cx="4434840" cy="1737360"/>
          </a:xfrm>
          <a:prstGeom prst="rect">
            <a:avLst/>
          </a:prstGeom>
          <a:noFill/>
          <a:ln/>
        </p:spPr>
        <p:txBody>
          <a:bodyPr wrap="square" lIns="0" tIns="0" rIns="0" bIns="0" rtlCol="0" anchor="t"/>
          <a:lstStyle/>
          <a:p>
            <a:pPr indent="0" marL="0">
              <a:lnSpc>
                <a:spcPct val="115000"/>
              </a:lnSpc>
              <a:buNone/>
            </a:pPr>
            <a:r>
              <a:rPr lang="en-US" sz="1500" b="1" dirty="0">
                <a:solidFill>
                  <a:srgbClr val="1A1A1A"/>
                </a:solidFill>
                <a:latin typeface="Calibri" pitchFamily="34" charset="0"/>
                <a:ea typeface="Calibri" pitchFamily="34" charset="-122"/>
                <a:cs typeface="Calibri" pitchFamily="34" charset="-120"/>
              </a:rPr>
              <a:t>A rented control plane is an exit you do not control.</a:t>
            </a:r>
            <a:endParaRPr lang="en-US" sz="1500" dirty="0"/>
          </a:p>
          <a:p>
            <a:pPr indent="0" marL="0">
              <a:lnSpc>
                <a:spcPct val="115000"/>
              </a:lnSpc>
              <a:buNone/>
            </a:pPr>
            <a:endParaRPr lang="en-US" sz="1500" dirty="0"/>
          </a:p>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For an enterprise whose sovereignty or regulatory posture makes vendor governance over its own operations unacceptable, ownership is the whole question — and the market left it unanswered.</a:t>
            </a:r>
            <a:endParaRPr lang="en-US" sz="1500" dirty="0"/>
          </a:p>
        </p:txBody>
      </p:sp>
      <p:sp>
        <p:nvSpPr>
          <p:cNvPr id="8" name="Shape 6"/>
          <p:cNvSpPr/>
          <p:nvPr/>
        </p:nvSpPr>
        <p:spPr>
          <a:xfrm>
            <a:off x="6172200" y="2011680"/>
            <a:ext cx="5074920" cy="3566160"/>
          </a:xfrm>
          <a:prstGeom prst="rect">
            <a:avLst/>
          </a:prstGeom>
          <a:solidFill>
            <a:srgbClr val="1E2A4A"/>
          </a:solidFill>
          <a:ln/>
          <a:effectLst>
            <a:outerShdw sx="100000" sy="100000" kx="0" ky="0" algn="bl" rotWithShape="0" blurRad="88900" dist="38100" dir="8100000">
              <a:srgbClr val="000000">
                <a:alpha val="16000"/>
              </a:srgbClr>
            </a:outerShdw>
          </a:effectLst>
        </p:spPr>
      </p:sp>
      <p:sp>
        <p:nvSpPr>
          <p:cNvPr id="9" name="Text 7"/>
          <p:cNvSpPr/>
          <p:nvPr/>
        </p:nvSpPr>
        <p:spPr>
          <a:xfrm>
            <a:off x="6492240" y="2286000"/>
            <a:ext cx="1097280" cy="731520"/>
          </a:xfrm>
          <a:prstGeom prst="rect">
            <a:avLst/>
          </a:prstGeom>
          <a:noFill/>
          <a:ln/>
        </p:spPr>
        <p:txBody>
          <a:bodyPr wrap="square" lIns="0" tIns="0" rIns="0" bIns="0" rtlCol="0" anchor="ctr"/>
          <a:lstStyle/>
          <a:p>
            <a:pPr indent="0" marL="0">
              <a:buNone/>
            </a:pPr>
            <a:r>
              <a:rPr lang="en-US" sz="4400" b="1" dirty="0">
                <a:solidFill>
                  <a:srgbClr val="2C6E8F"/>
                </a:solidFill>
                <a:latin typeface="Georgia" pitchFamily="34" charset="0"/>
                <a:ea typeface="Georgia" pitchFamily="34" charset="-122"/>
                <a:cs typeface="Georgia" pitchFamily="34" charset="-120"/>
              </a:rPr>
              <a:t>02</a:t>
            </a:r>
            <a:endParaRPr lang="en-US" sz="4400" dirty="0"/>
          </a:p>
        </p:txBody>
      </p:sp>
      <p:sp>
        <p:nvSpPr>
          <p:cNvPr id="10" name="Text 8"/>
          <p:cNvSpPr/>
          <p:nvPr/>
        </p:nvSpPr>
        <p:spPr>
          <a:xfrm>
            <a:off x="6492240" y="3063240"/>
            <a:ext cx="4434840" cy="45720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Four-plane holism</a:t>
            </a:r>
            <a:endParaRPr lang="en-US" sz="2400" dirty="0"/>
          </a:p>
        </p:txBody>
      </p:sp>
      <p:sp>
        <p:nvSpPr>
          <p:cNvPr id="11" name="Text 9"/>
          <p:cNvSpPr/>
          <p:nvPr/>
        </p:nvSpPr>
        <p:spPr>
          <a:xfrm>
            <a:off x="6492240" y="3611880"/>
            <a:ext cx="4434840" cy="1737360"/>
          </a:xfrm>
          <a:prstGeom prst="rect">
            <a:avLst/>
          </a:prstGeom>
          <a:noFill/>
          <a:ln/>
        </p:spPr>
        <p:txBody>
          <a:bodyPr wrap="square" lIns="0" tIns="0" rIns="0" bIns="0" rtlCol="0" anchor="t"/>
          <a:lstStyle/>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The landscape has pieces. It has nothing that composes all four as one owned architecture.</a:t>
            </a:r>
            <a:endParaRPr lang="en-US" sz="1500" dirty="0"/>
          </a:p>
          <a:p>
            <a:pPr indent="0" marL="0">
              <a:lnSpc>
                <a:spcPct val="115000"/>
              </a:lnSpc>
              <a:buNone/>
            </a:pPr>
            <a:endParaRPr lang="en-US" sz="1500" dirty="0"/>
          </a:p>
          <a:p>
            <a:pPr indent="0" marL="0">
              <a:lnSpc>
                <a:spcPct val="115000"/>
              </a:lnSpc>
              <a:buNone/>
            </a:pPr>
            <a:r>
              <a:rPr lang="en-US" sz="1500" dirty="0">
                <a:solidFill>
                  <a:srgbClr val="CADCFC"/>
                </a:solidFill>
                <a:latin typeface="Calibri" pitchFamily="34" charset="0"/>
                <a:ea typeface="Calibri" pitchFamily="34" charset="-122"/>
                <a:cs typeface="Calibri" pitchFamily="34" charset="-120"/>
              </a:rPr>
              <a:t>And it has nothing resembling the capability plane — because no business-system vendor can sell the displacement of its own business.</a:t>
            </a:r>
            <a:endParaRPr lang="en-US" sz="1500" dirty="0"/>
          </a:p>
        </p:txBody>
      </p:sp>
      <p:sp>
        <p:nvSpPr>
          <p:cNvPr id="12" name="Text 10"/>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13" name="Text 11"/>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A4A"/>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THE ASYMMETRY</a:t>
            </a:r>
            <a:endParaRPr lang="en-US" sz="1200" dirty="0"/>
          </a:p>
        </p:txBody>
      </p:sp>
      <p:sp>
        <p:nvSpPr>
          <p:cNvPr id="3" name="Text 1"/>
          <p:cNvSpPr/>
          <p:nvPr/>
        </p:nvSpPr>
        <p:spPr>
          <a:xfrm>
            <a:off x="640080" y="822960"/>
            <a:ext cx="10881360" cy="128016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Georgia" pitchFamily="34" charset="0"/>
                <a:ea typeface="Georgia" pitchFamily="34" charset="-122"/>
                <a:cs typeface="Georgia" pitchFamily="34" charset="-120"/>
              </a:rPr>
              <a:t>No business-system vendor can sell you the path off itself.</a:t>
            </a:r>
            <a:endParaRPr lang="en-US" sz="3000" dirty="0"/>
          </a:p>
        </p:txBody>
      </p:sp>
      <p:sp>
        <p:nvSpPr>
          <p:cNvPr id="4" name="Text 2"/>
          <p:cNvSpPr/>
          <p:nvPr/>
        </p:nvSpPr>
        <p:spPr>
          <a:xfrm>
            <a:off x="640080" y="2240280"/>
            <a:ext cx="10881360" cy="914400"/>
          </a:xfrm>
          <a:prstGeom prst="rect">
            <a:avLst/>
          </a:prstGeom>
          <a:noFill/>
          <a:ln/>
        </p:spPr>
        <p:txBody>
          <a:bodyPr wrap="square" lIns="0" tIns="0" rIns="0" bIns="0" rtlCol="0" anchor="t"/>
          <a:lstStyle/>
          <a:p>
            <a:pPr indent="0" marL="0">
              <a:lnSpc>
                <a:spcPct val="120000"/>
              </a:lnSpc>
              <a:buNone/>
            </a:pPr>
            <a:r>
              <a:rPr lang="en-US" sz="1700" dirty="0">
                <a:solidFill>
                  <a:srgbClr val="E6ECF5"/>
                </a:solidFill>
                <a:latin typeface="Calibri" pitchFamily="34" charset="0"/>
                <a:ea typeface="Calibri" pitchFamily="34" charset="-122"/>
                <a:cs typeface="Calibri" pitchFamily="34" charset="-120"/>
              </a:rPr>
              <a:t>SAP cannot sell an enterprise the path off SAP. Salesforce cannot sell the path off Salesforce. The incumbents are doing the opposite: using the agentic transition to </a:t>
            </a:r>
            <a:pPr indent="0" marL="0">
              <a:lnSpc>
                <a:spcPct val="120000"/>
              </a:lnSpc>
              <a:buNone/>
            </a:pPr>
            <a:r>
              <a:rPr lang="en-US" sz="1700" b="1" dirty="0">
                <a:solidFill>
                  <a:srgbClr val="FFFFFF"/>
                </a:solidFill>
                <a:latin typeface="Calibri" pitchFamily="34" charset="0"/>
                <a:ea typeface="Calibri" pitchFamily="34" charset="-122"/>
                <a:cs typeface="Calibri" pitchFamily="34" charset="-120"/>
              </a:rPr>
              <a:t>tighten</a:t>
            </a:r>
            <a:pPr indent="0" marL="0">
              <a:lnSpc>
                <a:spcPct val="120000"/>
              </a:lnSpc>
              <a:buNone/>
            </a:pPr>
            <a:r>
              <a:rPr lang="en-US" sz="1700" dirty="0">
                <a:solidFill>
                  <a:srgbClr val="E6ECF5"/>
                </a:solidFill>
                <a:latin typeface="Calibri" pitchFamily="34" charset="0"/>
                <a:ea typeface="Calibri" pitchFamily="34" charset="-122"/>
                <a:cs typeface="Calibri" pitchFamily="34" charset="-120"/>
              </a:rPr>
              <a:t> the cage.</a:t>
            </a:r>
            <a:endParaRPr lang="en-US" sz="1700" dirty="0"/>
          </a:p>
        </p:txBody>
      </p:sp>
      <p:sp>
        <p:nvSpPr>
          <p:cNvPr id="5" name="Shape 3"/>
          <p:cNvSpPr/>
          <p:nvPr/>
        </p:nvSpPr>
        <p:spPr>
          <a:xfrm>
            <a:off x="640080" y="3337560"/>
            <a:ext cx="3429000" cy="1828800"/>
          </a:xfrm>
          <a:prstGeom prst="rect">
            <a:avLst/>
          </a:prstGeom>
          <a:solidFill>
            <a:srgbClr val="26345A"/>
          </a:solidFill>
          <a:ln/>
          <a:effectLst>
            <a:outerShdw sx="100000" sy="100000" kx="0" ky="0" algn="bl" rotWithShape="0" blurRad="88900" dist="38100" dir="8100000">
              <a:srgbClr val="000000">
                <a:alpha val="16000"/>
              </a:srgbClr>
            </a:outerShdw>
          </a:effectLst>
        </p:spPr>
      </p:sp>
      <p:sp>
        <p:nvSpPr>
          <p:cNvPr id="6" name="Shape 4"/>
          <p:cNvSpPr/>
          <p:nvPr/>
        </p:nvSpPr>
        <p:spPr>
          <a:xfrm>
            <a:off x="640080" y="3337560"/>
            <a:ext cx="3429000" cy="73152"/>
          </a:xfrm>
          <a:prstGeom prst="rect">
            <a:avLst/>
          </a:prstGeom>
          <a:solidFill>
            <a:srgbClr val="B5481F"/>
          </a:solidFill>
          <a:ln/>
        </p:spPr>
      </p:sp>
      <p:sp>
        <p:nvSpPr>
          <p:cNvPr id="7" name="Text 5"/>
          <p:cNvSpPr/>
          <p:nvPr/>
        </p:nvSpPr>
        <p:spPr>
          <a:xfrm>
            <a:off x="868680" y="3538728"/>
            <a:ext cx="2971800" cy="502920"/>
          </a:xfrm>
          <a:prstGeom prst="rect">
            <a:avLst/>
          </a:prstGeom>
          <a:noFill/>
          <a:ln/>
        </p:spPr>
        <p:txBody>
          <a:bodyPr wrap="square" lIns="0" tIns="0" rIns="0" bIns="0" rtlCol="0" anchor="t"/>
          <a:lstStyle/>
          <a:p>
            <a:pPr indent="0" marL="0">
              <a:buNone/>
            </a:pPr>
            <a:r>
              <a:rPr lang="en-US" sz="1300" b="1" dirty="0">
                <a:solidFill>
                  <a:srgbClr val="CADCFC"/>
                </a:solidFill>
                <a:latin typeface="Calibri" pitchFamily="34" charset="0"/>
                <a:ea typeface="Calibri" pitchFamily="34" charset="-122"/>
                <a:cs typeface="Calibri" pitchFamily="34" charset="-120"/>
              </a:rPr>
              <a:t>SAP, 2026 API policy</a:t>
            </a:r>
            <a:endParaRPr lang="en-US" sz="1300" dirty="0"/>
          </a:p>
        </p:txBody>
      </p:sp>
      <p:sp>
        <p:nvSpPr>
          <p:cNvPr id="8" name="Text 6"/>
          <p:cNvSpPr/>
          <p:nvPr/>
        </p:nvSpPr>
        <p:spPr>
          <a:xfrm>
            <a:off x="868680" y="4050792"/>
            <a:ext cx="2971800" cy="914400"/>
          </a:xfrm>
          <a:prstGeom prst="rect">
            <a:avLst/>
          </a:prstGeom>
          <a:noFill/>
          <a:ln/>
        </p:spPr>
        <p:txBody>
          <a:bodyPr wrap="square" lIns="0" tIns="0" rIns="0" bIns="0" rtlCol="0" anchor="t"/>
          <a:lstStyle/>
          <a:p>
            <a:pPr indent="0" marL="0">
              <a:lnSpc>
                <a:spcPct val="110000"/>
              </a:lnSpc>
              <a:buNone/>
            </a:pPr>
            <a:r>
              <a:rPr lang="en-US" sz="1300" dirty="0">
                <a:solidFill>
                  <a:srgbClr val="E6ECF5"/>
                </a:solidFill>
                <a:latin typeface="Calibri" pitchFamily="34" charset="0"/>
                <a:ea typeface="Calibri" pitchFamily="34" charset="-122"/>
                <a:cs typeface="Calibri" pitchFamily="34" charset="-120"/>
              </a:rPr>
              <a:t>Third-party agents reach SAP data only through SAP-mediated agents, on a protocol SAP defines, governs, and meters.</a:t>
            </a:r>
            <a:endParaRPr lang="en-US" sz="1300" dirty="0"/>
          </a:p>
        </p:txBody>
      </p:sp>
      <p:sp>
        <p:nvSpPr>
          <p:cNvPr id="9" name="Shape 7"/>
          <p:cNvSpPr/>
          <p:nvPr/>
        </p:nvSpPr>
        <p:spPr>
          <a:xfrm>
            <a:off x="4389120" y="3337560"/>
            <a:ext cx="3429000" cy="1828800"/>
          </a:xfrm>
          <a:prstGeom prst="rect">
            <a:avLst/>
          </a:prstGeom>
          <a:solidFill>
            <a:srgbClr val="26345A"/>
          </a:solidFill>
          <a:ln/>
          <a:effectLst>
            <a:outerShdw sx="100000" sy="100000" kx="0" ky="0" algn="bl" rotWithShape="0" blurRad="88900" dist="38100" dir="8100000">
              <a:srgbClr val="000000">
                <a:alpha val="16000"/>
              </a:srgbClr>
            </a:outerShdw>
          </a:effectLst>
        </p:spPr>
      </p:sp>
      <p:sp>
        <p:nvSpPr>
          <p:cNvPr id="10" name="Shape 8"/>
          <p:cNvSpPr/>
          <p:nvPr/>
        </p:nvSpPr>
        <p:spPr>
          <a:xfrm>
            <a:off x="4389120" y="3337560"/>
            <a:ext cx="3429000" cy="73152"/>
          </a:xfrm>
          <a:prstGeom prst="rect">
            <a:avLst/>
          </a:prstGeom>
          <a:solidFill>
            <a:srgbClr val="B5481F"/>
          </a:solidFill>
          <a:ln/>
        </p:spPr>
      </p:sp>
      <p:sp>
        <p:nvSpPr>
          <p:cNvPr id="11" name="Text 9"/>
          <p:cNvSpPr/>
          <p:nvPr/>
        </p:nvSpPr>
        <p:spPr>
          <a:xfrm>
            <a:off x="4617720" y="3538728"/>
            <a:ext cx="2971800" cy="502920"/>
          </a:xfrm>
          <a:prstGeom prst="rect">
            <a:avLst/>
          </a:prstGeom>
          <a:noFill/>
          <a:ln/>
        </p:spPr>
        <p:txBody>
          <a:bodyPr wrap="square" lIns="0" tIns="0" rIns="0" bIns="0" rtlCol="0" anchor="t"/>
          <a:lstStyle/>
          <a:p>
            <a:pPr indent="0" marL="0">
              <a:buNone/>
            </a:pPr>
            <a:r>
              <a:rPr lang="en-US" sz="1300" b="1" dirty="0">
                <a:solidFill>
                  <a:srgbClr val="CADCFC"/>
                </a:solidFill>
                <a:latin typeface="Calibri" pitchFamily="34" charset="0"/>
                <a:ea typeface="Calibri" pitchFamily="34" charset="-122"/>
                <a:cs typeface="Calibri" pitchFamily="34" charset="-120"/>
              </a:rPr>
              <a:t>SAP CEO, investor call</a:t>
            </a:r>
            <a:endParaRPr lang="en-US" sz="1300" dirty="0"/>
          </a:p>
        </p:txBody>
      </p:sp>
      <p:sp>
        <p:nvSpPr>
          <p:cNvPr id="12" name="Text 10"/>
          <p:cNvSpPr/>
          <p:nvPr/>
        </p:nvSpPr>
        <p:spPr>
          <a:xfrm>
            <a:off x="4617720" y="4050792"/>
            <a:ext cx="2971800" cy="914400"/>
          </a:xfrm>
          <a:prstGeom prst="rect">
            <a:avLst/>
          </a:prstGeom>
          <a:noFill/>
          <a:ln/>
        </p:spPr>
        <p:txBody>
          <a:bodyPr wrap="square" lIns="0" tIns="0" rIns="0" bIns="0" rtlCol="0" anchor="t"/>
          <a:lstStyle/>
          <a:p>
            <a:pPr indent="0" marL="0">
              <a:lnSpc>
                <a:spcPct val="110000"/>
              </a:lnSpc>
              <a:buNone/>
            </a:pPr>
            <a:r>
              <a:rPr lang="en-US" sz="1300" dirty="0">
                <a:solidFill>
                  <a:srgbClr val="E6ECF5"/>
                </a:solidFill>
                <a:latin typeface="Calibri" pitchFamily="34" charset="0"/>
                <a:ea typeface="Calibri" pitchFamily="34" charset="-122"/>
                <a:cs typeface="Calibri" pitchFamily="34" charset="-120"/>
              </a:rPr>
              <a:t>Reserves the right to throttle high-volume agent traffic; calls SAP's domain knowledge “a great asset to protect.”</a:t>
            </a:r>
            <a:endParaRPr lang="en-US" sz="1300" dirty="0"/>
          </a:p>
        </p:txBody>
      </p:sp>
      <p:sp>
        <p:nvSpPr>
          <p:cNvPr id="13" name="Shape 11"/>
          <p:cNvSpPr/>
          <p:nvPr/>
        </p:nvSpPr>
        <p:spPr>
          <a:xfrm>
            <a:off x="8138160" y="3337560"/>
            <a:ext cx="3429000" cy="1828800"/>
          </a:xfrm>
          <a:prstGeom prst="rect">
            <a:avLst/>
          </a:prstGeom>
          <a:solidFill>
            <a:srgbClr val="26345A"/>
          </a:solidFill>
          <a:ln/>
          <a:effectLst>
            <a:outerShdw sx="100000" sy="100000" kx="0" ky="0" algn="bl" rotWithShape="0" blurRad="88900" dist="38100" dir="8100000">
              <a:srgbClr val="000000">
                <a:alpha val="16000"/>
              </a:srgbClr>
            </a:outerShdw>
          </a:effectLst>
        </p:spPr>
      </p:sp>
      <p:sp>
        <p:nvSpPr>
          <p:cNvPr id="14" name="Shape 12"/>
          <p:cNvSpPr/>
          <p:nvPr/>
        </p:nvSpPr>
        <p:spPr>
          <a:xfrm>
            <a:off x="8138160" y="3337560"/>
            <a:ext cx="3429000" cy="73152"/>
          </a:xfrm>
          <a:prstGeom prst="rect">
            <a:avLst/>
          </a:prstGeom>
          <a:solidFill>
            <a:srgbClr val="B5481F"/>
          </a:solidFill>
          <a:ln/>
        </p:spPr>
      </p:sp>
      <p:sp>
        <p:nvSpPr>
          <p:cNvPr id="15" name="Text 13"/>
          <p:cNvSpPr/>
          <p:nvPr/>
        </p:nvSpPr>
        <p:spPr>
          <a:xfrm>
            <a:off x="8366760" y="3538728"/>
            <a:ext cx="2971800" cy="502920"/>
          </a:xfrm>
          <a:prstGeom prst="rect">
            <a:avLst/>
          </a:prstGeom>
          <a:noFill/>
          <a:ln/>
        </p:spPr>
        <p:txBody>
          <a:bodyPr wrap="square" lIns="0" tIns="0" rIns="0" bIns="0" rtlCol="0" anchor="t"/>
          <a:lstStyle/>
          <a:p>
            <a:pPr indent="0" marL="0">
              <a:buNone/>
            </a:pPr>
            <a:r>
              <a:rPr lang="en-US" sz="1300" b="1" dirty="0">
                <a:solidFill>
                  <a:srgbClr val="CADCFC"/>
                </a:solidFill>
                <a:latin typeface="Calibri" pitchFamily="34" charset="0"/>
                <a:ea typeface="Calibri" pitchFamily="34" charset="-122"/>
                <a:cs typeface="Calibri" pitchFamily="34" charset="-120"/>
              </a:rPr>
              <a:t>Forrester, May 2026</a:t>
            </a:r>
            <a:endParaRPr lang="en-US" sz="1300" dirty="0"/>
          </a:p>
        </p:txBody>
      </p:sp>
      <p:sp>
        <p:nvSpPr>
          <p:cNvPr id="16" name="Text 14"/>
          <p:cNvSpPr/>
          <p:nvPr/>
        </p:nvSpPr>
        <p:spPr>
          <a:xfrm>
            <a:off x="8366760" y="4050792"/>
            <a:ext cx="2971800" cy="914400"/>
          </a:xfrm>
          <a:prstGeom prst="rect">
            <a:avLst/>
          </a:prstGeom>
          <a:noFill/>
          <a:ln/>
        </p:spPr>
        <p:txBody>
          <a:bodyPr wrap="square" lIns="0" tIns="0" rIns="0" bIns="0" rtlCol="0" anchor="t"/>
          <a:lstStyle/>
          <a:p>
            <a:pPr indent="0" marL="0">
              <a:lnSpc>
                <a:spcPct val="110000"/>
              </a:lnSpc>
              <a:buNone/>
            </a:pPr>
            <a:r>
              <a:rPr lang="en-US" sz="1300" dirty="0">
                <a:solidFill>
                  <a:srgbClr val="E6ECF5"/>
                </a:solidFill>
                <a:latin typeface="Calibri" pitchFamily="34" charset="0"/>
                <a:ea typeface="Calibri" pitchFamily="34" charset="-122"/>
                <a:cs typeface="Calibri" pitchFamily="34" charset="-120"/>
              </a:rPr>
              <a:t>Characterized the move as an attempt to become “the gatekeeper of enterprise AI.”</a:t>
            </a:r>
            <a:endParaRPr lang="en-US" sz="1300" dirty="0"/>
          </a:p>
        </p:txBody>
      </p:sp>
      <p:sp>
        <p:nvSpPr>
          <p:cNvPr id="17" name="Text 15"/>
          <p:cNvSpPr/>
          <p:nvPr/>
        </p:nvSpPr>
        <p:spPr>
          <a:xfrm>
            <a:off x="640080" y="5440680"/>
            <a:ext cx="10881360" cy="502920"/>
          </a:xfrm>
          <a:prstGeom prst="rect">
            <a:avLst/>
          </a:prstGeom>
          <a:noFill/>
          <a:ln/>
        </p:spPr>
        <p:txBody>
          <a:bodyPr wrap="square" lIns="0" tIns="0" rIns="0" bIns="0" rtlCol="0" anchor="ctr"/>
          <a:lstStyle/>
          <a:p>
            <a:pPr algn="ctr" indent="0" marL="0">
              <a:lnSpc>
                <a:spcPct val="110000"/>
              </a:lnSpc>
              <a:buNone/>
            </a:pPr>
            <a:r>
              <a:rPr lang="en-US" sz="1500" i="1" dirty="0">
                <a:solidFill>
                  <a:srgbClr val="CADCFC"/>
                </a:solidFill>
                <a:latin typeface="Calibri" pitchFamily="34" charset="0"/>
                <a:ea typeface="Calibri" pitchFamily="34" charset="-122"/>
                <a:cs typeface="Calibri" pitchFamily="34" charset="-120"/>
              </a:rPr>
              <a:t>Only the enterprise has the incentive to own the capability layer. That makes it the one differentiator that will not erode as the market matures.</a:t>
            </a:r>
            <a:endParaRPr lang="en-US" sz="1500" dirty="0"/>
          </a:p>
        </p:txBody>
      </p:sp>
      <p:sp>
        <p:nvSpPr>
          <p:cNvPr id="18" name="Text 16"/>
          <p:cNvSpPr/>
          <p:nvPr/>
        </p:nvSpPr>
        <p:spPr>
          <a:xfrm>
            <a:off x="640080" y="5989320"/>
            <a:ext cx="10881360" cy="274320"/>
          </a:xfrm>
          <a:prstGeom prst="rect">
            <a:avLst/>
          </a:prstGeom>
          <a:noFill/>
          <a:ln/>
        </p:spPr>
        <p:txBody>
          <a:bodyPr wrap="square" lIns="0" tIns="0" rIns="0" bIns="0" rtlCol="0" anchor="ctr"/>
          <a:lstStyle/>
          <a:p>
            <a:pPr algn="ctr" indent="0" marL="0">
              <a:buNone/>
            </a:pPr>
            <a:r>
              <a:rPr lang="en-US" sz="950" dirty="0">
                <a:solidFill>
                  <a:srgbClr val="8A94A3"/>
                </a:solidFill>
                <a:latin typeface="Calibri" pitchFamily="34" charset="0"/>
                <a:ea typeface="Calibri" pitchFamily="34" charset="-122"/>
                <a:cs typeface="Calibri" pitchFamily="34" charset="-120"/>
              </a:rPr>
              <a:t>Sources: C. Klein (SAP CEO) investor call via The Register (Apr 2026); SAP 2026 API policy; Forrester (May 2026). Salesforce and ServiceNow have not imposed equivalent hard restrictions.</a:t>
            </a:r>
            <a:endParaRPr lang="en-US" sz="950" dirty="0"/>
          </a:p>
        </p:txBody>
      </p:sp>
      <p:sp>
        <p:nvSpPr>
          <p:cNvPr id="19" name="Text 17"/>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20" name="Text 18"/>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C6E8F"/>
                </a:solidFill>
                <a:latin typeface="Calibri" pitchFamily="34" charset="0"/>
                <a:ea typeface="Calibri" pitchFamily="34" charset="-122"/>
                <a:cs typeface="Calibri" pitchFamily="34" charset="-120"/>
              </a:rPr>
              <a:t>CAPABILITY MODEL</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Capabilities as the unit of analysis, not a list of tools</a:t>
            </a:r>
            <a:endParaRPr lang="en-US" sz="3000" dirty="0"/>
          </a:p>
        </p:txBody>
      </p:sp>
      <p:pic>
        <p:nvPicPr>
          <p:cNvPr id="4" name="Image 0" descr="diagram4_capability.png">    </p:cNvPr>
          <p:cNvPicPr>
            <a:picLocks noChangeAspect="1"/>
          </p:cNvPicPr>
          <p:nvPr/>
        </p:nvPicPr>
        <p:blipFill>
          <a:blip r:embed="rId1"/>
          <a:stretch>
            <a:fillRect/>
          </a:stretch>
        </p:blipFill>
        <p:spPr>
          <a:xfrm>
            <a:off x="3119034" y="1783080"/>
            <a:ext cx="5923452" cy="4160520"/>
          </a:xfrm>
          <a:prstGeom prst="rect">
            <a:avLst/>
          </a:prstGeom>
        </p:spPr>
      </p:pic>
      <p:sp>
        <p:nvSpPr>
          <p:cNvPr id="5" name="Text 2"/>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6" name="Text 3"/>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C6E8F"/>
                </a:solidFill>
                <a:latin typeface="Calibri" pitchFamily="34" charset="0"/>
                <a:ea typeface="Calibri" pitchFamily="34" charset="-122"/>
                <a:cs typeface="Calibri" pitchFamily="34" charset="-120"/>
              </a:rPr>
              <a:t>THE PATH</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A staged path, not a four-platform megaproject</a:t>
            </a:r>
            <a:endParaRPr lang="en-US" sz="3000" dirty="0"/>
          </a:p>
        </p:txBody>
      </p:sp>
      <p:pic>
        <p:nvPicPr>
          <p:cNvPr id="4" name="Image 0" descr="diagram2_maturity.png">    </p:cNvPr>
          <p:cNvPicPr>
            <a:picLocks noChangeAspect="1"/>
          </p:cNvPicPr>
          <p:nvPr/>
        </p:nvPicPr>
        <p:blipFill>
          <a:blip r:embed="rId1"/>
          <a:stretch>
            <a:fillRect/>
          </a:stretch>
        </p:blipFill>
        <p:spPr>
          <a:xfrm>
            <a:off x="640080" y="1828800"/>
            <a:ext cx="5455403" cy="4023360"/>
          </a:xfrm>
          <a:prstGeom prst="rect">
            <a:avLst/>
          </a:prstGeom>
        </p:spPr>
      </p:pic>
      <p:sp>
        <p:nvSpPr>
          <p:cNvPr id="5" name="Shape 2"/>
          <p:cNvSpPr/>
          <p:nvPr/>
        </p:nvSpPr>
        <p:spPr>
          <a:xfrm>
            <a:off x="6506963" y="1920240"/>
            <a:ext cx="5014477" cy="3840480"/>
          </a:xfrm>
          <a:prstGeom prst="rect">
            <a:avLst/>
          </a:prstGeom>
          <a:solidFill>
            <a:srgbClr val="1E2A4A"/>
          </a:solidFill>
          <a:ln/>
          <a:effectLst>
            <a:outerShdw sx="100000" sy="100000" kx="0" ky="0" algn="bl" rotWithShape="0" blurRad="88900" dist="38100" dir="8100000">
              <a:srgbClr val="000000">
                <a:alpha val="16000"/>
              </a:srgbClr>
            </a:outerShdw>
          </a:effectLst>
        </p:spPr>
      </p:sp>
      <p:sp>
        <p:nvSpPr>
          <p:cNvPr id="6" name="Shape 3"/>
          <p:cNvSpPr/>
          <p:nvPr/>
        </p:nvSpPr>
        <p:spPr>
          <a:xfrm>
            <a:off x="6506963" y="1920240"/>
            <a:ext cx="5014477" cy="91440"/>
          </a:xfrm>
          <a:prstGeom prst="rect">
            <a:avLst/>
          </a:prstGeom>
          <a:solidFill>
            <a:srgbClr val="B5481F"/>
          </a:solidFill>
          <a:ln/>
        </p:spPr>
      </p:sp>
      <p:sp>
        <p:nvSpPr>
          <p:cNvPr id="7" name="Text 4"/>
          <p:cNvSpPr/>
          <p:nvPr/>
        </p:nvSpPr>
        <p:spPr>
          <a:xfrm>
            <a:off x="6781283" y="2194560"/>
            <a:ext cx="4465837" cy="36576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THE LEVEL 1 RULE</a:t>
            </a:r>
            <a:endParaRPr lang="en-US" sz="1300" dirty="0"/>
          </a:p>
        </p:txBody>
      </p:sp>
      <p:sp>
        <p:nvSpPr>
          <p:cNvPr id="8" name="Text 5"/>
          <p:cNvSpPr/>
          <p:nvPr/>
        </p:nvSpPr>
        <p:spPr>
          <a:xfrm>
            <a:off x="6781283" y="2606040"/>
            <a:ext cx="4465837" cy="1371600"/>
          </a:xfrm>
          <a:prstGeom prst="rect">
            <a:avLst/>
          </a:prstGeom>
          <a:noFill/>
          <a:ln/>
        </p:spPr>
        <p:txBody>
          <a:bodyPr wrap="square" lIns="0" tIns="0" rIns="0" bIns="0" rtlCol="0" anchor="t"/>
          <a:lstStyle/>
          <a:p>
            <a:pPr indent="0" marL="0">
              <a:lnSpc>
                <a:spcPct val="112000"/>
              </a:lnSpc>
              <a:buNone/>
            </a:pPr>
            <a:r>
              <a:rPr lang="en-US" sz="1900" b="1" dirty="0">
                <a:solidFill>
                  <a:srgbClr val="FFFFFF"/>
                </a:solidFill>
                <a:latin typeface="Georgia" pitchFamily="34" charset="0"/>
                <a:ea typeface="Georgia" pitchFamily="34" charset="-122"/>
                <a:cs typeface="Georgia" pitchFamily="34" charset="-120"/>
              </a:rPr>
              <a:t>No production agentic capability without identity binding, authority decisioning, and evidence capture.</a:t>
            </a:r>
            <a:endParaRPr lang="en-US" sz="1900" dirty="0"/>
          </a:p>
        </p:txBody>
      </p:sp>
      <p:sp>
        <p:nvSpPr>
          <p:cNvPr id="9" name="Text 6"/>
          <p:cNvSpPr/>
          <p:nvPr/>
        </p:nvSpPr>
        <p:spPr>
          <a:xfrm>
            <a:off x="6781283" y="4160520"/>
            <a:ext cx="4465837" cy="1463040"/>
          </a:xfrm>
          <a:prstGeom prst="rect">
            <a:avLst/>
          </a:prstGeom>
          <a:noFill/>
          <a:ln/>
        </p:spPr>
        <p:txBody>
          <a:bodyPr wrap="square" lIns="0" tIns="0" rIns="0" bIns="0" rtlCol="0" anchor="t"/>
          <a:lstStyle/>
          <a:p>
            <a:pPr indent="0" marL="0">
              <a:lnSpc>
                <a:spcPct val="115000"/>
              </a:lnSpc>
              <a:buNone/>
            </a:pPr>
            <a:r>
              <a:rPr lang="en-US" sz="1400" dirty="0">
                <a:solidFill>
                  <a:srgbClr val="E6ECF5"/>
                </a:solidFill>
                <a:latin typeface="Calibri" pitchFamily="34" charset="0"/>
                <a:ea typeface="Calibri" pitchFamily="34" charset="-122"/>
                <a:cs typeface="Calibri" pitchFamily="34" charset="-120"/>
              </a:rPr>
              <a:t>Ungoverned agentic deployment is never a step on the path. Each level produces value on its own and prepares the next.</a:t>
            </a:r>
            <a:endParaRPr lang="en-US" sz="1400" dirty="0"/>
          </a:p>
        </p:txBody>
      </p:sp>
      <p:sp>
        <p:nvSpPr>
          <p:cNvPr id="10" name="Text 7"/>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11" name="Text 8"/>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C6E8F"/>
                </a:solidFill>
                <a:latin typeface="Calibri" pitchFamily="34" charset="0"/>
                <a:ea typeface="Calibri" pitchFamily="34" charset="-122"/>
                <a:cs typeface="Calibri" pitchFamily="34" charset="-120"/>
              </a:rPr>
              <a:t>WHAT CHANGES FOR ENTERPRISE IT</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From integrating rented intelligence to owning it</a:t>
            </a:r>
            <a:endParaRPr lang="en-US" sz="3000" dirty="0"/>
          </a:p>
        </p:txBody>
      </p:sp>
      <p:sp>
        <p:nvSpPr>
          <p:cNvPr id="4" name="Shape 2"/>
          <p:cNvSpPr/>
          <p:nvPr/>
        </p:nvSpPr>
        <p:spPr>
          <a:xfrm>
            <a:off x="640080" y="2057400"/>
            <a:ext cx="4937760" cy="3200400"/>
          </a:xfrm>
          <a:prstGeom prst="rect">
            <a:avLst/>
          </a:prstGeom>
          <a:solidFill>
            <a:srgbClr val="F1F3F6"/>
          </a:solidFill>
          <a:ln/>
          <a:effectLst>
            <a:outerShdw sx="100000" sy="100000" kx="0" ky="0" algn="bl" rotWithShape="0" blurRad="88900" dist="38100" dir="8100000">
              <a:srgbClr val="000000">
                <a:alpha val="16000"/>
              </a:srgbClr>
            </a:outerShdw>
          </a:effectLst>
        </p:spPr>
      </p:sp>
      <p:sp>
        <p:nvSpPr>
          <p:cNvPr id="5" name="Text 3"/>
          <p:cNvSpPr/>
          <p:nvPr/>
        </p:nvSpPr>
        <p:spPr>
          <a:xfrm>
            <a:off x="960120" y="2313432"/>
            <a:ext cx="4297680" cy="320040"/>
          </a:xfrm>
          <a:prstGeom prst="rect">
            <a:avLst/>
          </a:prstGeom>
          <a:noFill/>
          <a:ln/>
        </p:spPr>
        <p:txBody>
          <a:bodyPr wrap="square" lIns="0" tIns="0" rIns="0" bIns="0" rtlCol="0" anchor="ctr"/>
          <a:lstStyle/>
          <a:p>
            <a:pPr indent="0" marL="0">
              <a:buNone/>
            </a:pPr>
            <a:r>
              <a:rPr lang="en-US" sz="1300" b="1" spc="200" kern="0" dirty="0">
                <a:solidFill>
                  <a:srgbClr val="5A6473"/>
                </a:solidFill>
                <a:latin typeface="Calibri" pitchFamily="34" charset="0"/>
                <a:ea typeface="Calibri" pitchFamily="34" charset="-122"/>
                <a:cs typeface="Calibri" pitchFamily="34" charset="-120"/>
              </a:rPr>
              <a:t>YESTERDAY</a:t>
            </a:r>
            <a:endParaRPr lang="en-US" sz="1300" dirty="0"/>
          </a:p>
        </p:txBody>
      </p:sp>
      <p:sp>
        <p:nvSpPr>
          <p:cNvPr id="6" name="Text 4"/>
          <p:cNvSpPr/>
          <p:nvPr/>
        </p:nvSpPr>
        <p:spPr>
          <a:xfrm>
            <a:off x="960120" y="2743200"/>
            <a:ext cx="4297680" cy="2286000"/>
          </a:xfrm>
          <a:prstGeom prst="rect">
            <a:avLst/>
          </a:prstGeom>
          <a:noFill/>
          <a:ln/>
        </p:spPr>
        <p:txBody>
          <a:bodyPr wrap="square" lIns="0" tIns="0" rIns="0" bIns="0" rtlCol="0" anchor="t"/>
          <a:lstStyle/>
          <a:p>
            <a:pPr indent="0" marL="0">
              <a:lnSpc>
                <a:spcPct val="130000"/>
              </a:lnSpc>
              <a:buNone/>
            </a:pPr>
            <a:r>
              <a:rPr lang="en-US" sz="1800" b="1" dirty="0">
                <a:solidFill>
                  <a:srgbClr val="1A1A1A"/>
                </a:solidFill>
                <a:latin typeface="Calibri" pitchFamily="34" charset="0"/>
                <a:ea typeface="Calibri" pitchFamily="34" charset="-122"/>
                <a:cs typeface="Calibri" pitchFamily="34" charset="-120"/>
              </a:rPr>
              <a:t>COTS management &amp; integration</a:t>
            </a:r>
            <a:endParaRPr lang="en-US" sz="1500" dirty="0"/>
          </a:p>
          <a:p>
            <a:pPr indent="0" marL="0">
              <a:lnSpc>
                <a:spcPct val="130000"/>
              </a:lnSpc>
              <a:buNone/>
            </a:pPr>
            <a:endParaRPr lang="en-US" sz="1500" dirty="0"/>
          </a:p>
          <a:p>
            <a:pPr indent="0" marL="0">
              <a:lnSpc>
                <a:spcPct val="130000"/>
              </a:lnSpc>
              <a:buNone/>
            </a:pPr>
            <a:r>
              <a:rPr lang="en-US" sz="1500" dirty="0">
                <a:solidFill>
                  <a:srgbClr val="1A1A1A"/>
                </a:solidFill>
                <a:latin typeface="Calibri" pitchFamily="34" charset="0"/>
                <a:ea typeface="Calibri" pitchFamily="34" charset="-122"/>
                <a:cs typeface="Calibri" pitchFamily="34" charset="-120"/>
              </a:rPr>
              <a:t>Unit of work: the vendor seam</a:t>
            </a:r>
            <a:endParaRPr lang="en-US" sz="1500" dirty="0"/>
          </a:p>
          <a:p>
            <a:pPr indent="0" marL="0">
              <a:lnSpc>
                <a:spcPct val="130000"/>
              </a:lnSpc>
              <a:buNone/>
            </a:pPr>
            <a:r>
              <a:rPr lang="en-US" sz="1500" dirty="0">
                <a:solidFill>
                  <a:srgbClr val="1A1A1A"/>
                </a:solidFill>
                <a:latin typeface="Calibri" pitchFamily="34" charset="0"/>
                <a:ea typeface="Calibri" pitchFamily="34" charset="-122"/>
                <a:cs typeface="Calibri" pitchFamily="34" charset="-120"/>
              </a:rPr>
              <a:t>Core skill: procurement &amp; integration</a:t>
            </a:r>
            <a:endParaRPr lang="en-US" sz="1500" dirty="0"/>
          </a:p>
          <a:p>
            <a:pPr indent="0" marL="0">
              <a:lnSpc>
                <a:spcPct val="130000"/>
              </a:lnSpc>
              <a:buNone/>
            </a:pPr>
            <a:r>
              <a:rPr lang="en-US" sz="1500" dirty="0">
                <a:solidFill>
                  <a:srgbClr val="1A1A1A"/>
                </a:solidFill>
                <a:latin typeface="Calibri" pitchFamily="34" charset="0"/>
                <a:ea typeface="Calibri" pitchFamily="34" charset="-122"/>
                <a:cs typeface="Calibri" pitchFamily="34" charset="-120"/>
              </a:rPr>
              <a:t>Intelligence accrues to: the vendor</a:t>
            </a:r>
            <a:endParaRPr lang="en-US" sz="1500" dirty="0"/>
          </a:p>
        </p:txBody>
      </p:sp>
      <p:sp>
        <p:nvSpPr>
          <p:cNvPr id="7" name="Text 5"/>
          <p:cNvSpPr/>
          <p:nvPr/>
        </p:nvSpPr>
        <p:spPr>
          <a:xfrm>
            <a:off x="5577840" y="3246120"/>
            <a:ext cx="548640" cy="822960"/>
          </a:xfrm>
          <a:prstGeom prst="rect">
            <a:avLst/>
          </a:prstGeom>
          <a:noFill/>
          <a:ln/>
        </p:spPr>
        <p:txBody>
          <a:bodyPr wrap="square" lIns="0" tIns="0" rIns="0" bIns="0" rtlCol="0" anchor="ctr"/>
          <a:lstStyle/>
          <a:p>
            <a:pPr algn="ctr" indent="0" marL="0">
              <a:buNone/>
            </a:pPr>
            <a:r>
              <a:rPr lang="en-US" sz="4000" b="1" dirty="0">
                <a:solidFill>
                  <a:srgbClr val="B5481F"/>
                </a:solidFill>
                <a:latin typeface="Calibri" pitchFamily="34" charset="0"/>
                <a:ea typeface="Calibri" pitchFamily="34" charset="-122"/>
                <a:cs typeface="Calibri" pitchFamily="34" charset="-120"/>
              </a:rPr>
              <a:t>→</a:t>
            </a:r>
            <a:endParaRPr lang="en-US" sz="4000" dirty="0"/>
          </a:p>
        </p:txBody>
      </p:sp>
      <p:sp>
        <p:nvSpPr>
          <p:cNvPr id="8" name="Shape 6"/>
          <p:cNvSpPr/>
          <p:nvPr/>
        </p:nvSpPr>
        <p:spPr>
          <a:xfrm>
            <a:off x="6126480" y="2057400"/>
            <a:ext cx="4937760" cy="3200400"/>
          </a:xfrm>
          <a:prstGeom prst="rect">
            <a:avLst/>
          </a:prstGeom>
          <a:solidFill>
            <a:srgbClr val="1E2A4A"/>
          </a:solidFill>
          <a:ln/>
          <a:effectLst>
            <a:outerShdw sx="100000" sy="100000" kx="0" ky="0" algn="bl" rotWithShape="0" blurRad="88900" dist="38100" dir="8100000">
              <a:srgbClr val="000000">
                <a:alpha val="16000"/>
              </a:srgbClr>
            </a:outerShdw>
          </a:effectLst>
        </p:spPr>
      </p:sp>
      <p:sp>
        <p:nvSpPr>
          <p:cNvPr id="9" name="Text 7"/>
          <p:cNvSpPr/>
          <p:nvPr/>
        </p:nvSpPr>
        <p:spPr>
          <a:xfrm>
            <a:off x="6446520" y="2313432"/>
            <a:ext cx="429768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THE AGENTIC ERA</a:t>
            </a:r>
            <a:endParaRPr lang="en-US" sz="1300" dirty="0"/>
          </a:p>
        </p:txBody>
      </p:sp>
      <p:sp>
        <p:nvSpPr>
          <p:cNvPr id="10" name="Text 8"/>
          <p:cNvSpPr/>
          <p:nvPr/>
        </p:nvSpPr>
        <p:spPr>
          <a:xfrm>
            <a:off x="6446520" y="2743200"/>
            <a:ext cx="4297680" cy="2286000"/>
          </a:xfrm>
          <a:prstGeom prst="rect">
            <a:avLst/>
          </a:prstGeom>
          <a:noFill/>
          <a:ln/>
        </p:spPr>
        <p:txBody>
          <a:bodyPr wrap="square" lIns="0" tIns="0" rIns="0" bIns="0" rtlCol="0" anchor="t"/>
          <a:lstStyle/>
          <a:p>
            <a:pPr indent="0" marL="0">
              <a:lnSpc>
                <a:spcPct val="130000"/>
              </a:lnSpc>
              <a:buNone/>
            </a:pPr>
            <a:r>
              <a:rPr lang="en-US" sz="1800" b="1" dirty="0">
                <a:solidFill>
                  <a:srgbClr val="FFFFFF"/>
                </a:solidFill>
                <a:latin typeface="Calibri" pitchFamily="34" charset="0"/>
                <a:ea typeface="Calibri" pitchFamily="34" charset="-122"/>
                <a:cs typeface="Calibri" pitchFamily="34" charset="-120"/>
              </a:rPr>
              <a:t>AI-enabled platform lifecycle ownership</a:t>
            </a:r>
            <a:endParaRPr lang="en-US" sz="1500" dirty="0"/>
          </a:p>
          <a:p>
            <a:pPr indent="0" marL="0">
              <a:lnSpc>
                <a:spcPct val="130000"/>
              </a:lnSpc>
              <a:buNone/>
            </a:pPr>
            <a:endParaRPr lang="en-US" sz="1500" dirty="0"/>
          </a:p>
          <a:p>
            <a:pPr indent="0" marL="0">
              <a:lnSpc>
                <a:spcPct val="130000"/>
              </a:lnSpc>
              <a:buNone/>
            </a:pPr>
            <a:r>
              <a:rPr lang="en-US" sz="1500" dirty="0">
                <a:solidFill>
                  <a:srgbClr val="E6ECF5"/>
                </a:solidFill>
                <a:latin typeface="Calibri" pitchFamily="34" charset="0"/>
                <a:ea typeface="Calibri" pitchFamily="34" charset="-122"/>
                <a:cs typeface="Calibri" pitchFamily="34" charset="-120"/>
              </a:rPr>
              <a:t>Unit of work: the owned platform</a:t>
            </a:r>
            <a:endParaRPr lang="en-US" sz="1500" dirty="0"/>
          </a:p>
          <a:p>
            <a:pPr indent="0" marL="0">
              <a:lnSpc>
                <a:spcPct val="130000"/>
              </a:lnSpc>
              <a:buNone/>
            </a:pPr>
            <a:r>
              <a:rPr lang="en-US" sz="1500" dirty="0">
                <a:solidFill>
                  <a:srgbClr val="E6ECF5"/>
                </a:solidFill>
                <a:latin typeface="Calibri" pitchFamily="34" charset="0"/>
                <a:ea typeface="Calibri" pitchFamily="34" charset="-122"/>
                <a:cs typeface="Calibri" pitchFamily="34" charset="-120"/>
              </a:rPr>
              <a:t>Core skill: platform engineering &amp; governance</a:t>
            </a:r>
            <a:endParaRPr lang="en-US" sz="1500" dirty="0"/>
          </a:p>
          <a:p>
            <a:pPr indent="0" marL="0">
              <a:lnSpc>
                <a:spcPct val="130000"/>
              </a:lnSpc>
              <a:buNone/>
            </a:pPr>
            <a:r>
              <a:rPr lang="en-US" sz="1500" dirty="0">
                <a:solidFill>
                  <a:srgbClr val="E6ECF5"/>
                </a:solidFill>
                <a:latin typeface="Calibri" pitchFamily="34" charset="0"/>
                <a:ea typeface="Calibri" pitchFamily="34" charset="-122"/>
                <a:cs typeface="Calibri" pitchFamily="34" charset="-120"/>
              </a:rPr>
              <a:t>Intelligence accrues to: the enterprise</a:t>
            </a:r>
            <a:endParaRPr lang="en-US" sz="1500" dirty="0"/>
          </a:p>
        </p:txBody>
      </p:sp>
      <p:sp>
        <p:nvSpPr>
          <p:cNvPr id="11" name="Text 9"/>
          <p:cNvSpPr/>
          <p:nvPr/>
        </p:nvSpPr>
        <p:spPr>
          <a:xfrm>
            <a:off x="640080" y="5440680"/>
            <a:ext cx="10881360" cy="731520"/>
          </a:xfrm>
          <a:prstGeom prst="rect">
            <a:avLst/>
          </a:prstGeom>
          <a:noFill/>
          <a:ln/>
        </p:spPr>
        <p:txBody>
          <a:bodyPr wrap="square" lIns="0" tIns="0" rIns="0" bIns="0" rtlCol="0" anchor="ctr"/>
          <a:lstStyle/>
          <a:p>
            <a:pPr algn="ctr" indent="0" marL="0">
              <a:lnSpc>
                <a:spcPct val="110000"/>
              </a:lnSpc>
              <a:buNone/>
            </a:pPr>
            <a:r>
              <a:rPr lang="en-US" sz="1350" i="1" dirty="0">
                <a:solidFill>
                  <a:srgbClr val="5A6473"/>
                </a:solidFill>
                <a:latin typeface="Calibri" pitchFamily="34" charset="0"/>
                <a:ea typeface="Calibri" pitchFamily="34" charset="-122"/>
                <a:cs typeface="Calibri" pitchFamily="34" charset="-120"/>
              </a:rPr>
              <a:t>“Rented intelligence” is the operational learning, every refined workflow and handled edge case, that today accrues inside the vendor's platform rather than the enterprise's. A shift in the center of gravity, not a total replacement: vendor management persists as a supporting activity; platform lifecycle ownership becomes the defining one.</a:t>
            </a:r>
            <a:endParaRPr lang="en-US" sz="1350" dirty="0"/>
          </a:p>
        </p:txBody>
      </p:sp>
      <p:sp>
        <p:nvSpPr>
          <p:cNvPr id="12" name="Text 10"/>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13" name="Text 11"/>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C6E8F"/>
                </a:solidFill>
                <a:latin typeface="Calibri" pitchFamily="34" charset="0"/>
                <a:ea typeface="Calibri" pitchFamily="34" charset="-122"/>
                <a:cs typeface="Calibri" pitchFamily="34" charset="-120"/>
              </a:rPr>
              <a:t>HONEST BOUNDARIES</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This is not a universal prescription</a:t>
            </a:r>
            <a:endParaRPr lang="en-US" sz="3000" dirty="0"/>
          </a:p>
        </p:txBody>
      </p:sp>
      <p:sp>
        <p:nvSpPr>
          <p:cNvPr id="4" name="Shape 2"/>
          <p:cNvSpPr/>
          <p:nvPr/>
        </p:nvSpPr>
        <p:spPr>
          <a:xfrm>
            <a:off x="640080" y="2011680"/>
            <a:ext cx="5074920" cy="3566160"/>
          </a:xfrm>
          <a:prstGeom prst="rect">
            <a:avLst/>
          </a:prstGeom>
          <a:solidFill>
            <a:srgbClr val="EEF1F6"/>
          </a:solidFill>
          <a:ln/>
          <a:effectLst>
            <a:outerShdw sx="100000" sy="100000" kx="0" ky="0" algn="bl" rotWithShape="0" blurRad="88900" dist="38100" dir="8100000">
              <a:srgbClr val="000000">
                <a:alpha val="16000"/>
              </a:srgbClr>
            </a:outerShdw>
          </a:effectLst>
        </p:spPr>
      </p:sp>
      <p:sp>
        <p:nvSpPr>
          <p:cNvPr id="5" name="Shape 3"/>
          <p:cNvSpPr/>
          <p:nvPr/>
        </p:nvSpPr>
        <p:spPr>
          <a:xfrm>
            <a:off x="640080" y="2011680"/>
            <a:ext cx="5074920" cy="548640"/>
          </a:xfrm>
          <a:prstGeom prst="rect">
            <a:avLst/>
          </a:prstGeom>
          <a:solidFill>
            <a:srgbClr val="2C6E8F"/>
          </a:solidFill>
          <a:ln/>
        </p:spPr>
      </p:sp>
      <p:sp>
        <p:nvSpPr>
          <p:cNvPr id="6" name="Text 4"/>
          <p:cNvSpPr/>
          <p:nvPr/>
        </p:nvSpPr>
        <p:spPr>
          <a:xfrm>
            <a:off x="640080" y="2011680"/>
            <a:ext cx="507492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BUILD &amp; OWN WHEN</a:t>
            </a:r>
            <a:endParaRPr lang="en-US" sz="1400" dirty="0"/>
          </a:p>
        </p:txBody>
      </p:sp>
      <p:sp>
        <p:nvSpPr>
          <p:cNvPr id="7" name="Text 5"/>
          <p:cNvSpPr/>
          <p:nvPr/>
        </p:nvSpPr>
        <p:spPr>
          <a:xfrm>
            <a:off x="1005840" y="2834640"/>
            <a:ext cx="4343400" cy="246888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Classified or mission systems</a:t>
            </a:r>
            <a:endParaRPr lang="en-US" sz="1500" dirty="0"/>
          </a:p>
          <a:p>
            <a:pPr marL="342900" indent="-342900">
              <a:lnSpc>
                <a:spcPct val="1250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Regimes requiring first-party auditability of all agentic operations</a:t>
            </a:r>
            <a:endParaRPr lang="en-US" sz="1500" dirty="0"/>
          </a:p>
          <a:p>
            <a:pPr marL="342900" indent="-342900">
              <a:lnSpc>
                <a:spcPct val="1250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Sovereignty exposure that makes vendor governance unacceptable</a:t>
            </a:r>
            <a:endParaRPr lang="en-US" sz="1500" dirty="0"/>
          </a:p>
        </p:txBody>
      </p:sp>
      <p:sp>
        <p:nvSpPr>
          <p:cNvPr id="8" name="Shape 6"/>
          <p:cNvSpPr/>
          <p:nvPr/>
        </p:nvSpPr>
        <p:spPr>
          <a:xfrm>
            <a:off x="6172200" y="2011680"/>
            <a:ext cx="5074920" cy="3566160"/>
          </a:xfrm>
          <a:prstGeom prst="rect">
            <a:avLst/>
          </a:prstGeom>
          <a:solidFill>
            <a:srgbClr val="F1F3F6"/>
          </a:solidFill>
          <a:ln/>
          <a:effectLst>
            <a:outerShdw sx="100000" sy="100000" kx="0" ky="0" algn="bl" rotWithShape="0" blurRad="88900" dist="38100" dir="8100000">
              <a:srgbClr val="000000">
                <a:alpha val="16000"/>
              </a:srgbClr>
            </a:outerShdw>
          </a:effectLst>
        </p:spPr>
      </p:sp>
      <p:sp>
        <p:nvSpPr>
          <p:cNvPr id="9" name="Shape 7"/>
          <p:cNvSpPr/>
          <p:nvPr/>
        </p:nvSpPr>
        <p:spPr>
          <a:xfrm>
            <a:off x="6172200" y="2011680"/>
            <a:ext cx="5074920" cy="548640"/>
          </a:xfrm>
          <a:prstGeom prst="rect">
            <a:avLst/>
          </a:prstGeom>
          <a:solidFill>
            <a:srgbClr val="5A6473"/>
          </a:solidFill>
          <a:ln/>
        </p:spPr>
      </p:sp>
      <p:sp>
        <p:nvSpPr>
          <p:cNvPr id="10" name="Text 8"/>
          <p:cNvSpPr/>
          <p:nvPr/>
        </p:nvSpPr>
        <p:spPr>
          <a:xfrm>
            <a:off x="6172200" y="2011680"/>
            <a:ext cx="5074920" cy="54864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RENT INSTEAD WHEN</a:t>
            </a:r>
            <a:endParaRPr lang="en-US" sz="1400" dirty="0"/>
          </a:p>
        </p:txBody>
      </p:sp>
      <p:sp>
        <p:nvSpPr>
          <p:cNvPr id="11" name="Text 9"/>
          <p:cNvSpPr/>
          <p:nvPr/>
        </p:nvSpPr>
        <p:spPr>
          <a:xfrm>
            <a:off x="6537960" y="2834640"/>
            <a:ext cx="4343400" cy="246888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Low regulatory and sovereignty exposure</a:t>
            </a:r>
            <a:endParaRPr lang="en-US" sz="1500" dirty="0"/>
          </a:p>
          <a:p>
            <a:pPr marL="342900" indent="-342900">
              <a:lnSpc>
                <a:spcPct val="1250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Time-to-first-capability matters more than ownership</a:t>
            </a:r>
            <a:endParaRPr lang="en-US" sz="1500" dirty="0"/>
          </a:p>
          <a:p>
            <a:pPr marL="342900" indent="-342900">
              <a:lnSpc>
                <a:spcPct val="125000"/>
              </a:lnSpc>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Cannot sustain the multi-year horizon or senior-talent commitment</a:t>
            </a:r>
            <a:endParaRPr lang="en-US" sz="1500" dirty="0"/>
          </a:p>
        </p:txBody>
      </p:sp>
      <p:sp>
        <p:nvSpPr>
          <p:cNvPr id="12" name="Text 10"/>
          <p:cNvSpPr/>
          <p:nvPr/>
        </p:nvSpPr>
        <p:spPr>
          <a:xfrm>
            <a:off x="640080" y="5715000"/>
            <a:ext cx="10881360" cy="548640"/>
          </a:xfrm>
          <a:prstGeom prst="rect">
            <a:avLst/>
          </a:prstGeom>
          <a:noFill/>
          <a:ln/>
        </p:spPr>
        <p:txBody>
          <a:bodyPr wrap="square" lIns="0" tIns="0" rIns="0" bIns="0" rtlCol="0" anchor="ctr"/>
          <a:lstStyle/>
          <a:p>
            <a:pPr algn="ctr" indent="0" marL="0">
              <a:lnSpc>
                <a:spcPct val="105000"/>
              </a:lnSpc>
              <a:buNone/>
            </a:pPr>
            <a:r>
              <a:rPr lang="en-US" sz="1400" i="1" dirty="0">
                <a:solidFill>
                  <a:srgbClr val="2C6E8F"/>
                </a:solidFill>
                <a:latin typeface="Calibri" pitchFamily="34" charset="0"/>
                <a:ea typeface="Calibri" pitchFamily="34" charset="-122"/>
                <a:cs typeface="Calibri" pitchFamily="34" charset="-120"/>
              </a:rPr>
              <a:t>Either way: do not pass through a stage of ungoverned agentic capability. The primitives belong in place before agents act, whoever owns the platform underneath.</a:t>
            </a:r>
            <a:endParaRPr lang="en-US" sz="1400" dirty="0"/>
          </a:p>
        </p:txBody>
      </p:sp>
      <p:sp>
        <p:nvSpPr>
          <p:cNvPr id="13" name="Text 11"/>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14" name="Text 12"/>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B5481F"/>
                </a:solidFill>
                <a:latin typeface="Calibri" pitchFamily="34" charset="0"/>
                <a:ea typeface="Calibri" pitchFamily="34" charset="-122"/>
                <a:cs typeface="Calibri" pitchFamily="34" charset="-120"/>
              </a:rPr>
              <a:t>EYES OPEN</a:t>
            </a:r>
            <a:endParaRPr lang="en-US" sz="1200" dirty="0"/>
          </a:p>
        </p:txBody>
      </p:sp>
      <p:sp>
        <p:nvSpPr>
          <p:cNvPr id="3" name="Text 1"/>
          <p:cNvSpPr/>
          <p:nvPr/>
        </p:nvSpPr>
        <p:spPr>
          <a:xfrm>
            <a:off x="640080" y="777240"/>
            <a:ext cx="10881360" cy="914400"/>
          </a:xfrm>
          <a:prstGeom prst="rect">
            <a:avLst/>
          </a:prstGeom>
          <a:noFill/>
          <a:ln/>
        </p:spPr>
        <p:txBody>
          <a:bodyPr wrap="square" lIns="0" tIns="0" rIns="0" bIns="0" rtlCol="0" anchor="t"/>
          <a:lstStyle/>
          <a:p>
            <a:pPr indent="0" marL="0">
              <a:buNone/>
            </a:pPr>
            <a:r>
              <a:rPr lang="en-US" sz="3000" b="1" dirty="0">
                <a:solidFill>
                  <a:srgbClr val="1E2A4A"/>
                </a:solidFill>
                <a:latin typeface="Georgia" pitchFamily="34" charset="0"/>
                <a:ea typeface="Georgia" pitchFamily="34" charset="-122"/>
                <a:cs typeface="Georgia" pitchFamily="34" charset="-120"/>
              </a:rPr>
              <a:t>The risks, named rather than buried</a:t>
            </a:r>
            <a:endParaRPr lang="en-US" sz="3000" dirty="0"/>
          </a:p>
        </p:txBody>
      </p:sp>
      <p:sp>
        <p:nvSpPr>
          <p:cNvPr id="4" name="Shape 2"/>
          <p:cNvSpPr/>
          <p:nvPr/>
        </p:nvSpPr>
        <p:spPr>
          <a:xfrm>
            <a:off x="640080" y="1965960"/>
            <a:ext cx="5326380" cy="914400"/>
          </a:xfrm>
          <a:prstGeom prst="rect">
            <a:avLst/>
          </a:prstGeom>
          <a:solidFill>
            <a:srgbClr val="EEF1F6"/>
          </a:solidFill>
          <a:ln/>
        </p:spPr>
      </p:sp>
      <p:sp>
        <p:nvSpPr>
          <p:cNvPr id="5" name="Shape 3"/>
          <p:cNvSpPr/>
          <p:nvPr/>
        </p:nvSpPr>
        <p:spPr>
          <a:xfrm>
            <a:off x="640080" y="1965960"/>
            <a:ext cx="73152" cy="914400"/>
          </a:xfrm>
          <a:prstGeom prst="rect">
            <a:avLst/>
          </a:prstGeom>
          <a:solidFill>
            <a:srgbClr val="B5481F"/>
          </a:solidFill>
          <a:ln/>
        </p:spPr>
      </p:sp>
      <p:sp>
        <p:nvSpPr>
          <p:cNvPr id="6" name="Text 4"/>
          <p:cNvSpPr/>
          <p:nvPr/>
        </p:nvSpPr>
        <p:spPr>
          <a:xfrm>
            <a:off x="914400" y="2075688"/>
            <a:ext cx="4823460" cy="320040"/>
          </a:xfrm>
          <a:prstGeom prst="rect">
            <a:avLst/>
          </a:prstGeom>
          <a:noFill/>
          <a:ln/>
        </p:spPr>
        <p:txBody>
          <a:bodyPr wrap="square" lIns="0" tIns="0" rIns="0" bIns="0" rtlCol="0" anchor="t"/>
          <a:lstStyle/>
          <a:p>
            <a:pPr indent="0" marL="0">
              <a:buNone/>
            </a:pPr>
            <a:r>
              <a:rPr lang="en-US" sz="1400" b="1" dirty="0">
                <a:solidFill>
                  <a:srgbClr val="1E2A4A"/>
                </a:solidFill>
                <a:latin typeface="Calibri" pitchFamily="34" charset="0"/>
                <a:ea typeface="Calibri" pitchFamily="34" charset="-122"/>
                <a:cs typeface="Calibri" pitchFamily="34" charset="-120"/>
              </a:rPr>
              <a:t>OSS-equivalence is the softest link</a:t>
            </a:r>
            <a:endParaRPr lang="en-US" sz="1400" dirty="0"/>
          </a:p>
        </p:txBody>
      </p:sp>
      <p:sp>
        <p:nvSpPr>
          <p:cNvPr id="7" name="Text 5"/>
          <p:cNvSpPr/>
          <p:nvPr/>
        </p:nvSpPr>
        <p:spPr>
          <a:xfrm>
            <a:off x="914400" y="2386584"/>
            <a:ext cx="4823460" cy="411480"/>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Mature open-source alternatives exist for nearly every domain; enterprise-equivalence under real load in the hardest domains is a claim to prove in discovery, not grant.</a:t>
            </a:r>
            <a:endParaRPr lang="en-US" sz="1150" dirty="0"/>
          </a:p>
        </p:txBody>
      </p:sp>
      <p:sp>
        <p:nvSpPr>
          <p:cNvPr id="8" name="Shape 6"/>
          <p:cNvSpPr/>
          <p:nvPr/>
        </p:nvSpPr>
        <p:spPr>
          <a:xfrm>
            <a:off x="6195060" y="1965960"/>
            <a:ext cx="5326380" cy="914400"/>
          </a:xfrm>
          <a:prstGeom prst="rect">
            <a:avLst/>
          </a:prstGeom>
          <a:solidFill>
            <a:srgbClr val="EEF1F6"/>
          </a:solidFill>
          <a:ln/>
        </p:spPr>
      </p:sp>
      <p:sp>
        <p:nvSpPr>
          <p:cNvPr id="9" name="Shape 7"/>
          <p:cNvSpPr/>
          <p:nvPr/>
        </p:nvSpPr>
        <p:spPr>
          <a:xfrm>
            <a:off x="6195060" y="1965960"/>
            <a:ext cx="73152" cy="914400"/>
          </a:xfrm>
          <a:prstGeom prst="rect">
            <a:avLst/>
          </a:prstGeom>
          <a:solidFill>
            <a:srgbClr val="B5481F"/>
          </a:solidFill>
          <a:ln/>
        </p:spPr>
      </p:sp>
      <p:sp>
        <p:nvSpPr>
          <p:cNvPr id="10" name="Text 8"/>
          <p:cNvSpPr/>
          <p:nvPr/>
        </p:nvSpPr>
        <p:spPr>
          <a:xfrm>
            <a:off x="6469380" y="2075688"/>
            <a:ext cx="4823460" cy="320040"/>
          </a:xfrm>
          <a:prstGeom prst="rect">
            <a:avLst/>
          </a:prstGeom>
          <a:noFill/>
          <a:ln/>
        </p:spPr>
        <p:txBody>
          <a:bodyPr wrap="square" lIns="0" tIns="0" rIns="0" bIns="0" rtlCol="0" anchor="t"/>
          <a:lstStyle/>
          <a:p>
            <a:pPr indent="0" marL="0">
              <a:buNone/>
            </a:pPr>
            <a:r>
              <a:rPr lang="en-US" sz="1400" b="1" dirty="0">
                <a:solidFill>
                  <a:srgbClr val="1E2A4A"/>
                </a:solidFill>
                <a:latin typeface="Calibri" pitchFamily="34" charset="0"/>
                <a:ea typeface="Calibri" pitchFamily="34" charset="-122"/>
                <a:cs typeface="Calibri" pitchFamily="34" charset="-120"/>
              </a:rPr>
              <a:t>The cost of separation is real and recurring</a:t>
            </a:r>
            <a:endParaRPr lang="en-US" sz="1400" dirty="0"/>
          </a:p>
        </p:txBody>
      </p:sp>
      <p:sp>
        <p:nvSpPr>
          <p:cNvPr id="11" name="Text 9"/>
          <p:cNvSpPr/>
          <p:nvPr/>
        </p:nvSpPr>
        <p:spPr>
          <a:xfrm>
            <a:off x="6469380" y="2386584"/>
            <a:ext cx="4823460" cy="411480"/>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Four-plane separation internalizes integration work a single vendor would absorb. It is the price of ownership and governability — paid knowingly.</a:t>
            </a:r>
            <a:endParaRPr lang="en-US" sz="1150" dirty="0"/>
          </a:p>
        </p:txBody>
      </p:sp>
      <p:sp>
        <p:nvSpPr>
          <p:cNvPr id="12" name="Shape 10"/>
          <p:cNvSpPr/>
          <p:nvPr/>
        </p:nvSpPr>
        <p:spPr>
          <a:xfrm>
            <a:off x="640080" y="3108960"/>
            <a:ext cx="5326380" cy="914400"/>
          </a:xfrm>
          <a:prstGeom prst="rect">
            <a:avLst/>
          </a:prstGeom>
          <a:solidFill>
            <a:srgbClr val="EEF1F6"/>
          </a:solidFill>
          <a:ln/>
        </p:spPr>
      </p:sp>
      <p:sp>
        <p:nvSpPr>
          <p:cNvPr id="13" name="Shape 11"/>
          <p:cNvSpPr/>
          <p:nvPr/>
        </p:nvSpPr>
        <p:spPr>
          <a:xfrm>
            <a:off x="640080" y="3108960"/>
            <a:ext cx="73152" cy="914400"/>
          </a:xfrm>
          <a:prstGeom prst="rect">
            <a:avLst/>
          </a:prstGeom>
          <a:solidFill>
            <a:srgbClr val="B5481F"/>
          </a:solidFill>
          <a:ln/>
        </p:spPr>
      </p:sp>
      <p:sp>
        <p:nvSpPr>
          <p:cNvPr id="14" name="Text 12"/>
          <p:cNvSpPr/>
          <p:nvPr/>
        </p:nvSpPr>
        <p:spPr>
          <a:xfrm>
            <a:off x="914400" y="3218688"/>
            <a:ext cx="4823460" cy="320040"/>
          </a:xfrm>
          <a:prstGeom prst="rect">
            <a:avLst/>
          </a:prstGeom>
          <a:noFill/>
          <a:ln/>
        </p:spPr>
        <p:txBody>
          <a:bodyPr wrap="square" lIns="0" tIns="0" rIns="0" bIns="0" rtlCol="0" anchor="t"/>
          <a:lstStyle/>
          <a:p>
            <a:pPr indent="0" marL="0">
              <a:buNone/>
            </a:pPr>
            <a:r>
              <a:rPr lang="en-US" sz="1400" b="1" dirty="0">
                <a:solidFill>
                  <a:srgbClr val="1E2A4A"/>
                </a:solidFill>
                <a:latin typeface="Calibri" pitchFamily="34" charset="0"/>
                <a:ea typeface="Calibri" pitchFamily="34" charset="-122"/>
                <a:cs typeface="Calibri" pitchFamily="34" charset="-120"/>
              </a:rPr>
              <a:t>The build-vs-rent bar has risen</a:t>
            </a:r>
            <a:endParaRPr lang="en-US" sz="1400" dirty="0"/>
          </a:p>
        </p:txBody>
      </p:sp>
      <p:sp>
        <p:nvSpPr>
          <p:cNvPr id="15" name="Text 13"/>
          <p:cNvSpPr/>
          <p:nvPr/>
        </p:nvSpPr>
        <p:spPr>
          <a:xfrm>
            <a:off x="914400" y="3529584"/>
            <a:ext cx="4823460" cy="411480"/>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Six months ago an owned control plane competed against nothing comparable. Today it competes against polished vendor control planes shipping now.</a:t>
            </a:r>
            <a:endParaRPr lang="en-US" sz="1150" dirty="0"/>
          </a:p>
        </p:txBody>
      </p:sp>
      <p:sp>
        <p:nvSpPr>
          <p:cNvPr id="16" name="Shape 14"/>
          <p:cNvSpPr/>
          <p:nvPr/>
        </p:nvSpPr>
        <p:spPr>
          <a:xfrm>
            <a:off x="6195060" y="3108960"/>
            <a:ext cx="5326380" cy="914400"/>
          </a:xfrm>
          <a:prstGeom prst="rect">
            <a:avLst/>
          </a:prstGeom>
          <a:solidFill>
            <a:srgbClr val="EEF1F6"/>
          </a:solidFill>
          <a:ln/>
        </p:spPr>
      </p:sp>
      <p:sp>
        <p:nvSpPr>
          <p:cNvPr id="17" name="Shape 15"/>
          <p:cNvSpPr/>
          <p:nvPr/>
        </p:nvSpPr>
        <p:spPr>
          <a:xfrm>
            <a:off x="6195060" y="3108960"/>
            <a:ext cx="73152" cy="914400"/>
          </a:xfrm>
          <a:prstGeom prst="rect">
            <a:avLst/>
          </a:prstGeom>
          <a:solidFill>
            <a:srgbClr val="B5481F"/>
          </a:solidFill>
          <a:ln/>
        </p:spPr>
      </p:sp>
      <p:sp>
        <p:nvSpPr>
          <p:cNvPr id="18" name="Text 16"/>
          <p:cNvSpPr/>
          <p:nvPr/>
        </p:nvSpPr>
        <p:spPr>
          <a:xfrm>
            <a:off x="6469380" y="3218688"/>
            <a:ext cx="4823460" cy="320040"/>
          </a:xfrm>
          <a:prstGeom prst="rect">
            <a:avLst/>
          </a:prstGeom>
          <a:noFill/>
          <a:ln/>
        </p:spPr>
        <p:txBody>
          <a:bodyPr wrap="square" lIns="0" tIns="0" rIns="0" bIns="0" rtlCol="0" anchor="t"/>
          <a:lstStyle/>
          <a:p>
            <a:pPr indent="0" marL="0">
              <a:buNone/>
            </a:pPr>
            <a:r>
              <a:rPr lang="en-US" sz="1400" b="1" dirty="0">
                <a:solidFill>
                  <a:srgbClr val="1E2A4A"/>
                </a:solidFill>
                <a:latin typeface="Calibri" pitchFamily="34" charset="0"/>
                <a:ea typeface="Calibri" pitchFamily="34" charset="-122"/>
                <a:cs typeface="Calibri" pitchFamily="34" charset="-120"/>
              </a:rPr>
              <a:t>The moat deserves the same scrutiny as the vendor critique</a:t>
            </a:r>
            <a:endParaRPr lang="en-US" sz="1400" dirty="0"/>
          </a:p>
        </p:txBody>
      </p:sp>
      <p:sp>
        <p:nvSpPr>
          <p:cNvPr id="19" name="Text 17"/>
          <p:cNvSpPr/>
          <p:nvPr/>
        </p:nvSpPr>
        <p:spPr>
          <a:xfrm>
            <a:off x="6469380" y="3529584"/>
            <a:ext cx="4823460" cy="411480"/>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Owned institutional intelligence is a strong argument against the rental model; whether it is a defensible moat warrants the same standard of evidence.</a:t>
            </a:r>
            <a:endParaRPr lang="en-US" sz="1150" dirty="0"/>
          </a:p>
        </p:txBody>
      </p:sp>
      <p:sp>
        <p:nvSpPr>
          <p:cNvPr id="20" name="Text 18"/>
          <p:cNvSpPr/>
          <p:nvPr/>
        </p:nvSpPr>
        <p:spPr>
          <a:xfrm>
            <a:off x="640080" y="5897880"/>
            <a:ext cx="10881360" cy="457200"/>
          </a:xfrm>
          <a:prstGeom prst="rect">
            <a:avLst/>
          </a:prstGeom>
          <a:noFill/>
          <a:ln/>
        </p:spPr>
        <p:txBody>
          <a:bodyPr wrap="square" lIns="0" tIns="0" rIns="0" bIns="0" rtlCol="0" anchor="ctr"/>
          <a:lstStyle/>
          <a:p>
            <a:pPr algn="ctr" indent="0" marL="0">
              <a:buNone/>
            </a:pPr>
            <a:r>
              <a:rPr lang="en-US" sz="1400" i="1" dirty="0">
                <a:solidFill>
                  <a:srgbClr val="5A6473"/>
                </a:solidFill>
                <a:latin typeface="Calibri" pitchFamily="34" charset="0"/>
                <a:ea typeface="Calibri" pitchFamily="34" charset="-122"/>
                <a:cs typeface="Calibri" pitchFamily="34" charset="-120"/>
              </a:rPr>
              <a:t>None of these is disqualifying. Each is a reason to proceed deliberately, to stage the commitment, and to keep the falsifiable claims under genuine test.</a:t>
            </a:r>
            <a:endParaRPr lang="en-US" sz="1400" dirty="0"/>
          </a:p>
        </p:txBody>
      </p:sp>
      <p:sp>
        <p:nvSpPr>
          <p:cNvPr id="21" name="Text 19"/>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22" name="Text 20"/>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4A"/>
        </a:solidFill>
      </p:bgPr>
    </p:bg>
    <p:spTree>
      <p:nvGrpSpPr>
        <p:cNvPr id="1" name=""/>
        <p:cNvGrpSpPr/>
        <p:nvPr/>
      </p:nvGrpSpPr>
      <p:grpSpPr>
        <a:xfrm>
          <a:off x="0" y="0"/>
          <a:ext cx="0" cy="0"/>
          <a:chOff x="0" y="0"/>
          <a:chExt cx="0" cy="0"/>
        </a:xfrm>
      </p:grpSpPr>
      <p:sp>
        <p:nvSpPr>
          <p:cNvPr id="2" name="Text 0"/>
          <p:cNvSpPr/>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THE DECISION</a:t>
            </a:r>
            <a:endParaRPr lang="en-US" sz="1200" dirty="0"/>
          </a:p>
        </p:txBody>
      </p:sp>
      <p:sp>
        <p:nvSpPr>
          <p:cNvPr id="3" name="Text 1"/>
          <p:cNvSpPr/>
          <p:nvPr/>
        </p:nvSpPr>
        <p:spPr>
          <a:xfrm>
            <a:off x="640080" y="822960"/>
            <a:ext cx="10881360" cy="1188720"/>
          </a:xfrm>
          <a:prstGeom prst="rect">
            <a:avLst/>
          </a:prstGeom>
          <a:noFill/>
          <a:ln/>
        </p:spPr>
        <p:txBody>
          <a:bodyPr wrap="square" lIns="0" tIns="0" rIns="0" bIns="0" rtlCol="0" anchor="t"/>
          <a:lstStyle/>
          <a:p>
            <a:pPr indent="0" marL="0">
              <a:lnSpc>
                <a:spcPct val="110000"/>
              </a:lnSpc>
              <a:buNone/>
            </a:pPr>
            <a:r>
              <a:rPr lang="en-US" sz="2800" b="1" dirty="0">
                <a:solidFill>
                  <a:srgbClr val="FFFFFF"/>
                </a:solidFill>
                <a:latin typeface="Georgia" pitchFamily="34" charset="0"/>
                <a:ea typeface="Georgia" pitchFamily="34" charset="-122"/>
                <a:cs typeface="Georgia" pitchFamily="34" charset="-120"/>
              </a:rPr>
              <a:t>Fund Level 1 and a short discovery. Not the full transformation.</a:t>
            </a:r>
            <a:endParaRPr lang="en-US" sz="2800" dirty="0"/>
          </a:p>
        </p:txBody>
      </p:sp>
      <p:sp>
        <p:nvSpPr>
          <p:cNvPr id="4" name="Shape 2"/>
          <p:cNvSpPr/>
          <p:nvPr/>
        </p:nvSpPr>
        <p:spPr>
          <a:xfrm>
            <a:off x="640080" y="2194560"/>
            <a:ext cx="5074920" cy="3017520"/>
          </a:xfrm>
          <a:prstGeom prst="rect">
            <a:avLst/>
          </a:prstGeom>
          <a:solidFill>
            <a:srgbClr val="26345A"/>
          </a:solidFill>
          <a:ln/>
          <a:effectLst>
            <a:outerShdw sx="100000" sy="100000" kx="0" ky="0" algn="bl" rotWithShape="0" blurRad="88900" dist="38100" dir="8100000">
              <a:srgbClr val="000000">
                <a:alpha val="16000"/>
              </a:srgbClr>
            </a:outerShdw>
          </a:effectLst>
        </p:spPr>
      </p:sp>
      <p:sp>
        <p:nvSpPr>
          <p:cNvPr id="5" name="Shape 3"/>
          <p:cNvSpPr/>
          <p:nvPr/>
        </p:nvSpPr>
        <p:spPr>
          <a:xfrm>
            <a:off x="640080" y="2194560"/>
            <a:ext cx="5074920" cy="73152"/>
          </a:xfrm>
          <a:prstGeom prst="rect">
            <a:avLst/>
          </a:prstGeom>
          <a:solidFill>
            <a:srgbClr val="B5481F"/>
          </a:solidFill>
          <a:ln/>
        </p:spPr>
      </p:sp>
      <p:sp>
        <p:nvSpPr>
          <p:cNvPr id="6" name="Text 4"/>
          <p:cNvSpPr/>
          <p:nvPr/>
        </p:nvSpPr>
        <p:spPr>
          <a:xfrm>
            <a:off x="960120" y="2423160"/>
            <a:ext cx="443484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COMMIT NOW</a:t>
            </a:r>
            <a:endParaRPr lang="en-US" sz="1300" dirty="0"/>
          </a:p>
        </p:txBody>
      </p:sp>
      <p:sp>
        <p:nvSpPr>
          <p:cNvPr id="7" name="Text 5"/>
          <p:cNvSpPr/>
          <p:nvPr/>
        </p:nvSpPr>
        <p:spPr>
          <a:xfrm>
            <a:off x="960120" y="2834640"/>
            <a:ext cx="4434840" cy="21488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450" b="1" dirty="0">
                <a:solidFill>
                  <a:srgbClr val="FFFFFF"/>
                </a:solidFill>
                <a:latin typeface="Calibri" pitchFamily="34" charset="0"/>
                <a:ea typeface="Calibri" pitchFamily="34" charset="-122"/>
                <a:cs typeface="Calibri" pitchFamily="34" charset="-120"/>
              </a:rPr>
              <a:t>Fund the governed runtime</a:t>
            </a:r>
            <a:endParaRPr lang="en-US" sz="1450" dirty="0"/>
          </a:p>
          <a:p>
            <a:pPr indent="0" marL="0">
              <a:lnSpc>
                <a:spcPct val="105000"/>
              </a:lnSpc>
              <a:spcAft>
                <a:spcPts val="500"/>
              </a:spcAft>
              <a:buNone/>
            </a:pPr>
            <a:r>
              <a:rPr lang="en-US" sz="1200" dirty="0">
                <a:solidFill>
                  <a:srgbClr val="E6ECF5"/>
                </a:solidFill>
                <a:latin typeface="Calibri" pitchFamily="34" charset="0"/>
                <a:ea typeface="Calibri" pitchFamily="34" charset="-122"/>
                <a:cs typeface="Calibri" pitchFamily="34" charset="-120"/>
              </a:rPr>
              <a:t>AI substrate plus identity, authority, evidence. Target: governed deployments with a complete evidence chain in 6–12 months.</a:t>
            </a:r>
            <a:endParaRPr lang="en-US" sz="1450" dirty="0"/>
          </a:p>
          <a:p>
            <a:pPr marL="342900" indent="-342900">
              <a:lnSpc>
                <a:spcPct val="105000"/>
              </a:lnSpc>
              <a:spcAft>
                <a:spcPts val="500"/>
              </a:spcAft>
              <a:buSzPct val="100000"/>
              <a:buChar char="•"/>
            </a:pPr>
            <a:r>
              <a:rPr lang="en-US" sz="1450" b="1" dirty="0">
                <a:solidFill>
                  <a:srgbClr val="FFFFFF"/>
                </a:solidFill>
                <a:latin typeface="Calibri" pitchFamily="34" charset="0"/>
                <a:ea typeface="Calibri" pitchFamily="34" charset="-122"/>
                <a:cs typeface="Calibri" pitchFamily="34" charset="-120"/>
              </a:rPr>
              <a:t>Authorize a focused discovery</a:t>
            </a:r>
            <a:endParaRPr lang="en-US" sz="1450" dirty="0"/>
          </a:p>
          <a:p>
            <a:pPr indent="0" marL="0">
              <a:lnSpc>
                <a:spcPct val="105000"/>
              </a:lnSpc>
              <a:spcAft>
                <a:spcPts val="500"/>
              </a:spcAft>
              <a:buNone/>
            </a:pPr>
            <a:r>
              <a:rPr lang="en-US" sz="1200" dirty="0">
                <a:solidFill>
                  <a:srgbClr val="E6ECF5"/>
                </a:solidFill>
                <a:latin typeface="Calibri" pitchFamily="34" charset="0"/>
                <a:ea typeface="Calibri" pitchFamily="34" charset="-122"/>
                <a:cs typeface="Calibri" pitchFamily="34" charset="-120"/>
              </a:rPr>
              <a:t>Replace directional targets with the enterprise's own numbers, in weeks.</a:t>
            </a:r>
            <a:endParaRPr lang="en-US" sz="1450" dirty="0"/>
          </a:p>
          <a:p>
            <a:pPr marL="342900" indent="-342900">
              <a:lnSpc>
                <a:spcPct val="105000"/>
              </a:lnSpc>
              <a:spcAft>
                <a:spcPts val="500"/>
              </a:spcAft>
              <a:buSzPct val="100000"/>
              <a:buChar char="•"/>
            </a:pPr>
            <a:r>
              <a:rPr lang="en-US" sz="1450" b="1" dirty="0">
                <a:solidFill>
                  <a:srgbClr val="FFFFFF"/>
                </a:solidFill>
                <a:latin typeface="Calibri" pitchFamily="34" charset="0"/>
                <a:ea typeface="Calibri" pitchFamily="34" charset="-122"/>
                <a:cs typeface="Calibri" pitchFamily="34" charset="-120"/>
              </a:rPr>
              <a:t>Architect governance first</a:t>
            </a:r>
            <a:endParaRPr lang="en-US" sz="1450" dirty="0"/>
          </a:p>
          <a:p>
            <a:pPr indent="0" marL="0">
              <a:lnSpc>
                <a:spcPct val="105000"/>
              </a:lnSpc>
              <a:spcAft>
                <a:spcPts val="500"/>
              </a:spcAft>
              <a:buNone/>
            </a:pPr>
            <a:r>
              <a:rPr lang="en-US" sz="1200" dirty="0">
                <a:solidFill>
                  <a:srgbClr val="E6ECF5"/>
                </a:solidFill>
                <a:latin typeface="Calibri" pitchFamily="34" charset="0"/>
                <a:ea typeface="Calibri" pitchFamily="34" charset="-122"/>
                <a:cs typeface="Calibri" pitchFamily="34" charset="-120"/>
              </a:rPr>
              <a:t>Primitives and contracts before any agent acts in production.</a:t>
            </a:r>
            <a:endParaRPr lang="en-US" sz="1450" dirty="0"/>
          </a:p>
        </p:txBody>
      </p:sp>
      <p:sp>
        <p:nvSpPr>
          <p:cNvPr id="8" name="Shape 6"/>
          <p:cNvSpPr/>
          <p:nvPr/>
        </p:nvSpPr>
        <p:spPr>
          <a:xfrm>
            <a:off x="6172200" y="2194560"/>
            <a:ext cx="5074920" cy="3017520"/>
          </a:xfrm>
          <a:prstGeom prst="rect">
            <a:avLst/>
          </a:prstGeom>
          <a:solidFill>
            <a:srgbClr val="26345A"/>
          </a:solidFill>
          <a:ln/>
          <a:effectLst>
            <a:outerShdw sx="100000" sy="100000" kx="0" ky="0" algn="bl" rotWithShape="0" blurRad="88900" dist="38100" dir="8100000">
              <a:srgbClr val="000000">
                <a:alpha val="16000"/>
              </a:srgbClr>
            </a:outerShdw>
          </a:effectLst>
        </p:spPr>
      </p:sp>
      <p:sp>
        <p:nvSpPr>
          <p:cNvPr id="9" name="Shape 7"/>
          <p:cNvSpPr/>
          <p:nvPr/>
        </p:nvSpPr>
        <p:spPr>
          <a:xfrm>
            <a:off x="6172200" y="2194560"/>
            <a:ext cx="5074920" cy="73152"/>
          </a:xfrm>
          <a:prstGeom prst="rect">
            <a:avLst/>
          </a:prstGeom>
          <a:solidFill>
            <a:srgbClr val="2C6E8F"/>
          </a:solidFill>
          <a:ln/>
        </p:spPr>
      </p:sp>
      <p:sp>
        <p:nvSpPr>
          <p:cNvPr id="10" name="Text 8"/>
          <p:cNvSpPr/>
          <p:nvPr/>
        </p:nvSpPr>
        <p:spPr>
          <a:xfrm>
            <a:off x="6492240" y="2423160"/>
            <a:ext cx="443484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PRE-COMMIT FOR LATER</a:t>
            </a:r>
            <a:endParaRPr lang="en-US" sz="1300" dirty="0"/>
          </a:p>
        </p:txBody>
      </p:sp>
      <p:sp>
        <p:nvSpPr>
          <p:cNvPr id="11" name="Text 9"/>
          <p:cNvSpPr/>
          <p:nvPr/>
        </p:nvSpPr>
        <p:spPr>
          <a:xfrm>
            <a:off x="6492240" y="2834640"/>
            <a:ext cx="4434840" cy="2148840"/>
          </a:xfrm>
          <a:prstGeom prst="rect">
            <a:avLst/>
          </a:prstGeom>
          <a:noFill/>
          <a:ln/>
        </p:spPr>
        <p:txBody>
          <a:bodyPr wrap="square" lIns="0" tIns="0" rIns="0" bIns="0" rtlCol="0" anchor="t"/>
          <a:lstStyle/>
          <a:p>
            <a:pPr indent="0" marL="0">
              <a:lnSpc>
                <a:spcPct val="105000"/>
              </a:lnSpc>
              <a:spcAft>
                <a:spcPts val="400"/>
              </a:spcAft>
              <a:buNone/>
            </a:pPr>
            <a:r>
              <a:rPr lang="en-US" sz="1200" i="1" dirty="0">
                <a:solidFill>
                  <a:srgbClr val="CADCFC"/>
                </a:solidFill>
                <a:latin typeface="Calibri" pitchFamily="34" charset="0"/>
                <a:ea typeface="Calibri" pitchFamily="34" charset="-122"/>
                <a:cs typeface="Calibri" pitchFamily="34" charset="-120"/>
              </a:rPr>
              <a:t>Contingent on discovery and Level 1 results</a:t>
            </a:r>
            <a:endParaRPr lang="en-US" sz="1450" dirty="0"/>
          </a:p>
          <a:p>
            <a:pPr indent="0" marL="0">
              <a:lnSpc>
                <a:spcPct val="105000"/>
              </a:lnSpc>
              <a:spcAft>
                <a:spcPts val="400"/>
              </a:spcAft>
              <a:buNone/>
            </a:pPr>
            <a:endParaRPr lang="en-US" sz="1450" dirty="0"/>
          </a:p>
          <a:p>
            <a:pPr marL="342900" indent="-342900">
              <a:lnSpc>
                <a:spcPct val="105000"/>
              </a:lnSpc>
              <a:spcAft>
                <a:spcPts val="400"/>
              </a:spcAft>
              <a:buSzPct val="100000"/>
              <a:buChar char="•"/>
            </a:pPr>
            <a:r>
              <a:rPr lang="en-US" sz="1450" b="1" dirty="0">
                <a:solidFill>
                  <a:srgbClr val="FFFFFF"/>
                </a:solidFill>
                <a:latin typeface="Calibri" pitchFamily="34" charset="0"/>
                <a:ea typeface="Calibri" pitchFamily="34" charset="-122"/>
                <a:cs typeface="Calibri" pitchFamily="34" charset="-120"/>
              </a:rPr>
              <a:t>The institutional function and the multi-year horizon</a:t>
            </a:r>
            <a:endParaRPr lang="en-US" sz="1450" dirty="0"/>
          </a:p>
          <a:p>
            <a:pPr indent="0" marL="0">
              <a:lnSpc>
                <a:spcPct val="105000"/>
              </a:lnSpc>
              <a:spcAft>
                <a:spcPts val="400"/>
              </a:spcAft>
              <a:buNone/>
            </a:pPr>
            <a:r>
              <a:rPr lang="en-US" sz="1200" dirty="0">
                <a:solidFill>
                  <a:srgbClr val="E6ECF5"/>
                </a:solidFill>
                <a:latin typeface="Calibri" pitchFamily="34" charset="0"/>
                <a:ea typeface="Calibri" pitchFamily="34" charset="-122"/>
                <a:cs typeface="Calibri" pitchFamily="34" charset="-120"/>
              </a:rPr>
              <a:t>Central architecture authority, investment tolerance, senior talent.</a:t>
            </a:r>
            <a:endParaRPr lang="en-US" sz="1450" dirty="0"/>
          </a:p>
          <a:p>
            <a:pPr indent="0" marL="0">
              <a:lnSpc>
                <a:spcPct val="105000"/>
              </a:lnSpc>
              <a:spcAft>
                <a:spcPts val="400"/>
              </a:spcAft>
              <a:buNone/>
            </a:pPr>
            <a:endParaRPr lang="en-US" sz="1450" dirty="0"/>
          </a:p>
          <a:p>
            <a:pPr indent="0" marL="0">
              <a:lnSpc>
                <a:spcPct val="105000"/>
              </a:lnSpc>
              <a:spcAft>
                <a:spcPts val="400"/>
              </a:spcAft>
              <a:buNone/>
            </a:pPr>
            <a:r>
              <a:rPr lang="en-US" sz="1250" dirty="0">
                <a:solidFill>
                  <a:srgbClr val="E6ECF5"/>
                </a:solidFill>
                <a:latin typeface="Calibri" pitchFamily="34" charset="0"/>
                <a:ea typeface="Calibri" pitchFamily="34" charset="-122"/>
                <a:cs typeface="Calibri" pitchFamily="34" charset="-120"/>
              </a:rPr>
              <a:t>Test the commitment honestly in discovery, not in full today. An enterprise that cannot meet the preconditions should stop at the value Level 1 delivers.</a:t>
            </a:r>
            <a:endParaRPr lang="en-US" sz="1450" dirty="0"/>
          </a:p>
        </p:txBody>
      </p:sp>
      <p:sp>
        <p:nvSpPr>
          <p:cNvPr id="12" name="Text 10"/>
          <p:cNvSpPr/>
          <p:nvPr/>
        </p:nvSpPr>
        <p:spPr>
          <a:xfrm>
            <a:off x="640080" y="5440680"/>
            <a:ext cx="10881360" cy="640080"/>
          </a:xfrm>
          <a:prstGeom prst="rect">
            <a:avLst/>
          </a:prstGeom>
          <a:noFill/>
          <a:ln/>
        </p:spPr>
        <p:txBody>
          <a:bodyPr wrap="square" lIns="0" tIns="0" rIns="0" bIns="0" rtlCol="0" anchor="ctr"/>
          <a:lstStyle/>
          <a:p>
            <a:pPr algn="ctr" indent="0" marL="0">
              <a:lnSpc>
                <a:spcPct val="110000"/>
              </a:lnSpc>
              <a:buNone/>
            </a:pPr>
            <a:r>
              <a:rPr lang="en-US" sz="1700" i="1" dirty="0">
                <a:solidFill>
                  <a:srgbClr val="FFFFFF"/>
                </a:solidFill>
                <a:latin typeface="Georgia" pitchFamily="34" charset="0"/>
                <a:ea typeface="Georgia" pitchFamily="34" charset="-122"/>
                <a:cs typeface="Georgia" pitchFamily="34" charset="-120"/>
              </a:rPr>
              <a:t>The first step is modest and self-justifying. The sequence after it is clear and conditional. The decision is whether to begin.</a:t>
            </a:r>
            <a:endParaRPr lang="en-US" sz="1700" dirty="0"/>
          </a:p>
        </p:txBody>
      </p:sp>
      <p:sp>
        <p:nvSpPr>
          <p:cNvPr id="13" name="Text 11"/>
          <p:cNvSpPr/>
          <p:nvPr/>
        </p:nvSpPr>
        <p:spPr>
          <a:xfrm>
            <a:off x="640080" y="6473952"/>
            <a:ext cx="7315200" cy="274320"/>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The Enterprise Agentic Platform Architecture</a:t>
            </a:r>
            <a:endParaRPr lang="en-US" sz="900" dirty="0"/>
          </a:p>
        </p:txBody>
      </p:sp>
      <p:sp>
        <p:nvSpPr>
          <p:cNvPr id="14" name="Text 12"/>
          <p:cNvSpPr/>
          <p:nvPr/>
        </p:nvSpPr>
        <p:spPr>
          <a:xfrm>
            <a:off x="11155680" y="6473952"/>
            <a:ext cx="365760" cy="274320"/>
          </a:xfrm>
          <a:prstGeom prst="rect">
            <a:avLst/>
          </a:prstGeom>
          <a:noFill/>
          <a:ln/>
        </p:spPr>
        <p:txBody>
          <a:bodyPr wrap="square" lIns="0" tIns="0" rIns="0" bIns="0" rtlCol="0" anchor="ctr"/>
          <a:lstStyle/>
          <a:p>
            <a:pPr algn="r" indent="0" marL="0">
              <a:buNone/>
            </a:pPr>
            <a:r>
              <a:rPr lang="en-US" sz="900" dirty="0">
                <a:solidFill>
                  <a:srgbClr val="8A94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A4A"/>
        </a:solidFill>
      </p:bgPr>
    </p:bg>
    <p:spTree>
      <p:nvGrpSpPr>
        <p:cNvPr id="1" name=""/>
        <p:cNvGrpSpPr/>
        <p:nvPr/>
      </p:nvGrpSpPr>
      <p:grpSpPr>
        <a:xfrm>
          <a:off x="0" y="0"/>
          <a:ext cx="0" cy="0"/>
          <a:chOff x="0" y="0"/>
          <a:chExt cx="0" cy="0"/>
        </a:xfrm>
      </p:grpSpPr>
      <p:sp>
        <p:nvSpPr>
          <p:cNvPr id="2" name="Text 0"/>
          <p:cNvSpPr/>
          <p:nvPr/>
        </p:nvSpPr>
        <p:spPr>
          <a:xfrm>
            <a:off x="640080" y="868680"/>
            <a:ext cx="10881360" cy="365760"/>
          </a:xfrm>
          <a:prstGeom prst="rect">
            <a:avLst/>
          </a:prstGeom>
          <a:noFill/>
          <a:ln/>
        </p:spPr>
        <p:txBody>
          <a:bodyPr wrap="square" lIns="0" tIns="0" rIns="0" bIns="0" rtlCol="0" anchor="ctr"/>
          <a:lstStyle/>
          <a:p>
            <a:pPr indent="0" marL="0">
              <a:buNone/>
            </a:pPr>
            <a:r>
              <a:rPr lang="en-US" sz="1400" b="1" spc="400" kern="0" dirty="0">
                <a:solidFill>
                  <a:srgbClr val="CADCFC"/>
                </a:solidFill>
                <a:latin typeface="Calibri" pitchFamily="34" charset="0"/>
                <a:ea typeface="Calibri" pitchFamily="34" charset="-122"/>
                <a:cs typeface="Calibri" pitchFamily="34" charset="-120"/>
              </a:rPr>
              <a:t>LONGMIRE'S AI MAXIMS</a:t>
            </a:r>
            <a:endParaRPr lang="en-US" sz="1400" dirty="0"/>
          </a:p>
        </p:txBody>
      </p:sp>
      <p:sp>
        <p:nvSpPr>
          <p:cNvPr id="3" name="Shape 1"/>
          <p:cNvSpPr/>
          <p:nvPr/>
        </p:nvSpPr>
        <p:spPr>
          <a:xfrm>
            <a:off x="640080" y="1371600"/>
            <a:ext cx="1280160" cy="45720"/>
          </a:xfrm>
          <a:prstGeom prst="rect">
            <a:avLst/>
          </a:prstGeom>
          <a:solidFill>
            <a:srgbClr val="B5481F"/>
          </a:solidFill>
          <a:ln/>
        </p:spPr>
      </p:sp>
      <p:sp>
        <p:nvSpPr>
          <p:cNvPr id="4" name="Text 2"/>
          <p:cNvSpPr/>
          <p:nvPr/>
        </p:nvSpPr>
        <p:spPr>
          <a:xfrm>
            <a:off x="640080" y="1965960"/>
            <a:ext cx="1005840" cy="1005840"/>
          </a:xfrm>
          <a:prstGeom prst="rect">
            <a:avLst/>
          </a:prstGeom>
          <a:noFill/>
          <a:ln/>
        </p:spPr>
        <p:txBody>
          <a:bodyPr wrap="square" lIns="0" tIns="0" rIns="0" bIns="0" rtlCol="0" anchor="t"/>
          <a:lstStyle/>
          <a:p>
            <a:pPr indent="0" marL="0">
              <a:buNone/>
            </a:pPr>
            <a:r>
              <a:rPr lang="en-US" sz="4600" b="1" dirty="0">
                <a:solidFill>
                  <a:srgbClr val="2C6E8F"/>
                </a:solidFill>
                <a:latin typeface="Georgia" pitchFamily="34" charset="0"/>
                <a:ea typeface="Georgia" pitchFamily="34" charset="-122"/>
                <a:cs typeface="Georgia" pitchFamily="34" charset="-120"/>
              </a:rPr>
              <a:t>01</a:t>
            </a:r>
            <a:endParaRPr lang="en-US" sz="4600" dirty="0"/>
          </a:p>
        </p:txBody>
      </p:sp>
      <p:sp>
        <p:nvSpPr>
          <p:cNvPr id="5" name="Text 3"/>
          <p:cNvSpPr/>
          <p:nvPr/>
        </p:nvSpPr>
        <p:spPr>
          <a:xfrm>
            <a:off x="1874520" y="1965960"/>
            <a:ext cx="9646920" cy="64008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Never trust the AI.</a:t>
            </a:r>
            <a:endParaRPr lang="en-US" sz="3000" dirty="0"/>
          </a:p>
        </p:txBody>
      </p:sp>
      <p:sp>
        <p:nvSpPr>
          <p:cNvPr id="6" name="Text 4"/>
          <p:cNvSpPr/>
          <p:nvPr/>
        </p:nvSpPr>
        <p:spPr>
          <a:xfrm>
            <a:off x="1874520" y="2624328"/>
            <a:ext cx="9646920" cy="640080"/>
          </a:xfrm>
          <a:prstGeom prst="rect">
            <a:avLst/>
          </a:prstGeom>
          <a:noFill/>
          <a:ln/>
        </p:spPr>
        <p:txBody>
          <a:bodyPr wrap="square" lIns="0" tIns="0" rIns="0" bIns="0" rtlCol="0" anchor="t"/>
          <a:lstStyle/>
          <a:p>
            <a:pPr indent="0" marL="0">
              <a:lnSpc>
                <a:spcPct val="110000"/>
              </a:lnSpc>
              <a:buNone/>
            </a:pPr>
            <a:r>
              <a:rPr lang="en-US" sz="1700" dirty="0">
                <a:solidFill>
                  <a:srgbClr val="E6ECF5"/>
                </a:solidFill>
                <a:latin typeface="Calibri" pitchFamily="34" charset="0"/>
                <a:ea typeface="Calibri" pitchFamily="34" charset="-122"/>
                <a:cs typeface="Calibri" pitchFamily="34" charset="-120"/>
              </a:rPr>
              <a:t>Treat it as an untrusted actor. Trust nothing it does that you cannot verify, authorize, and audit.</a:t>
            </a:r>
            <a:endParaRPr lang="en-US" sz="1700" dirty="0"/>
          </a:p>
        </p:txBody>
      </p:sp>
      <p:sp>
        <p:nvSpPr>
          <p:cNvPr id="7" name="Text 5"/>
          <p:cNvSpPr/>
          <p:nvPr/>
        </p:nvSpPr>
        <p:spPr>
          <a:xfrm>
            <a:off x="640080" y="3794760"/>
            <a:ext cx="1005840" cy="1005840"/>
          </a:xfrm>
          <a:prstGeom prst="rect">
            <a:avLst/>
          </a:prstGeom>
          <a:noFill/>
          <a:ln/>
        </p:spPr>
        <p:txBody>
          <a:bodyPr wrap="square" lIns="0" tIns="0" rIns="0" bIns="0" rtlCol="0" anchor="t"/>
          <a:lstStyle/>
          <a:p>
            <a:pPr indent="0" marL="0">
              <a:buNone/>
            </a:pPr>
            <a:r>
              <a:rPr lang="en-US" sz="4600" b="1" dirty="0">
                <a:solidFill>
                  <a:srgbClr val="2C6E8F"/>
                </a:solidFill>
                <a:latin typeface="Georgia" pitchFamily="34" charset="0"/>
                <a:ea typeface="Georgia" pitchFamily="34" charset="-122"/>
                <a:cs typeface="Georgia" pitchFamily="34" charset="-120"/>
              </a:rPr>
              <a:t>02</a:t>
            </a:r>
            <a:endParaRPr lang="en-US" sz="4600" dirty="0"/>
          </a:p>
        </p:txBody>
      </p:sp>
      <p:sp>
        <p:nvSpPr>
          <p:cNvPr id="8" name="Text 6"/>
          <p:cNvSpPr/>
          <p:nvPr/>
        </p:nvSpPr>
        <p:spPr>
          <a:xfrm>
            <a:off x="1874520" y="3794760"/>
            <a:ext cx="9646920" cy="640080"/>
          </a:xfrm>
          <a:prstGeom prst="rect">
            <a:avLst/>
          </a:prstGeom>
          <a:noFill/>
          <a:ln/>
        </p:spPr>
        <p:txBody>
          <a:bodyPr wrap="square" lIns="0" tIns="0" rIns="0" bIns="0"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Overtake AI, or it will overtake you.</a:t>
            </a:r>
            <a:endParaRPr lang="en-US" sz="3000" dirty="0"/>
          </a:p>
        </p:txBody>
      </p:sp>
      <p:sp>
        <p:nvSpPr>
          <p:cNvPr id="9" name="Text 7"/>
          <p:cNvSpPr/>
          <p:nvPr/>
        </p:nvSpPr>
        <p:spPr>
          <a:xfrm>
            <a:off x="1874520" y="4453128"/>
            <a:ext cx="9646920" cy="640080"/>
          </a:xfrm>
          <a:prstGeom prst="rect">
            <a:avLst/>
          </a:prstGeom>
          <a:noFill/>
          <a:ln/>
        </p:spPr>
        <p:txBody>
          <a:bodyPr wrap="square" lIns="0" tIns="0" rIns="0" bIns="0" rtlCol="0" anchor="t"/>
          <a:lstStyle/>
          <a:p>
            <a:pPr indent="0" marL="0">
              <a:lnSpc>
                <a:spcPct val="110000"/>
              </a:lnSpc>
              <a:buNone/>
            </a:pPr>
            <a:r>
              <a:rPr lang="en-US" sz="1700" dirty="0">
                <a:solidFill>
                  <a:srgbClr val="E6ECF5"/>
                </a:solidFill>
                <a:latin typeface="Calibri" pitchFamily="34" charset="0"/>
                <a:ea typeface="Calibri" pitchFamily="34" charset="-122"/>
                <a:cs typeface="Calibri" pitchFamily="34" charset="-120"/>
              </a:rPr>
              <a:t>Own the agentic layer before vendors, pilots, and shadow automation own it for you.</a:t>
            </a:r>
            <a:endParaRPr lang="en-US" sz="1700" dirty="0"/>
          </a:p>
        </p:txBody>
      </p:sp>
      <p:sp>
        <p:nvSpPr>
          <p:cNvPr id="10" name="Text 8"/>
          <p:cNvSpPr/>
          <p:nvPr/>
        </p:nvSpPr>
        <p:spPr>
          <a:xfrm>
            <a:off x="640080" y="6355080"/>
            <a:ext cx="1088136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James D. Longmire  ·  The Enterprise Agentic Platform Architecture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Enterprise Agentic Platform Architecture</dc:title>
  <dc:subject>PptxGenJS Presentation</dc:subject>
  <dc:creator>James D. Longmire</dc:creator>
  <cp:lastModifiedBy>James D. Longmire</cp:lastModifiedBy>
  <cp:revision>1</cp:revision>
  <dcterms:created xsi:type="dcterms:W3CDTF">2026-05-21T05:46:40Z</dcterms:created>
  <dcterms:modified xsi:type="dcterms:W3CDTF">2026-05-21T05:46:40Z</dcterms:modified>
</cp:coreProperties>
</file>